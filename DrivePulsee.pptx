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59" r:id="rId3"/>
    <p:sldId id="256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EA28"/>
    <a:srgbClr val="344054"/>
    <a:srgbClr val="333333"/>
    <a:srgbClr val="572B7A"/>
    <a:srgbClr val="1B202C"/>
    <a:srgbClr val="101010"/>
    <a:srgbClr val="23272F"/>
    <a:srgbClr val="7CCA14"/>
    <a:srgbClr val="FF4B4B"/>
    <a:srgbClr val="FF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909D3F-8874-4C63-80F7-1DA2FE2C258C}" v="682" dt="2025-10-19T02:50:19.8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2669" autoAdjust="0"/>
  </p:normalViewPr>
  <p:slideViewPr>
    <p:cSldViewPr snapToGrid="0">
      <p:cViewPr>
        <p:scale>
          <a:sx n="66" d="100"/>
          <a:sy n="66" d="100"/>
        </p:scale>
        <p:origin x="3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735B6-6904-4DFE-8A3F-C58D455E6116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E51549-A481-49EC-9D96-9E1D22A0F8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265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E51549-A481-49EC-9D96-9E1D22A0F8E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3277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87A1D-B7BB-640B-31BB-7C6A4CD8A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669CAB2-93DA-F1EE-38CA-7F68EF64B7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224D5DC-8596-B741-9131-8BD2BF90DB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88CC4C7-AD65-AA0F-9F48-DF9CEEAD3B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E51549-A481-49EC-9D96-9E1D22A0F8E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4814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5AF12-FBDC-71D3-0052-5F2A1038F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B65ED23-3AD2-F14E-DE20-D0CEB5552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E05FF4D-6707-0B8B-AB19-860944BD0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831ABC-1785-FF3D-69F0-A3BDC5BE06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E51549-A481-49EC-9D96-9E1D22A0F8E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5437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A8B24-89E5-E7CA-D2FB-FFEF64A52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E253B25-FDFA-BCC7-3F10-9A966842E4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776131A-6632-3E22-10FB-AF629C15E3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D9DF840-CD04-DCBB-65D0-1F59ADFBE7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E51549-A481-49EC-9D96-9E1D22A0F8E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552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7BAB9-247A-6DA5-6F7D-4E1F4782C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884D50C-366A-35EB-9617-E3C834586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5793D5E-D825-DE0D-CE8F-3F2221A49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EF4A10-2155-17AE-A4D8-45874DDFD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E51549-A481-49EC-9D96-9E1D22A0F8E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84678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7FEC5-7247-D243-1640-54D41EC7D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2CFEC4A-C1C5-7206-0F4D-732A8A94C8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47D2616-4474-1DBA-BAFA-A16D441ED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4A456B9-6AE0-69E8-F69E-938AE84EC2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E51549-A481-49EC-9D96-9E1D22A0F8E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096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317BC-3ACE-FBDD-8AB7-6081E500C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E93A106-854D-9B61-98D7-8CF271BBC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61FCCEC-EC1F-E368-CDBD-CE2CDD8A5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83B79F-596D-9B27-CA3D-A32788C49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E51549-A481-49EC-9D96-9E1D22A0F8E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8318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0B2D0-346B-8B10-E956-56BB68F47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F61CFD7-38A1-91ED-6294-3A5955C94D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DA1E63F-0821-B1EB-8278-BFAB244CB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4708E5-54F8-5838-8DB3-751280F602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E51549-A481-49EC-9D96-9E1D22A0F8E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06740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41A05-DF95-10A0-6429-088A6BD57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DBE9665-AA7B-A630-FDEC-E0E0E8818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E197297-F7E9-0586-7B75-ED3BC5731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48AABCD-2F43-D7AA-179A-3F0FA0318F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E51549-A481-49EC-9D96-9E1D22A0F8E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0277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51123-0AF2-1C8E-E735-BC78C0BFF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EB9EB5B-416B-5594-49A7-0EB53AD94C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16E724A-3624-4C03-DAD1-832548D80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67952EA-23FD-5B2F-53F9-E4956A765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E51549-A481-49EC-9D96-9E1D22A0F8EF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15427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C9C32-9DF1-3CC6-445B-C457F115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C47FD38-8EBE-480F-9D0D-FDE5196D3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87FC4B-B60D-EEC8-D30A-60ECDA2B2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4D61780-F65B-E17B-11D9-8A0C4B157C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E51549-A481-49EC-9D96-9E1D22A0F8E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239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B8003-827D-669F-74D8-CC500057E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969F0EF-9C17-5F96-5D8D-E90FDAC52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5FAA39D-E858-EE84-E35C-04DB35AD6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48B4006-67A3-3B91-5F13-052A7B5E2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E51549-A481-49EC-9D96-9E1D22A0F8E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03014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9B3E4-D98D-E1BA-E169-CCD2716A1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9E7713F-3A6E-790A-73BA-2A06CCF40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C6C28E5-6E1C-DAC9-6CD7-B4EE6B2C5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40C6CA0-7B97-9C91-6D83-FF895FB045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E51549-A481-49EC-9D96-9E1D22A0F8EF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32406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08AF1-CC7B-5734-72E7-6167A6C63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0EED2ED-7FA8-C42B-8B52-F1FD3973C3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00CB82F-4743-8BAB-D78F-B9AB92C8C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2C94E0-CA54-C5B8-EEEB-DDE216DE7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E51549-A481-49EC-9D96-9E1D22A0F8E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41798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B9AF7-3F26-DFC9-0C88-1AA3C9D61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C997A21-A35A-AFEE-8770-C422F2931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8758A81-1FDA-D670-D894-02D6D7B0F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9FBB840-36AE-A7EB-605D-749584A6E8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E51549-A481-49EC-9D96-9E1D22A0F8E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5534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468B2A-BCE1-F269-F0F8-9F26AAA1E8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C24433E-A529-C3CA-8693-88388CAD3E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904C45-6EF9-4C86-9192-4A2DAFDA9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D835-6265-4207-8FEE-5D047692D2DF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CD9B0E-9AEA-FAAC-6680-E833C29D3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2E5B3E-5A58-7137-9F31-72F2EC893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3BDB-397A-47F9-B07C-22EF38C81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8186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45C375-15A9-754A-AA04-C2044A175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CDD6E2-4BCF-7C8B-EB26-1815E75AB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FD0136-DB53-3F47-D682-55D862718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D835-6265-4207-8FEE-5D047692D2DF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4FD44D-6D5B-A8A4-343B-BF8CD3C14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4D3960-0892-4FB2-1E4E-39FBB4421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3BDB-397A-47F9-B07C-22EF38C81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0323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C1AE3B-C2FB-1D30-79FC-D9F24D060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AEDCF00-EF21-F186-3198-1DF550851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270EE9-8E02-E6DE-1139-6CD50B136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D835-6265-4207-8FEE-5D047692D2DF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A0DA4C-D84E-599A-0FD6-A56AE10F7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173EF4-C842-E296-B63E-1FF363045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3BDB-397A-47F9-B07C-22EF38C81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8517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1850A7-487D-8DD6-97A5-F55A72D92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806CAB-AC82-121D-DAA9-D8ECC0E605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FE0B44B-F12B-7635-BF7F-6C33207E9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D56AC0-6FAB-2608-D46B-FF04454C2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D835-6265-4207-8FEE-5D047692D2DF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37649AF-DF53-6135-A3DA-BFF88ECDD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46030A-AE35-1DEB-66AF-DB99BC62D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3BDB-397A-47F9-B07C-22EF38C81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5486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A4B41-11C6-004C-AC50-5B78460E4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787F84-AD80-D68A-314C-16C999D54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9663AFC-614C-6162-4326-8FB336294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761127-730C-D021-6A1E-62219E6309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224D70F-42DF-836D-4023-02BCD6D83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54BFF52-818E-9E86-EF75-128759556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D835-6265-4207-8FEE-5D047692D2DF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B44A7C4-66AB-54BE-0BAE-FB02B8ED4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07578DB-9DFA-9E24-F38D-E94BF2FC7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3BDB-397A-47F9-B07C-22EF38C81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0223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61292E-5AAE-60CB-41F6-C89BD7D1A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8C0C4C6-33F9-148C-3C81-7C7EEA1F0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D835-6265-4207-8FEE-5D047692D2DF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567433D-955F-581C-B4A9-83B85868B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AC07036-7830-DAAC-1D72-C5EC5EB38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3BDB-397A-47F9-B07C-22EF38C81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998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9682CE7-99CB-3F03-E8A5-60D93887C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D835-6265-4207-8FEE-5D047692D2DF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7F9DED2-1300-4C3D-FBCF-702E7776E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08900CE-E317-9FE1-27A4-2E6A4A6A9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3BDB-397A-47F9-B07C-22EF38C81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8385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509EF9-6CFF-0420-6F38-964A1488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11C858-39EF-3B5E-520C-1E1096AF0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5BB1E33-215B-5509-283F-E619A641BC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89B4993-9504-87C8-042B-79222067C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D835-6265-4207-8FEE-5D047692D2DF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94F59A4-6F18-AEBE-F5D4-3A6C8CC34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7105561-8419-0D25-A9F4-7708DBB37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3BDB-397A-47F9-B07C-22EF38C81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9417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3EF5B6-DEB7-2EA8-EE0B-CF82447FB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6895A99-6260-E545-67DB-F732870FF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14D2CC-8DD5-BF0E-3705-BAA3B36D5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A507BE5-DE34-AD84-654D-2B010A387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D835-6265-4207-8FEE-5D047692D2DF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BD9E99-C81A-BB63-D0D8-6058F7F50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4387A2-C446-D5D7-B0CF-E4E0113D4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3BDB-397A-47F9-B07C-22EF38C81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388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932C0A-35AA-4726-CA92-C11F0A614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5FD2227-9425-C270-CB41-3DC7800BF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1C7DF1-4B16-C5DC-9FA9-B9B310CC0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D835-6265-4207-8FEE-5D047692D2DF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387C5E-A16D-A29F-71AF-FDEA25231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81863C-B6F1-BFA7-A002-57743DEEA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3BDB-397A-47F9-B07C-22EF38C81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9694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ABDDCBE-6AD6-2B0A-9D6C-3B1ECFBD95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C4D086-7B1C-CFC8-5C60-6B30F7AF6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E3AC09-C070-2BD6-A081-01C704055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D835-6265-4207-8FEE-5D047692D2DF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186608-E5CF-C9B3-3AD6-B844A06D7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081B1B-AB35-A7FE-264E-0523F671C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3BDB-397A-47F9-B07C-22EF38C81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2319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3827FA-3CF8-5D6C-9498-7B0A98D68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25F777-F67D-5E97-226B-3B787FB3E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26502A-5C69-799E-4309-F4E3878936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28D835-6265-4207-8FEE-5D047692D2DF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F545E8-65E5-5CF3-88F9-B9BD708071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041A37-70E1-8852-20B5-C8BCB4CBEB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43BDB-397A-47F9-B07C-22EF38C81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0542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microsoft.com/office/2017/06/relationships/model3d" Target="../media/model3d1.glb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11" Type="http://schemas.microsoft.com/office/2017/06/relationships/model3d" Target="../media/model3d2.glb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8.svg"/><Relationship Id="rId2" Type="http://schemas.openxmlformats.org/officeDocument/2006/relationships/image" Target="../media/image1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11" Type="http://schemas.openxmlformats.org/officeDocument/2006/relationships/image" Target="../media/image13.sv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3.png"/><Relationship Id="rId14" Type="http://schemas.microsoft.com/office/2017/06/relationships/model3d" Target="../media/model3d2.glb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18.sv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1.png"/><Relationship Id="rId5" Type="http://schemas.openxmlformats.org/officeDocument/2006/relationships/image" Target="../media/image15.svg"/><Relationship Id="rId15" Type="http://schemas.openxmlformats.org/officeDocument/2006/relationships/image" Target="../media/image25.png"/><Relationship Id="rId10" Type="http://schemas.microsoft.com/office/2017/06/relationships/model3d" Target="../media/model3d2.glb"/><Relationship Id="rId4" Type="http://schemas.openxmlformats.org/officeDocument/2006/relationships/image" Target="../media/image14.png"/><Relationship Id="rId9" Type="http://schemas.openxmlformats.org/officeDocument/2006/relationships/image" Target="../media/image20.svg"/><Relationship Id="rId14" Type="http://schemas.openxmlformats.org/officeDocument/2006/relationships/image" Target="../media/image2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18.svg"/><Relationship Id="rId12" Type="http://schemas.openxmlformats.org/officeDocument/2006/relationships/image" Target="../media/image2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3.png"/><Relationship Id="rId5" Type="http://schemas.openxmlformats.org/officeDocument/2006/relationships/image" Target="../media/image15.svg"/><Relationship Id="rId10" Type="http://schemas.openxmlformats.org/officeDocument/2006/relationships/image" Target="../media/image22.png"/><Relationship Id="rId4" Type="http://schemas.openxmlformats.org/officeDocument/2006/relationships/image" Target="../media/image14.png"/><Relationship Id="rId9" Type="http://schemas.openxmlformats.org/officeDocument/2006/relationships/image" Target="../media/image28.svg"/><Relationship Id="rId1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9.png"/><Relationship Id="rId5" Type="http://schemas.openxmlformats.org/officeDocument/2006/relationships/image" Target="../media/image28.svg"/><Relationship Id="rId15" Type="http://schemas.openxmlformats.org/officeDocument/2006/relationships/image" Target="../media/image33.png"/><Relationship Id="rId10" Type="http://schemas.openxmlformats.org/officeDocument/2006/relationships/image" Target="../media/image26.png"/><Relationship Id="rId4" Type="http://schemas.openxmlformats.org/officeDocument/2006/relationships/image" Target="../media/image27.png"/><Relationship Id="rId9" Type="http://schemas.openxmlformats.org/officeDocument/2006/relationships/image" Target="../media/image25.png"/><Relationship Id="rId1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5.jp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30.png"/><Relationship Id="rId5" Type="http://schemas.openxmlformats.org/officeDocument/2006/relationships/image" Target="../media/image28.sv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19" Type="http://schemas.openxmlformats.org/officeDocument/2006/relationships/image" Target="../media/image38.svg"/><Relationship Id="rId4" Type="http://schemas.openxmlformats.org/officeDocument/2006/relationships/image" Target="../media/image27.png"/><Relationship Id="rId9" Type="http://schemas.openxmlformats.org/officeDocument/2006/relationships/image" Target="../media/image26.png"/><Relationship Id="rId1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8.svg"/><Relationship Id="rId18" Type="http://schemas.openxmlformats.org/officeDocument/2006/relationships/image" Target="../media/image42.png"/><Relationship Id="rId3" Type="http://schemas.openxmlformats.org/officeDocument/2006/relationships/image" Target="../media/image1.png"/><Relationship Id="rId7" Type="http://schemas.openxmlformats.org/officeDocument/2006/relationships/image" Target="../media/image24.svg"/><Relationship Id="rId12" Type="http://schemas.openxmlformats.org/officeDocument/2006/relationships/image" Target="../media/image37.pn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36.png"/><Relationship Id="rId5" Type="http://schemas.openxmlformats.org/officeDocument/2006/relationships/image" Target="../media/image28.svg"/><Relationship Id="rId15" Type="http://schemas.openxmlformats.org/officeDocument/2006/relationships/image" Target="../media/image39.png"/><Relationship Id="rId10" Type="http://schemas.openxmlformats.org/officeDocument/2006/relationships/image" Target="../media/image35.jpg"/><Relationship Id="rId4" Type="http://schemas.openxmlformats.org/officeDocument/2006/relationships/image" Target="../media/image27.png"/><Relationship Id="rId9" Type="http://schemas.openxmlformats.org/officeDocument/2006/relationships/image" Target="../media/image34.png"/><Relationship Id="rId1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42.png"/><Relationship Id="rId5" Type="http://schemas.openxmlformats.org/officeDocument/2006/relationships/image" Target="../media/image28.sv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27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46.png"/><Relationship Id="rId5" Type="http://schemas.openxmlformats.org/officeDocument/2006/relationships/image" Target="../media/image28.svg"/><Relationship Id="rId10" Type="http://schemas.openxmlformats.org/officeDocument/2006/relationships/image" Target="../media/image45.png"/><Relationship Id="rId4" Type="http://schemas.openxmlformats.org/officeDocument/2006/relationships/image" Target="../media/image27.png"/><Relationship Id="rId9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11" Type="http://schemas.openxmlformats.org/officeDocument/2006/relationships/image" Target="../media/image56.png"/><Relationship Id="rId5" Type="http://schemas.openxmlformats.org/officeDocument/2006/relationships/image" Target="../media/image27.png"/><Relationship Id="rId10" Type="http://schemas.openxmlformats.org/officeDocument/2006/relationships/image" Target="../media/image55.png"/><Relationship Id="rId4" Type="http://schemas.microsoft.com/office/2007/relationships/hdphoto" Target="../media/hdphoto1.wdp"/><Relationship Id="rId9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8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28.svg"/><Relationship Id="rId10" Type="http://schemas.openxmlformats.org/officeDocument/2006/relationships/image" Target="../media/image56.png"/><Relationship Id="rId4" Type="http://schemas.openxmlformats.org/officeDocument/2006/relationships/image" Target="../media/image27.png"/><Relationship Id="rId9" Type="http://schemas.openxmlformats.org/officeDocument/2006/relationships/image" Target="../media/image5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9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11" Type="http://schemas.openxmlformats.org/officeDocument/2006/relationships/image" Target="../media/image7.png"/><Relationship Id="rId5" Type="http://schemas.openxmlformats.org/officeDocument/2006/relationships/image" Target="../media/image27.png"/><Relationship Id="rId10" Type="http://schemas.openxmlformats.org/officeDocument/2006/relationships/image" Target="../media/image6.svg"/><Relationship Id="rId4" Type="http://schemas.microsoft.com/office/2007/relationships/hdphoto" Target="../media/hdphoto2.wdp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A33BC-CD44-D105-6534-DD4860CB5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 descr="Изображение выглядит как зеленый, Красочность, све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C8F0379-49C1-75CA-A427-E798451CF6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Трехмерная модель 1">
                <a:extLst>
                  <a:ext uri="{FF2B5EF4-FFF2-40B4-BE49-F238E27FC236}">
                    <a16:creationId xmlns:a16="http://schemas.microsoft.com/office/drawing/2014/main" id="{71F3B08C-6D14-65E0-26CC-A4927386F14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13121839"/>
                  </p:ext>
                </p:extLst>
              </p:nvPr>
            </p:nvGraphicFramePr>
            <p:xfrm>
              <a:off x="1565633" y="8044346"/>
              <a:ext cx="1952240" cy="494250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952240" cy="4942503"/>
                    </a:xfrm>
                    <a:prstGeom prst="rect">
                      <a:avLst/>
                    </a:prstGeom>
                    <a:noFill/>
                  </am3d:spPr>
                  <am3d:camera>
                    <am3d:pos x="0" y="0" z="524899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666659" d="1000000"/>
                    <am3d:preTrans dx="3" dy="14" dz="-546814"/>
                    <am3d:scale>
                      <am3d:sx n="1000000" d="1000000"/>
                      <am3d:sy n="1000000" d="1000000"/>
                      <am3d:sz n="1000000" d="1000000"/>
                    </am3d:scale>
                    <am3d:rot ax="1566719" ay="-3150078" az="-1274971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41865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Трехмерная модель 1">
                <a:extLst>
                  <a:ext uri="{FF2B5EF4-FFF2-40B4-BE49-F238E27FC236}">
                    <a16:creationId xmlns:a16="http://schemas.microsoft.com/office/drawing/2014/main" id="{71F3B08C-6D14-65E0-26CC-A4927386F1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65633" y="8044346"/>
                <a:ext cx="1952240" cy="4942503"/>
              </a:xfrm>
              <a:prstGeom prst="rect">
                <a:avLst/>
              </a:prstGeom>
              <a:noFill/>
            </p:spPr>
          </p:pic>
        </mc:Fallback>
      </mc:AlternateContent>
      <p:pic>
        <p:nvPicPr>
          <p:cNvPr id="15" name="Рисунок 14" descr="Изображение выглядит как снимок экрана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1F3D63C-60B0-3097-F018-071BA79497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147" y="-3293641"/>
            <a:ext cx="8695864" cy="2019300"/>
          </a:xfrm>
          <a:prstGeom prst="rect">
            <a:avLst/>
          </a:prstGeom>
        </p:spPr>
      </p:pic>
      <p:pic>
        <p:nvPicPr>
          <p:cNvPr id="18" name="Рисунок 17" descr="Изображение выглядит как Графика, Шрифт, логотип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9E1B9B5-43DC-D0DF-8542-77A7925FB2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3527" y="-3099031"/>
            <a:ext cx="4014819" cy="1703850"/>
          </a:xfrm>
          <a:prstGeom prst="rect">
            <a:avLst/>
          </a:prstGeom>
        </p:spPr>
      </p:pic>
      <p:pic>
        <p:nvPicPr>
          <p:cNvPr id="20" name="Рисунок 19" descr="Закрыть со сплошной заливкой">
            <a:extLst>
              <a:ext uri="{FF2B5EF4-FFF2-40B4-BE49-F238E27FC236}">
                <a16:creationId xmlns:a16="http://schemas.microsoft.com/office/drawing/2014/main" id="{7C75AF58-558D-5566-0D29-DFCC3B8AA9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51052" y="8168330"/>
            <a:ext cx="374045" cy="374045"/>
          </a:xfrm>
          <a:prstGeom prst="rect">
            <a:avLst/>
          </a:prstGeom>
        </p:spPr>
      </p:pic>
      <p:pic>
        <p:nvPicPr>
          <p:cNvPr id="22" name="Рисунок 21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44547B3-75A1-9C8A-560C-04A2A4004E8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87" y="7999753"/>
            <a:ext cx="711201" cy="71120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6BA0CF1-2F94-FCF4-2C4F-BB0EBAB1DBA5}"/>
              </a:ext>
            </a:extLst>
          </p:cNvPr>
          <p:cNvSpPr txBox="1"/>
          <p:nvPr/>
        </p:nvSpPr>
        <p:spPr>
          <a:xfrm>
            <a:off x="5990726" y="-2959850"/>
            <a:ext cx="45386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dirty="0">
                <a:latin typeface="MV-SKIFER" pitchFamily="50" charset="0"/>
              </a:rPr>
              <a:t>PULSE</a:t>
            </a:r>
            <a:endParaRPr lang="ru-RU" sz="9000" dirty="0">
              <a:latin typeface="MV-SKIFER" pitchFamily="50" charset="0"/>
            </a:endParaRPr>
          </a:p>
        </p:txBody>
      </p:sp>
      <p:pic>
        <p:nvPicPr>
          <p:cNvPr id="24" name="Рисунок 23" descr="Изображение выглядит как Графика, Шрифт, логотип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4A51FC5-3D71-DD6F-3EB7-F6748432032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75"/>
          <a:stretch>
            <a:fillRect/>
          </a:stretch>
        </p:blipFill>
        <p:spPr>
          <a:xfrm>
            <a:off x="10245939" y="8054337"/>
            <a:ext cx="613182" cy="602035"/>
          </a:xfrm>
          <a:prstGeom prst="rect">
            <a:avLst/>
          </a:prstGeom>
        </p:spPr>
      </p:pic>
      <p:pic>
        <p:nvPicPr>
          <p:cNvPr id="31" name="Рисунок 30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2751789-314E-EE3F-A135-70021FD0DD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3757" y="-832190"/>
            <a:ext cx="10270314" cy="6858000"/>
          </a:xfrm>
          <a:prstGeom prst="rect">
            <a:avLst/>
          </a:prstGeom>
        </p:spPr>
      </p:pic>
      <p:pic>
        <p:nvPicPr>
          <p:cNvPr id="3" name="Рисунок 2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E26DE7F-8F51-558D-8B9B-BC43AFBBB98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26903" y="2714466"/>
            <a:ext cx="9274629" cy="438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531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04E5F-F487-B5EB-B7F2-94B684CA2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 descr="Изображение выглядит как зеленый, Красочность, све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86E195D-1BA8-8C82-F865-601877F75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Рисунок 14" descr="Изображение выглядит как снимок экрана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5B7925B-C45E-F352-1129-70FACF3FCA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147" y="422018"/>
            <a:ext cx="8695864" cy="2019300"/>
          </a:xfrm>
          <a:prstGeom prst="rect">
            <a:avLst/>
          </a:prstGeom>
        </p:spPr>
      </p:pic>
      <p:pic>
        <p:nvPicPr>
          <p:cNvPr id="18" name="Рисунок 17" descr="Изображение выглядит как Графика, Шрифт, логотип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4D15537-37B6-A044-912F-9F3FB05C2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3527" y="616628"/>
            <a:ext cx="4014819" cy="1703850"/>
          </a:xfrm>
          <a:prstGeom prst="rect">
            <a:avLst/>
          </a:prstGeom>
        </p:spPr>
      </p:pic>
      <p:pic>
        <p:nvPicPr>
          <p:cNvPr id="20" name="Рисунок 19" descr="Закрыть со сплошной заливкой">
            <a:extLst>
              <a:ext uri="{FF2B5EF4-FFF2-40B4-BE49-F238E27FC236}">
                <a16:creationId xmlns:a16="http://schemas.microsoft.com/office/drawing/2014/main" id="{82E06C0D-FB28-1F8E-127A-9DB3A7923F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51052" y="6194387"/>
            <a:ext cx="374045" cy="374045"/>
          </a:xfrm>
          <a:prstGeom prst="rect">
            <a:avLst/>
          </a:prstGeom>
        </p:spPr>
      </p:pic>
      <p:pic>
        <p:nvPicPr>
          <p:cNvPr id="22" name="Рисунок 21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2A3B74B-3E93-C7C5-BFB5-3FD7C11954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87" y="6025810"/>
            <a:ext cx="711201" cy="71120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5E5A80A-00AE-C589-E0CE-9604DBE890BF}"/>
              </a:ext>
            </a:extLst>
          </p:cNvPr>
          <p:cNvSpPr txBox="1"/>
          <p:nvPr/>
        </p:nvSpPr>
        <p:spPr>
          <a:xfrm>
            <a:off x="5990726" y="755809"/>
            <a:ext cx="45386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dirty="0">
                <a:latin typeface="MV-SKIFER" pitchFamily="50" charset="0"/>
              </a:rPr>
              <a:t>PULSE</a:t>
            </a:r>
            <a:endParaRPr lang="ru-RU" sz="9000" dirty="0">
              <a:latin typeface="MV-SKIFER" pitchFamily="50" charset="0"/>
            </a:endParaRPr>
          </a:p>
        </p:txBody>
      </p:sp>
      <p:pic>
        <p:nvPicPr>
          <p:cNvPr id="24" name="Рисунок 23" descr="Изображение выглядит как Графика, Шрифт, логотип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0D3B0DF-1B7D-9787-DD95-AE16C5FA60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75"/>
          <a:stretch>
            <a:fillRect/>
          </a:stretch>
        </p:blipFill>
        <p:spPr>
          <a:xfrm>
            <a:off x="10245939" y="6080394"/>
            <a:ext cx="613182" cy="602035"/>
          </a:xfrm>
          <a:prstGeom prst="rect">
            <a:avLst/>
          </a:prstGeom>
        </p:spPr>
      </p:pic>
      <p:pic>
        <p:nvPicPr>
          <p:cNvPr id="31" name="Рисунок 30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BF71B76-AC4A-A53E-73EF-0D5C4BB14A2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461" y="-832190"/>
            <a:ext cx="10270314" cy="6858000"/>
          </a:xfrm>
          <a:prstGeom prst="rect">
            <a:avLst/>
          </a:prstGeom>
        </p:spPr>
      </p:pic>
      <p:pic>
        <p:nvPicPr>
          <p:cNvPr id="35" name="Рисунок 34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BFFB858-B6F4-D9E2-AE60-FC86592122F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542" y="2714466"/>
            <a:ext cx="9274629" cy="4383563"/>
          </a:xfrm>
          <a:prstGeom prst="rect">
            <a:avLst/>
          </a:prstGeom>
        </p:spPr>
      </p:pic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69015B59-D9AE-5647-D8AA-36F21717926A}"/>
              </a:ext>
            </a:extLst>
          </p:cNvPr>
          <p:cNvSpPr/>
          <p:nvPr/>
        </p:nvSpPr>
        <p:spPr>
          <a:xfrm>
            <a:off x="5187288" y="-4397946"/>
            <a:ext cx="5468621" cy="1143686"/>
          </a:xfrm>
          <a:prstGeom prst="roundRect">
            <a:avLst>
              <a:gd name="adj" fmla="val 30785"/>
            </a:avLst>
          </a:prstGeom>
          <a:solidFill>
            <a:srgbClr val="FF6161">
              <a:alpha val="38824"/>
            </a:srgbClr>
          </a:solidFill>
          <a:ln>
            <a:noFill/>
          </a:ln>
          <a:effectLst>
            <a:glow rad="241300">
              <a:srgbClr val="FF6161">
                <a:alpha val="53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TD Mars" pitchFamily="50" charset="0"/>
              </a:rPr>
              <a:t>ПРОБЛЕМА</a:t>
            </a:r>
          </a:p>
        </p:txBody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B5B6CE34-A845-79A3-BB56-C45838C527D3}"/>
              </a:ext>
            </a:extLst>
          </p:cNvPr>
          <p:cNvGrpSpPr/>
          <p:nvPr/>
        </p:nvGrpSpPr>
        <p:grpSpPr>
          <a:xfrm>
            <a:off x="6047305" y="20583880"/>
            <a:ext cx="5712542" cy="785446"/>
            <a:chOff x="6047305" y="20583880"/>
            <a:chExt cx="5712542" cy="785446"/>
          </a:xfrm>
        </p:grpSpPr>
        <p:sp>
          <p:nvSpPr>
            <p:cNvPr id="33" name="Прямоугольник: скругленные углы 14">
              <a:extLst>
                <a:ext uri="{FF2B5EF4-FFF2-40B4-BE49-F238E27FC236}">
                  <a16:creationId xmlns:a16="http://schemas.microsoft.com/office/drawing/2014/main" id="{6DBE0502-494B-8058-42D1-FAE7C3D6A51D}"/>
                </a:ext>
              </a:extLst>
            </p:cNvPr>
            <p:cNvSpPr/>
            <p:nvPr/>
          </p:nvSpPr>
          <p:spPr>
            <a:xfrm>
              <a:off x="6047305" y="20583880"/>
              <a:ext cx="5568024" cy="785446"/>
            </a:xfrm>
            <a:prstGeom prst="roundRect">
              <a:avLst/>
            </a:prstGeom>
            <a:solidFill>
              <a:schemeClr val="tx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TextBox 13">
              <a:extLst>
                <a:ext uri="{FF2B5EF4-FFF2-40B4-BE49-F238E27FC236}">
                  <a16:creationId xmlns:a16="http://schemas.microsoft.com/office/drawing/2014/main" id="{0633A105-ABFC-F401-88D8-3F3DFC57F373}"/>
                </a:ext>
              </a:extLst>
            </p:cNvPr>
            <p:cNvSpPr txBox="1"/>
            <p:nvPr/>
          </p:nvSpPr>
          <p:spPr>
            <a:xfrm>
              <a:off x="6047305" y="20634387"/>
              <a:ext cx="57125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  <a:effectLst>
                    <a:outerShdw blurRad="190500" dist="50800" dir="5400000" sx="5000" sy="5000" algn="ctr" rotWithShape="0">
                      <a:srgbClr val="000000">
                        <a:alpha val="43137"/>
                      </a:srgbClr>
                    </a:outerShdw>
                  </a:effectLst>
                </a:rPr>
                <a:t>Объем рынка на 2025 </a:t>
              </a:r>
              <a:r>
                <a:rPr lang="en-US" dirty="0">
                  <a:solidFill>
                    <a:schemeClr val="bg1"/>
                  </a:solidFill>
                  <a:effectLst>
                    <a:outerShdw blurRad="190500" dist="50800" dir="5400000" sx="5000" sy="5000" algn="ctr" rotWithShape="0">
                      <a:srgbClr val="000000">
                        <a:alpha val="43137"/>
                      </a:srgbClr>
                    </a:outerShdw>
                  </a:effectLst>
                </a:rPr>
                <a:t>~</a:t>
              </a:r>
              <a:r>
                <a:rPr lang="ru-RU" dirty="0">
                  <a:solidFill>
                    <a:schemeClr val="bg1"/>
                  </a:solidFill>
                  <a:effectLst>
                    <a:outerShdw blurRad="190500" dist="50800" dir="5400000" sx="5000" sy="5000" algn="ctr" rotWithShape="0">
                      <a:srgbClr val="000000">
                        <a:alpha val="43137"/>
                      </a:srgbClr>
                    </a:outerShdw>
                  </a:effectLst>
                </a:rPr>
                <a:t> 2,3 млрд поездок в год. Средний количество отказов – 345 млн. в год</a:t>
              </a:r>
            </a:p>
          </p:txBody>
        </p:sp>
      </p:grpSp>
      <p:sp>
        <p:nvSpPr>
          <p:cNvPr id="36" name="Овал 35">
            <a:extLst>
              <a:ext uri="{FF2B5EF4-FFF2-40B4-BE49-F238E27FC236}">
                <a16:creationId xmlns:a16="http://schemas.microsoft.com/office/drawing/2014/main" id="{324C5204-BADF-28A1-3487-3EB8D3FCBE84}"/>
              </a:ext>
            </a:extLst>
          </p:cNvPr>
          <p:cNvSpPr/>
          <p:nvPr/>
        </p:nvSpPr>
        <p:spPr>
          <a:xfrm>
            <a:off x="5088657" y="12805559"/>
            <a:ext cx="679042" cy="679042"/>
          </a:xfrm>
          <a:prstGeom prst="ellipse">
            <a:avLst/>
          </a:prstGeom>
          <a:noFill/>
          <a:ln w="38100">
            <a:solidFill>
              <a:srgbClr val="97E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DD29059-951C-C747-0628-CA5A32161F3D}"/>
              </a:ext>
            </a:extLst>
          </p:cNvPr>
          <p:cNvSpPr txBox="1"/>
          <p:nvPr/>
        </p:nvSpPr>
        <p:spPr>
          <a:xfrm>
            <a:off x="5190257" y="12833799"/>
            <a:ext cx="368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TD Mars" pitchFamily="50" charset="0"/>
              </a:rPr>
              <a:t>1</a:t>
            </a:r>
            <a:endParaRPr lang="ru-RU" sz="3200" dirty="0">
              <a:solidFill>
                <a:schemeClr val="bg1"/>
              </a:solidFill>
              <a:latin typeface="TD Mars" pitchFamily="50" charset="0"/>
            </a:endParaRP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74800DB6-D119-143B-F8D7-1363B671CC64}"/>
              </a:ext>
            </a:extLst>
          </p:cNvPr>
          <p:cNvSpPr/>
          <p:nvPr/>
        </p:nvSpPr>
        <p:spPr>
          <a:xfrm>
            <a:off x="6031072" y="12659052"/>
            <a:ext cx="5568024" cy="923330"/>
          </a:xfrm>
          <a:prstGeom prst="roundRect">
            <a:avLst/>
          </a:prstGeom>
          <a:solidFill>
            <a:schemeClr val="tx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880366-9F4D-13F1-4E72-3B8F49CD9C43}"/>
              </a:ext>
            </a:extLst>
          </p:cNvPr>
          <p:cNvSpPr txBox="1"/>
          <p:nvPr/>
        </p:nvSpPr>
        <p:spPr>
          <a:xfrm>
            <a:off x="6047305" y="12680684"/>
            <a:ext cx="57125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effectLst>
                  <a:outerShdw blurRad="190500" dist="50800" dir="5400000" sx="5000" sy="5000" algn="ctr" rotWithShape="0">
                    <a:srgbClr val="000000">
                      <a:alpha val="43137"/>
                    </a:srgbClr>
                  </a:outerShdw>
                </a:effectLst>
              </a:rPr>
              <a:t>По разным оценкам и заявлениям представителей агрегаторов, уровень отказов составляет в среднем 10-20% от общего числа заказов. </a:t>
            </a:r>
          </a:p>
        </p:txBody>
      </p: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D64E6850-760D-52D4-9A61-6375F9DC06FC}"/>
              </a:ext>
            </a:extLst>
          </p:cNvPr>
          <p:cNvGrpSpPr/>
          <p:nvPr/>
        </p:nvGrpSpPr>
        <p:grpSpPr>
          <a:xfrm>
            <a:off x="5088658" y="20664132"/>
            <a:ext cx="707822" cy="679042"/>
            <a:chOff x="5088658" y="3060287"/>
            <a:chExt cx="707822" cy="679042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70CE5BD-6569-AAA6-FB03-0CDCF165AF51}"/>
                </a:ext>
              </a:extLst>
            </p:cNvPr>
            <p:cNvSpPr txBox="1"/>
            <p:nvPr/>
          </p:nvSpPr>
          <p:spPr>
            <a:xfrm>
              <a:off x="5088658" y="3084283"/>
              <a:ext cx="67904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TD Mars" pitchFamily="50" charset="0"/>
                </a:rPr>
                <a:t>2</a:t>
              </a:r>
              <a:endParaRPr lang="ru-RU" sz="3200" dirty="0">
                <a:solidFill>
                  <a:schemeClr val="bg1"/>
                </a:solidFill>
                <a:latin typeface="TD Mars" pitchFamily="50" charset="0"/>
              </a:endParaRPr>
            </a:p>
          </p:txBody>
        </p:sp>
        <p:sp>
          <p:nvSpPr>
            <p:cNvPr id="43" name="Овал 42">
              <a:extLst>
                <a:ext uri="{FF2B5EF4-FFF2-40B4-BE49-F238E27FC236}">
                  <a16:creationId xmlns:a16="http://schemas.microsoft.com/office/drawing/2014/main" id="{CA375DF1-DB97-2EBB-3E30-5240A2C43739}"/>
                </a:ext>
              </a:extLst>
            </p:cNvPr>
            <p:cNvSpPr/>
            <p:nvPr/>
          </p:nvSpPr>
          <p:spPr>
            <a:xfrm>
              <a:off x="5117438" y="3060287"/>
              <a:ext cx="679042" cy="679042"/>
            </a:xfrm>
            <a:prstGeom prst="ellipse">
              <a:avLst/>
            </a:prstGeom>
            <a:noFill/>
            <a:ln w="38100">
              <a:solidFill>
                <a:srgbClr val="97EA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</p:grp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E71AC6B7-9EBC-0077-9EAA-BA27A50BBD54}"/>
              </a:ext>
            </a:extLst>
          </p:cNvPr>
          <p:cNvGrpSpPr/>
          <p:nvPr/>
        </p:nvGrpSpPr>
        <p:grpSpPr>
          <a:xfrm>
            <a:off x="5107708" y="30809940"/>
            <a:ext cx="688772" cy="679042"/>
            <a:chOff x="5107708" y="4165340"/>
            <a:chExt cx="688772" cy="679042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7B042E6-A6A0-212F-D8B2-A7DC80C02FF7}"/>
                </a:ext>
              </a:extLst>
            </p:cNvPr>
            <p:cNvSpPr txBox="1"/>
            <p:nvPr/>
          </p:nvSpPr>
          <p:spPr>
            <a:xfrm>
              <a:off x="5107708" y="4189336"/>
              <a:ext cx="67904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3200" dirty="0">
                  <a:solidFill>
                    <a:schemeClr val="bg1"/>
                  </a:solidFill>
                  <a:latin typeface="TD Mars" pitchFamily="50" charset="0"/>
                </a:rPr>
                <a:t>3</a:t>
              </a:r>
            </a:p>
          </p:txBody>
        </p:sp>
        <p:sp>
          <p:nvSpPr>
            <p:cNvPr id="46" name="Овал 45">
              <a:extLst>
                <a:ext uri="{FF2B5EF4-FFF2-40B4-BE49-F238E27FC236}">
                  <a16:creationId xmlns:a16="http://schemas.microsoft.com/office/drawing/2014/main" id="{26BE6709-F2B5-476F-10A9-C1B6E2D3C746}"/>
                </a:ext>
              </a:extLst>
            </p:cNvPr>
            <p:cNvSpPr/>
            <p:nvPr/>
          </p:nvSpPr>
          <p:spPr>
            <a:xfrm>
              <a:off x="5117438" y="4165340"/>
              <a:ext cx="679042" cy="679042"/>
            </a:xfrm>
            <a:prstGeom prst="ellipse">
              <a:avLst/>
            </a:prstGeom>
            <a:noFill/>
            <a:ln w="38100">
              <a:solidFill>
                <a:srgbClr val="97EA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</p:grp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4A98DC52-B975-ADC5-7E43-2B971D16B880}"/>
              </a:ext>
            </a:extLst>
          </p:cNvPr>
          <p:cNvSpPr/>
          <p:nvPr/>
        </p:nvSpPr>
        <p:spPr>
          <a:xfrm>
            <a:off x="6031072" y="30810514"/>
            <a:ext cx="5568024" cy="595497"/>
          </a:xfrm>
          <a:prstGeom prst="roundRect">
            <a:avLst/>
          </a:prstGeom>
          <a:solidFill>
            <a:schemeClr val="tx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12A9F9F-56E3-9536-1538-F494E2EBAAB5}"/>
              </a:ext>
            </a:extLst>
          </p:cNvPr>
          <p:cNvSpPr txBox="1"/>
          <p:nvPr/>
        </p:nvSpPr>
        <p:spPr>
          <a:xfrm>
            <a:off x="6047305" y="30936259"/>
            <a:ext cx="5712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effectLst>
                  <a:outerShdw blurRad="190500" dist="50800" dir="5400000" sx="5000" sy="5000" algn="ctr" rotWithShape="0">
                    <a:srgbClr val="000000">
                      <a:alpha val="43137"/>
                    </a:srgbClr>
                  </a:outerShdw>
                </a:effectLst>
              </a:rPr>
              <a:t>Таксист теряет время и деньги на торгах с клиентом.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7" name="Трехмерная модель 56">
                <a:extLst>
                  <a:ext uri="{FF2B5EF4-FFF2-40B4-BE49-F238E27FC236}">
                    <a16:creationId xmlns:a16="http://schemas.microsoft.com/office/drawing/2014/main" id="{72534943-D10D-3733-798D-2BECD33836A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41782513"/>
                  </p:ext>
                </p:extLst>
              </p:nvPr>
            </p:nvGraphicFramePr>
            <p:xfrm>
              <a:off x="1424190" y="8754590"/>
              <a:ext cx="2259326" cy="4707953"/>
            </p:xfrm>
            <a:graphic>
              <a:graphicData uri="http://schemas.microsoft.com/office/drawing/2017/model3d">
                <am3d:model3d r:embed="rId11">
                  <am3d:spPr>
                    <a:xfrm>
                      <a:off x="0" y="0"/>
                      <a:ext cx="2259326" cy="4707953"/>
                    </a:xfrm>
                    <a:prstGeom prst="rect">
                      <a:avLst/>
                    </a:prstGeom>
                  </am3d:spPr>
                  <am3d:camera>
                    <am3d:pos x="0" y="0" z="524899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666659" d="1000000"/>
                    <am3d:preTrans dx="3" dy="14" dz="-546814"/>
                    <am3d:scale>
                      <am3d:sx n="1000000" d="1000000"/>
                      <am3d:sy n="1000000" d="1000000"/>
                      <am3d:sz n="1000000" d="1000000"/>
                    </am3d:scale>
                    <am3d:rot ax="134956" ay="-963791" az="-37327"/>
                    <am3d:postTrans dx="0" dy="0" dz="0"/>
                  </am3d:trans>
                  <am3d:raster rName="Office3DRenderer" rVer="16.0.8326">
                    <am3d:blip r:embed="rId12"/>
                  </am3d:raster>
                  <am3d:objViewport viewportSz="537372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7" name="Трехмерная модель 56">
                <a:extLst>
                  <a:ext uri="{FF2B5EF4-FFF2-40B4-BE49-F238E27FC236}">
                    <a16:creationId xmlns:a16="http://schemas.microsoft.com/office/drawing/2014/main" id="{72534943-D10D-3733-798D-2BECD33836A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24190" y="8754590"/>
                <a:ext cx="2259326" cy="470795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7410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 descr="Изображение выглядит как зеленый, Красочность, све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6A664B5-C855-5425-9036-453A40A4C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Рисунок 16" descr="Изображение выглядит как Графика, Шрифт, логотип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BF2B056-5A64-F234-ABE6-B1FD3E96FD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645"/>
          <a:stretch>
            <a:fillRect/>
          </a:stretch>
        </p:blipFill>
        <p:spPr>
          <a:xfrm>
            <a:off x="10152379" y="7707227"/>
            <a:ext cx="747057" cy="748536"/>
          </a:xfrm>
          <a:prstGeom prst="rect">
            <a:avLst/>
          </a:prstGeom>
        </p:spPr>
      </p:pic>
      <p:pic>
        <p:nvPicPr>
          <p:cNvPr id="18" name="Рисунок 17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07E9AC8-809B-CA06-B24C-05E8630B3E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105" y="7668507"/>
            <a:ext cx="825976" cy="825976"/>
          </a:xfrm>
          <a:prstGeom prst="rect">
            <a:avLst/>
          </a:prstGeom>
        </p:spPr>
      </p:pic>
      <p:pic>
        <p:nvPicPr>
          <p:cNvPr id="19" name="Рисунок 18" descr="Закрыть со сплошной заливкой">
            <a:extLst>
              <a:ext uri="{FF2B5EF4-FFF2-40B4-BE49-F238E27FC236}">
                <a16:creationId xmlns:a16="http://schemas.microsoft.com/office/drawing/2014/main" id="{5138CD79-098A-6AF1-CC66-FBF07485FF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13914" y="7889137"/>
            <a:ext cx="331948" cy="331948"/>
          </a:xfrm>
          <a:prstGeom prst="rect">
            <a:avLst/>
          </a:prstGeom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5B2360D-FECD-87D1-6348-F8FE8951FEDB}"/>
              </a:ext>
            </a:extLst>
          </p:cNvPr>
          <p:cNvSpPr/>
          <p:nvPr/>
        </p:nvSpPr>
        <p:spPr>
          <a:xfrm>
            <a:off x="5187288" y="231204"/>
            <a:ext cx="5468621" cy="1143686"/>
          </a:xfrm>
          <a:prstGeom prst="roundRect">
            <a:avLst>
              <a:gd name="adj" fmla="val 30785"/>
            </a:avLst>
          </a:prstGeom>
          <a:solidFill>
            <a:srgbClr val="FF6161">
              <a:alpha val="38824"/>
            </a:srgbClr>
          </a:solidFill>
          <a:ln>
            <a:noFill/>
          </a:ln>
          <a:effectLst>
            <a:glow rad="88900">
              <a:srgbClr val="FF6161">
                <a:alpha val="53000"/>
              </a:srgbClr>
            </a:glow>
            <a:outerShdw blurRad="279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TD Mars" pitchFamily="50" charset="0"/>
              </a:rPr>
              <a:t>ПРОБЛЕМА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0B2FD0B5-8C08-0CF9-4F07-BA0289860518}"/>
              </a:ext>
            </a:extLst>
          </p:cNvPr>
          <p:cNvSpPr/>
          <p:nvPr/>
        </p:nvSpPr>
        <p:spPr>
          <a:xfrm>
            <a:off x="5088657" y="1908959"/>
            <a:ext cx="679042" cy="679042"/>
          </a:xfrm>
          <a:prstGeom prst="ellipse">
            <a:avLst/>
          </a:prstGeom>
          <a:noFill/>
          <a:ln w="38100">
            <a:solidFill>
              <a:srgbClr val="97E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A6145E-E206-9E27-924A-EBF33F806A6F}"/>
              </a:ext>
            </a:extLst>
          </p:cNvPr>
          <p:cNvSpPr txBox="1"/>
          <p:nvPr/>
        </p:nvSpPr>
        <p:spPr>
          <a:xfrm>
            <a:off x="5190257" y="1937199"/>
            <a:ext cx="368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TD Mars" pitchFamily="50" charset="0"/>
              </a:rPr>
              <a:t>1</a:t>
            </a:r>
            <a:endParaRPr lang="ru-RU" sz="3200" dirty="0">
              <a:solidFill>
                <a:schemeClr val="bg1"/>
              </a:solidFill>
              <a:latin typeface="TD Mars" pitchFamily="50" charset="0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AF6DF989-ACCE-C198-7076-C830E267A66A}"/>
              </a:ext>
            </a:extLst>
          </p:cNvPr>
          <p:cNvSpPr/>
          <p:nvPr/>
        </p:nvSpPr>
        <p:spPr>
          <a:xfrm>
            <a:off x="6031072" y="1762452"/>
            <a:ext cx="5568024" cy="923330"/>
          </a:xfrm>
          <a:prstGeom prst="roundRect">
            <a:avLst/>
          </a:prstGeom>
          <a:solidFill>
            <a:schemeClr val="tx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F24B4D-4E8E-11CF-B84C-83448CFDE8B4}"/>
              </a:ext>
            </a:extLst>
          </p:cNvPr>
          <p:cNvSpPr txBox="1"/>
          <p:nvPr/>
        </p:nvSpPr>
        <p:spPr>
          <a:xfrm>
            <a:off x="6047305" y="1784084"/>
            <a:ext cx="57125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effectLst>
                  <a:outerShdw blurRad="190500" dist="50800" dir="5400000" sx="5000" sy="5000" algn="ctr" rotWithShape="0">
                    <a:srgbClr val="000000">
                      <a:alpha val="43137"/>
                    </a:srgbClr>
                  </a:outerShdw>
                </a:effectLst>
              </a:rPr>
              <a:t>По разным оценкам и заявлениям представителей агрегаторов, уровень отказов составляет в среднем 10-20% от общего числа заказов. </a:t>
            </a:r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4DB4AAAE-A124-CB65-8BF9-D9C74D7E1AFE}"/>
              </a:ext>
            </a:extLst>
          </p:cNvPr>
          <p:cNvGrpSpPr/>
          <p:nvPr/>
        </p:nvGrpSpPr>
        <p:grpSpPr>
          <a:xfrm>
            <a:off x="5088658" y="3060287"/>
            <a:ext cx="707822" cy="679042"/>
            <a:chOff x="5088658" y="3060287"/>
            <a:chExt cx="707822" cy="67904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9C8F799-6FCD-3BC8-C315-4A5B67795754}"/>
                </a:ext>
              </a:extLst>
            </p:cNvPr>
            <p:cNvSpPr txBox="1"/>
            <p:nvPr/>
          </p:nvSpPr>
          <p:spPr>
            <a:xfrm>
              <a:off x="5088658" y="3084283"/>
              <a:ext cx="67904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TD Mars" pitchFamily="50" charset="0"/>
                </a:rPr>
                <a:t>2</a:t>
              </a:r>
              <a:endParaRPr lang="ru-RU" sz="3200" dirty="0">
                <a:solidFill>
                  <a:schemeClr val="bg1"/>
                </a:solidFill>
                <a:latin typeface="TD Mars" pitchFamily="50" charset="0"/>
              </a:endParaRPr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F7E51DE9-F210-A42D-57CD-9523D574F175}"/>
                </a:ext>
              </a:extLst>
            </p:cNvPr>
            <p:cNvSpPr/>
            <p:nvPr/>
          </p:nvSpPr>
          <p:spPr>
            <a:xfrm>
              <a:off x="5117438" y="3060287"/>
              <a:ext cx="679042" cy="679042"/>
            </a:xfrm>
            <a:prstGeom prst="ellipse">
              <a:avLst/>
            </a:prstGeom>
            <a:noFill/>
            <a:ln w="38100">
              <a:solidFill>
                <a:srgbClr val="97EA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E0F59263-3849-57D6-91ED-CE4171F1530F}"/>
              </a:ext>
            </a:extLst>
          </p:cNvPr>
          <p:cNvGrpSpPr/>
          <p:nvPr/>
        </p:nvGrpSpPr>
        <p:grpSpPr>
          <a:xfrm>
            <a:off x="5107708" y="4165340"/>
            <a:ext cx="688772" cy="679042"/>
            <a:chOff x="5107708" y="4165340"/>
            <a:chExt cx="688772" cy="67904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ED7453C-E520-CE91-7B1B-50CEA08972C3}"/>
                </a:ext>
              </a:extLst>
            </p:cNvPr>
            <p:cNvSpPr txBox="1"/>
            <p:nvPr/>
          </p:nvSpPr>
          <p:spPr>
            <a:xfrm>
              <a:off x="5107708" y="4189336"/>
              <a:ext cx="67904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3200" dirty="0">
                  <a:solidFill>
                    <a:schemeClr val="bg1"/>
                  </a:solidFill>
                  <a:latin typeface="TD Mars" pitchFamily="50" charset="0"/>
                </a:rPr>
                <a:t>3</a:t>
              </a:r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D0FA7B21-B1E6-D258-A07D-6C0D156B046F}"/>
                </a:ext>
              </a:extLst>
            </p:cNvPr>
            <p:cNvSpPr/>
            <p:nvPr/>
          </p:nvSpPr>
          <p:spPr>
            <a:xfrm>
              <a:off x="5117438" y="4165340"/>
              <a:ext cx="679042" cy="679042"/>
            </a:xfrm>
            <a:prstGeom prst="ellipse">
              <a:avLst/>
            </a:prstGeom>
            <a:noFill/>
            <a:ln w="38100">
              <a:solidFill>
                <a:srgbClr val="97EA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</p:grp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F086516A-2794-DA3E-90BB-5886D8218F86}"/>
              </a:ext>
            </a:extLst>
          </p:cNvPr>
          <p:cNvSpPr/>
          <p:nvPr/>
        </p:nvSpPr>
        <p:spPr>
          <a:xfrm>
            <a:off x="6031072" y="4178614"/>
            <a:ext cx="5568024" cy="595497"/>
          </a:xfrm>
          <a:prstGeom prst="roundRect">
            <a:avLst/>
          </a:prstGeom>
          <a:solidFill>
            <a:schemeClr val="tx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6920AA-48AE-B7E7-6704-36FD1EB4298A}"/>
              </a:ext>
            </a:extLst>
          </p:cNvPr>
          <p:cNvSpPr txBox="1"/>
          <p:nvPr/>
        </p:nvSpPr>
        <p:spPr>
          <a:xfrm>
            <a:off x="6047305" y="4304359"/>
            <a:ext cx="5712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effectLst>
                  <a:outerShdw blurRad="190500" dist="50800" dir="5400000" sx="5000" sy="5000" algn="ctr" rotWithShape="0">
                    <a:srgbClr val="000000">
                      <a:alpha val="43137"/>
                    </a:srgbClr>
                  </a:outerShdw>
                </a:effectLst>
              </a:rPr>
              <a:t>Таксист теряет время и деньги на торгах с клиентом.</a:t>
            </a:r>
          </a:p>
        </p:txBody>
      </p:sp>
      <p:pic>
        <p:nvPicPr>
          <p:cNvPr id="24" name="Рисунок 23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A404790-CD7A-FC18-B90C-10482D0CD3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0261" y="-794090"/>
            <a:ext cx="10270314" cy="6858000"/>
          </a:xfrm>
          <a:prstGeom prst="rect">
            <a:avLst/>
          </a:prstGeom>
        </p:spPr>
      </p:pic>
      <p:pic>
        <p:nvPicPr>
          <p:cNvPr id="25" name="Рисунок 24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B14CBD8-1CDA-D2D5-28B7-5B2DA03D32F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646742" y="2714466"/>
            <a:ext cx="9274629" cy="4383563"/>
          </a:xfrm>
          <a:prstGeom prst="rect">
            <a:avLst/>
          </a:prstGeom>
        </p:spPr>
      </p:pic>
      <p:pic>
        <p:nvPicPr>
          <p:cNvPr id="26" name="Рисунок 25" descr="Изображение выглядит как снимок экрана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DEF69EE-BE71-2401-E4CB-48EA036486A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147" y="-5902582"/>
            <a:ext cx="8695864" cy="2019300"/>
          </a:xfrm>
          <a:prstGeom prst="rect">
            <a:avLst/>
          </a:prstGeom>
        </p:spPr>
      </p:pic>
      <p:pic>
        <p:nvPicPr>
          <p:cNvPr id="27" name="Рисунок 26" descr="Изображение выглядит как Графика, Шрифт, логотип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FD9DCD8-7759-CC8A-6A86-DA8CF49004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3527" y="-5707972"/>
            <a:ext cx="4014819" cy="170385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A885B0E-8728-B974-42B0-FF051292F0FE}"/>
              </a:ext>
            </a:extLst>
          </p:cNvPr>
          <p:cNvSpPr txBox="1"/>
          <p:nvPr/>
        </p:nvSpPr>
        <p:spPr>
          <a:xfrm>
            <a:off x="5990726" y="-5568791"/>
            <a:ext cx="45386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dirty="0">
                <a:latin typeface="MV-SKIFER" pitchFamily="50" charset="0"/>
              </a:rPr>
              <a:t>PULSE</a:t>
            </a:r>
            <a:endParaRPr lang="ru-RU" sz="9000" dirty="0">
              <a:latin typeface="MV-SKIFER" pitchFamily="50" charset="0"/>
            </a:endParaRPr>
          </a:p>
        </p:txBody>
      </p: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696FA838-5D51-0516-4F7A-D38084A3DB1F}"/>
              </a:ext>
            </a:extLst>
          </p:cNvPr>
          <p:cNvGrpSpPr/>
          <p:nvPr/>
        </p:nvGrpSpPr>
        <p:grpSpPr>
          <a:xfrm>
            <a:off x="6047305" y="2981680"/>
            <a:ext cx="5712542" cy="785446"/>
            <a:chOff x="6047305" y="20583880"/>
            <a:chExt cx="5712542" cy="785446"/>
          </a:xfrm>
        </p:grpSpPr>
        <p:sp>
          <p:nvSpPr>
            <p:cNvPr id="34" name="Прямоугольник: скругленные углы 14">
              <a:extLst>
                <a:ext uri="{FF2B5EF4-FFF2-40B4-BE49-F238E27FC236}">
                  <a16:creationId xmlns:a16="http://schemas.microsoft.com/office/drawing/2014/main" id="{6612935C-6F4B-45A2-0499-118E3115E9E1}"/>
                </a:ext>
              </a:extLst>
            </p:cNvPr>
            <p:cNvSpPr/>
            <p:nvPr/>
          </p:nvSpPr>
          <p:spPr>
            <a:xfrm>
              <a:off x="6047305" y="20583880"/>
              <a:ext cx="5568024" cy="785446"/>
            </a:xfrm>
            <a:prstGeom prst="roundRect">
              <a:avLst/>
            </a:prstGeom>
            <a:solidFill>
              <a:schemeClr val="tx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TextBox 13">
              <a:extLst>
                <a:ext uri="{FF2B5EF4-FFF2-40B4-BE49-F238E27FC236}">
                  <a16:creationId xmlns:a16="http://schemas.microsoft.com/office/drawing/2014/main" id="{70BFB22A-A4B5-63B5-366F-1056FD281AF9}"/>
                </a:ext>
              </a:extLst>
            </p:cNvPr>
            <p:cNvSpPr txBox="1"/>
            <p:nvPr/>
          </p:nvSpPr>
          <p:spPr>
            <a:xfrm>
              <a:off x="6047305" y="20634387"/>
              <a:ext cx="57125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  <a:effectLst>
                    <a:outerShdw blurRad="190500" dist="50800" dir="5400000" sx="5000" sy="5000" algn="ctr" rotWithShape="0">
                      <a:srgbClr val="000000">
                        <a:alpha val="43137"/>
                      </a:srgbClr>
                    </a:outerShdw>
                  </a:effectLst>
                </a:rPr>
                <a:t>Объем рынка на 2025 </a:t>
              </a:r>
              <a:r>
                <a:rPr lang="en-US" dirty="0">
                  <a:solidFill>
                    <a:schemeClr val="bg1"/>
                  </a:solidFill>
                  <a:effectLst>
                    <a:outerShdw blurRad="190500" dist="50800" dir="5400000" sx="5000" sy="5000" algn="ctr" rotWithShape="0">
                      <a:srgbClr val="000000">
                        <a:alpha val="43137"/>
                      </a:srgbClr>
                    </a:outerShdw>
                  </a:effectLst>
                </a:rPr>
                <a:t>~</a:t>
              </a:r>
              <a:r>
                <a:rPr lang="ru-RU" dirty="0">
                  <a:solidFill>
                    <a:schemeClr val="bg1"/>
                  </a:solidFill>
                  <a:effectLst>
                    <a:outerShdw blurRad="190500" dist="50800" dir="5400000" sx="5000" sy="5000" algn="ctr" rotWithShape="0">
                      <a:srgbClr val="000000">
                        <a:alpha val="43137"/>
                      </a:srgbClr>
                    </a:outerShdw>
                  </a:effectLst>
                </a:rPr>
                <a:t> 2,3 млрд поездок в год. Средний количество отказов – 345 млн. в год</a:t>
              </a:r>
            </a:p>
          </p:txBody>
        </p:sp>
      </p:grp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2D5969AE-3059-8EF1-DE27-32E13778E2E3}"/>
              </a:ext>
            </a:extLst>
          </p:cNvPr>
          <p:cNvCxnSpPr/>
          <p:nvPr/>
        </p:nvCxnSpPr>
        <p:spPr>
          <a:xfrm>
            <a:off x="9942286" y="6589486"/>
            <a:ext cx="18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E07B2C8E-F899-0BC7-416A-FB98232BFC54}"/>
              </a:ext>
            </a:extLst>
          </p:cNvPr>
          <p:cNvCxnSpPr>
            <a:cxnSpLocks/>
          </p:cNvCxnSpPr>
          <p:nvPr/>
        </p:nvCxnSpPr>
        <p:spPr>
          <a:xfrm>
            <a:off x="9942286" y="6587896"/>
            <a:ext cx="198000" cy="0"/>
          </a:xfrm>
          <a:prstGeom prst="line">
            <a:avLst/>
          </a:prstGeom>
          <a:ln>
            <a:solidFill>
              <a:srgbClr val="97E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Рисунок 42" descr="Предупреждение со сплошной заливкой">
            <a:extLst>
              <a:ext uri="{FF2B5EF4-FFF2-40B4-BE49-F238E27FC236}">
                <a16:creationId xmlns:a16="http://schemas.microsoft.com/office/drawing/2014/main" id="{2B116056-69F5-FA2D-5B69-375DBFCFB2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88805" y="6423136"/>
            <a:ext cx="107723" cy="107723"/>
          </a:xfrm>
          <a:prstGeom prst="rect">
            <a:avLst/>
          </a:prstGeom>
        </p:spPr>
      </p:pic>
      <p:cxnSp>
        <p:nvCxnSpPr>
          <p:cNvPr id="44" name="Прямая соединительная линия 43">
            <a:extLst>
              <a:ext uri="{FF2B5EF4-FFF2-40B4-BE49-F238E27FC236}">
                <a16:creationId xmlns:a16="http://schemas.microsoft.com/office/drawing/2014/main" id="{C771002B-CB56-8069-74CD-4CB02184DDFA}"/>
              </a:ext>
            </a:extLst>
          </p:cNvPr>
          <p:cNvCxnSpPr>
            <a:cxnSpLocks/>
          </p:cNvCxnSpPr>
          <p:nvPr/>
        </p:nvCxnSpPr>
        <p:spPr>
          <a:xfrm flipV="1">
            <a:off x="10143234" y="6517481"/>
            <a:ext cx="0" cy="79148"/>
          </a:xfrm>
          <a:prstGeom prst="line">
            <a:avLst/>
          </a:prstGeom>
          <a:ln w="12700">
            <a:solidFill>
              <a:srgbClr val="97E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Прямоугольник: скругленные углы 57">
            <a:extLst>
              <a:ext uri="{FF2B5EF4-FFF2-40B4-BE49-F238E27FC236}">
                <a16:creationId xmlns:a16="http://schemas.microsoft.com/office/drawing/2014/main" id="{A3A6EABE-18F9-C526-578C-EF5310B8CEA3}"/>
              </a:ext>
            </a:extLst>
          </p:cNvPr>
          <p:cNvSpPr/>
          <p:nvPr/>
        </p:nvSpPr>
        <p:spPr>
          <a:xfrm>
            <a:off x="2438400" y="-3588657"/>
            <a:ext cx="7315200" cy="1204684"/>
          </a:xfrm>
          <a:prstGeom prst="roundRect">
            <a:avLst/>
          </a:prstGeom>
          <a:solidFill>
            <a:srgbClr val="7CCA14">
              <a:alpha val="39000"/>
            </a:srgbClr>
          </a:solidFill>
          <a:ln>
            <a:noFill/>
          </a:ln>
          <a:effectLst>
            <a:glow rad="88900">
              <a:srgbClr val="97EA28">
                <a:alpha val="40000"/>
              </a:srgbClr>
            </a:glow>
            <a:outerShdw blurRad="279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TD Mars" pitchFamily="50" charset="0"/>
              </a:rPr>
              <a:t>ЦЕЛЕВАЯ АУДИТОИЯ</a:t>
            </a:r>
          </a:p>
        </p:txBody>
      </p:sp>
      <p:pic>
        <p:nvPicPr>
          <p:cNvPr id="59" name="Рисунок 58" descr="Пользователи со сплошной заливкой">
            <a:extLst>
              <a:ext uri="{FF2B5EF4-FFF2-40B4-BE49-F238E27FC236}">
                <a16:creationId xmlns:a16="http://schemas.microsoft.com/office/drawing/2014/main" id="{42163FA8-2EF4-9F76-8080-21ED9F5B7AB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38913" y="12716325"/>
            <a:ext cx="2413000" cy="2413000"/>
          </a:xfrm>
          <a:prstGeom prst="rect">
            <a:avLst/>
          </a:prstGeom>
        </p:spPr>
      </p:pic>
      <p:sp>
        <p:nvSpPr>
          <p:cNvPr id="61" name="Прямоугольник: скругленные углы 60">
            <a:extLst>
              <a:ext uri="{FF2B5EF4-FFF2-40B4-BE49-F238E27FC236}">
                <a16:creationId xmlns:a16="http://schemas.microsoft.com/office/drawing/2014/main" id="{64B93F33-0426-BFC9-A4D1-555E68AD4A89}"/>
              </a:ext>
            </a:extLst>
          </p:cNvPr>
          <p:cNvSpPr/>
          <p:nvPr/>
        </p:nvSpPr>
        <p:spPr>
          <a:xfrm>
            <a:off x="1957744" y="14704782"/>
            <a:ext cx="2788554" cy="2953650"/>
          </a:xfrm>
          <a:prstGeom prst="round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Пользователи </a:t>
            </a:r>
            <a:r>
              <a:rPr lang="en-US" b="1" dirty="0"/>
              <a:t>Drivee</a:t>
            </a:r>
            <a:endParaRPr lang="ru-RU" b="1" dirty="0"/>
          </a:p>
          <a:p>
            <a:pPr algn="ctr"/>
            <a:br>
              <a:rPr lang="en-US" dirty="0"/>
            </a:br>
            <a:r>
              <a:rPr lang="ru-RU" i="1" dirty="0"/>
              <a:t>Цель: </a:t>
            </a:r>
            <a:r>
              <a:rPr lang="ru-RU" dirty="0"/>
              <a:t>комфортно заказать такси, с подходящей ценой</a:t>
            </a:r>
          </a:p>
          <a:p>
            <a:pPr algn="ctr"/>
            <a:endParaRPr lang="ru-RU" dirty="0"/>
          </a:p>
          <a:p>
            <a:pPr algn="ctr"/>
            <a:r>
              <a:rPr lang="ru-RU" i="1" dirty="0"/>
              <a:t>Проблема: </a:t>
            </a:r>
            <a:r>
              <a:rPr lang="ru-RU" dirty="0"/>
              <a:t>Много времени уходит на поиск компромисса по цене.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3" name="Трехмерная модель 62">
                <a:extLst>
                  <a:ext uri="{FF2B5EF4-FFF2-40B4-BE49-F238E27FC236}">
                    <a16:creationId xmlns:a16="http://schemas.microsoft.com/office/drawing/2014/main" id="{5957CFC5-D522-F038-9AD5-71009D40706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10530856"/>
                  </p:ext>
                </p:extLst>
              </p:nvPr>
            </p:nvGraphicFramePr>
            <p:xfrm>
              <a:off x="1426798" y="813333"/>
              <a:ext cx="2254111" cy="4898176"/>
            </p:xfrm>
            <a:graphic>
              <a:graphicData uri="http://schemas.microsoft.com/office/drawing/2017/model3d">
                <am3d:model3d r:embed="rId14">
                  <am3d:spPr>
                    <a:xfrm>
                      <a:off x="0" y="0"/>
                      <a:ext cx="2254111" cy="4898176"/>
                    </a:xfrm>
                    <a:prstGeom prst="rect">
                      <a:avLst/>
                    </a:prstGeom>
                  </am3d:spPr>
                  <am3d:camera>
                    <am3d:pos x="0" y="0" z="524899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666659" d="1000000"/>
                    <am3d:preTrans dx="3" dy="14" dz="-546814"/>
                    <am3d:scale>
                      <am3d:sx n="1000000" d="1000000"/>
                      <am3d:sy n="1000000" d="1000000"/>
                      <am3d:sz n="1000000" d="1000000"/>
                    </am3d:scale>
                    <am3d:rot ax="-10427824" ay="-1329747" az="10659165"/>
                    <am3d:postTrans dx="0" dy="0" dz="0"/>
                  </am3d:trans>
                  <am3d:raster rName="Office3DRenderer" rVer="16.0.8326">
                    <am3d:blip r:embed="rId15"/>
                  </am3d:raster>
                  <am3d:objViewport viewportSz="537372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3" name="Трехмерная модель 62">
                <a:extLst>
                  <a:ext uri="{FF2B5EF4-FFF2-40B4-BE49-F238E27FC236}">
                    <a16:creationId xmlns:a16="http://schemas.microsoft.com/office/drawing/2014/main" id="{5957CFC5-D522-F038-9AD5-71009D40706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26798" y="813333"/>
                <a:ext cx="2254111" cy="4898176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Рисунок 2" descr="Автомобиль со сплошной заливкой">
            <a:extLst>
              <a:ext uri="{FF2B5EF4-FFF2-40B4-BE49-F238E27FC236}">
                <a16:creationId xmlns:a16="http://schemas.microsoft.com/office/drawing/2014/main" id="{709675D2-E560-A2C4-02A9-C833AD63D35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404354" y="12788896"/>
            <a:ext cx="2267857" cy="2267857"/>
          </a:xfrm>
          <a:prstGeom prst="rect">
            <a:avLst/>
          </a:prstGeom>
        </p:spPr>
      </p:pic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9F3F242-EB25-BDC4-13DC-5AD20CC8CAA6}"/>
              </a:ext>
            </a:extLst>
          </p:cNvPr>
          <p:cNvSpPr/>
          <p:nvPr/>
        </p:nvSpPr>
        <p:spPr>
          <a:xfrm>
            <a:off x="6967733" y="14554200"/>
            <a:ext cx="3023794" cy="3635711"/>
          </a:xfrm>
          <a:prstGeom prst="round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Водители </a:t>
            </a:r>
            <a:r>
              <a:rPr lang="en-US" b="1" dirty="0"/>
              <a:t>Drivee</a:t>
            </a:r>
            <a:endParaRPr lang="ru-RU" b="1" dirty="0"/>
          </a:p>
          <a:p>
            <a:pPr algn="ctr"/>
            <a:br>
              <a:rPr lang="en-US" dirty="0"/>
            </a:br>
            <a:r>
              <a:rPr lang="ru-RU" i="1" dirty="0"/>
              <a:t>Цель: </a:t>
            </a:r>
            <a:r>
              <a:rPr lang="ru-RU" dirty="0"/>
              <a:t>Максимизировать ежедневый заработок, минимизирую риски.</a:t>
            </a:r>
          </a:p>
          <a:p>
            <a:pPr algn="ctr"/>
            <a:endParaRPr lang="ru-RU" dirty="0"/>
          </a:p>
          <a:p>
            <a:pPr algn="ctr"/>
            <a:r>
              <a:rPr lang="ru-RU" i="1" dirty="0"/>
              <a:t>Проблема: </a:t>
            </a:r>
            <a:r>
              <a:rPr lang="ru-RU" dirty="0"/>
              <a:t>Нет времени и данных для расчета цен, что может привести к отказу пассажира.</a:t>
            </a: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1180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CD011-6A4B-5DC7-1C86-788F3E9E6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 descr="Изображение выглядит как зеленый, Красочность, све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73F61B9-9D78-7186-7032-E9EEEADFF3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A84852AC-BAB4-BE72-0B01-31AB3409B0D7}"/>
              </a:ext>
            </a:extLst>
          </p:cNvPr>
          <p:cNvCxnSpPr/>
          <p:nvPr/>
        </p:nvCxnSpPr>
        <p:spPr>
          <a:xfrm>
            <a:off x="9942286" y="6589486"/>
            <a:ext cx="18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0202060E-31CF-9C87-DD8A-46E001C2378F}"/>
              </a:ext>
            </a:extLst>
          </p:cNvPr>
          <p:cNvCxnSpPr>
            <a:cxnSpLocks/>
          </p:cNvCxnSpPr>
          <p:nvPr/>
        </p:nvCxnSpPr>
        <p:spPr>
          <a:xfrm>
            <a:off x="9942286" y="6587896"/>
            <a:ext cx="396000" cy="0"/>
          </a:xfrm>
          <a:prstGeom prst="line">
            <a:avLst/>
          </a:prstGeom>
          <a:ln>
            <a:solidFill>
              <a:srgbClr val="97E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AB2E6FB2-B05B-4CCA-E8E3-04CB3B3C329F}"/>
              </a:ext>
            </a:extLst>
          </p:cNvPr>
          <p:cNvCxnSpPr>
            <a:cxnSpLocks/>
          </p:cNvCxnSpPr>
          <p:nvPr/>
        </p:nvCxnSpPr>
        <p:spPr>
          <a:xfrm flipV="1">
            <a:off x="10328972" y="6517481"/>
            <a:ext cx="0" cy="79148"/>
          </a:xfrm>
          <a:prstGeom prst="line">
            <a:avLst/>
          </a:prstGeom>
          <a:ln w="12700">
            <a:solidFill>
              <a:srgbClr val="97E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DDCBAF8C-AB4C-2790-F297-E7C377A02EE2}"/>
              </a:ext>
            </a:extLst>
          </p:cNvPr>
          <p:cNvSpPr/>
          <p:nvPr/>
        </p:nvSpPr>
        <p:spPr>
          <a:xfrm>
            <a:off x="2438400" y="145143"/>
            <a:ext cx="7315200" cy="1204684"/>
          </a:xfrm>
          <a:prstGeom prst="roundRect">
            <a:avLst/>
          </a:prstGeom>
          <a:solidFill>
            <a:srgbClr val="7CCA14">
              <a:alpha val="39000"/>
            </a:srgbClr>
          </a:solidFill>
          <a:ln>
            <a:noFill/>
          </a:ln>
          <a:effectLst>
            <a:glow rad="88900">
              <a:srgbClr val="97EA28">
                <a:alpha val="40000"/>
              </a:srgbClr>
            </a:glow>
            <a:outerShdw blurRad="279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TD Mars" pitchFamily="50" charset="0"/>
              </a:rPr>
              <a:t>ЦЕЛЕВАЯ АУДИТОИЯ</a:t>
            </a:r>
          </a:p>
        </p:txBody>
      </p:sp>
      <p:pic>
        <p:nvPicPr>
          <p:cNvPr id="19" name="Рисунок 18" descr="Пользователи со сплошной заливкой">
            <a:extLst>
              <a:ext uri="{FF2B5EF4-FFF2-40B4-BE49-F238E27FC236}">
                <a16:creationId xmlns:a16="http://schemas.microsoft.com/office/drawing/2014/main" id="{1FCAFFC9-8B4A-DE24-B11C-29338D6F37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38913" y="981525"/>
            <a:ext cx="2413000" cy="2413000"/>
          </a:xfrm>
          <a:prstGeom prst="rect">
            <a:avLst/>
          </a:prstGeom>
        </p:spPr>
      </p:pic>
      <p:pic>
        <p:nvPicPr>
          <p:cNvPr id="21" name="Рисунок 20" descr="Автомобиль со сплошной заливкой">
            <a:extLst>
              <a:ext uri="{FF2B5EF4-FFF2-40B4-BE49-F238E27FC236}">
                <a16:creationId xmlns:a16="http://schemas.microsoft.com/office/drawing/2014/main" id="{F3D90551-3584-B0CC-A43C-E4C5898D36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04354" y="1193796"/>
            <a:ext cx="2267857" cy="2267857"/>
          </a:xfrm>
          <a:prstGeom prst="rect">
            <a:avLst/>
          </a:prstGeom>
        </p:spPr>
      </p:pic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EA18A9E7-1E9A-AE07-52DB-52F3D33C4866}"/>
              </a:ext>
            </a:extLst>
          </p:cNvPr>
          <p:cNvSpPr/>
          <p:nvPr/>
        </p:nvSpPr>
        <p:spPr>
          <a:xfrm>
            <a:off x="1957744" y="2969982"/>
            <a:ext cx="2788554" cy="2953650"/>
          </a:xfrm>
          <a:prstGeom prst="round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Пользователи </a:t>
            </a:r>
            <a:r>
              <a:rPr lang="en-US" b="1" dirty="0"/>
              <a:t>Drivee</a:t>
            </a:r>
            <a:endParaRPr lang="ru-RU" b="1" dirty="0"/>
          </a:p>
          <a:p>
            <a:pPr algn="ctr"/>
            <a:br>
              <a:rPr lang="en-US" dirty="0"/>
            </a:br>
            <a:r>
              <a:rPr lang="ru-RU" i="1" dirty="0"/>
              <a:t>Цель: </a:t>
            </a:r>
            <a:r>
              <a:rPr lang="ru-RU" dirty="0"/>
              <a:t>комфортно заказать такси, с подходящей ценой</a:t>
            </a:r>
          </a:p>
          <a:p>
            <a:pPr algn="ctr"/>
            <a:endParaRPr lang="ru-RU" dirty="0"/>
          </a:p>
          <a:p>
            <a:pPr algn="ctr"/>
            <a:r>
              <a:rPr lang="ru-RU" i="1" dirty="0"/>
              <a:t>Проблема: </a:t>
            </a:r>
            <a:r>
              <a:rPr lang="ru-RU" dirty="0"/>
              <a:t>Много времени уходит на поиск компромисса по цене.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E1667349-B4EF-0A70-C1DE-FFB7459F9350}"/>
              </a:ext>
            </a:extLst>
          </p:cNvPr>
          <p:cNvSpPr/>
          <p:nvPr/>
        </p:nvSpPr>
        <p:spPr>
          <a:xfrm>
            <a:off x="6967733" y="2959100"/>
            <a:ext cx="3023794" cy="3635711"/>
          </a:xfrm>
          <a:prstGeom prst="round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Водители </a:t>
            </a:r>
            <a:r>
              <a:rPr lang="en-US" b="1" dirty="0"/>
              <a:t>Drivee</a:t>
            </a:r>
            <a:endParaRPr lang="ru-RU" b="1" dirty="0"/>
          </a:p>
          <a:p>
            <a:pPr algn="ctr"/>
            <a:br>
              <a:rPr lang="en-US" dirty="0"/>
            </a:br>
            <a:r>
              <a:rPr lang="ru-RU" i="1" dirty="0"/>
              <a:t>Цель: </a:t>
            </a:r>
            <a:r>
              <a:rPr lang="ru-RU" dirty="0"/>
              <a:t>Максимизировать ежедневый заработок, минимизирую риски.</a:t>
            </a:r>
          </a:p>
          <a:p>
            <a:pPr algn="ctr"/>
            <a:endParaRPr lang="ru-RU" dirty="0"/>
          </a:p>
          <a:p>
            <a:pPr algn="ctr"/>
            <a:r>
              <a:rPr lang="ru-RU" i="1" dirty="0"/>
              <a:t>Проблема: </a:t>
            </a:r>
            <a:r>
              <a:rPr lang="ru-RU" dirty="0"/>
              <a:t>Нет времени и данных для расчета цен, что может привести к отказу пассажира.</a:t>
            </a:r>
          </a:p>
          <a:p>
            <a:pPr algn="ctr"/>
            <a:endParaRPr lang="ru-RU" dirty="0"/>
          </a:p>
        </p:txBody>
      </p:sp>
      <p:pic>
        <p:nvPicPr>
          <p:cNvPr id="30" name="Рисунок 29" descr="Мужчина со сплошной заливкой">
            <a:extLst>
              <a:ext uri="{FF2B5EF4-FFF2-40B4-BE49-F238E27FC236}">
                <a16:creationId xmlns:a16="http://schemas.microsoft.com/office/drawing/2014/main" id="{3A112E40-9F73-5DAD-5497-DD075AC9F21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68378" y="6392801"/>
            <a:ext cx="127060" cy="127060"/>
          </a:xfrm>
          <a:prstGeom prst="rect">
            <a:avLst/>
          </a:prstGeom>
        </p:spPr>
      </p:pic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31545B13-6E6B-39EB-8AB1-E9EA5DEE912B}"/>
              </a:ext>
            </a:extLst>
          </p:cNvPr>
          <p:cNvSpPr/>
          <p:nvPr/>
        </p:nvSpPr>
        <p:spPr>
          <a:xfrm>
            <a:off x="20351088" y="231204"/>
            <a:ext cx="5468621" cy="1143686"/>
          </a:xfrm>
          <a:prstGeom prst="roundRect">
            <a:avLst>
              <a:gd name="adj" fmla="val 30785"/>
            </a:avLst>
          </a:prstGeom>
          <a:solidFill>
            <a:srgbClr val="FF6161">
              <a:alpha val="38824"/>
            </a:srgbClr>
          </a:solidFill>
          <a:ln>
            <a:noFill/>
          </a:ln>
          <a:effectLst>
            <a:glow rad="88900">
              <a:srgbClr val="FF6161">
                <a:alpha val="53000"/>
              </a:srgbClr>
            </a:glow>
            <a:outerShdw blurRad="279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TD Mars" pitchFamily="50" charset="0"/>
              </a:rPr>
              <a:t>ПРОБЛЕМА</a:t>
            </a:r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DECAC9C2-003E-A4CA-968A-4F54B632F421}"/>
              </a:ext>
            </a:extLst>
          </p:cNvPr>
          <p:cNvSpPr/>
          <p:nvPr/>
        </p:nvSpPr>
        <p:spPr>
          <a:xfrm>
            <a:off x="20252457" y="1908959"/>
            <a:ext cx="679042" cy="679042"/>
          </a:xfrm>
          <a:prstGeom prst="ellipse">
            <a:avLst/>
          </a:prstGeom>
          <a:noFill/>
          <a:ln w="38100">
            <a:solidFill>
              <a:srgbClr val="97E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6B5A9CF-EEF5-EE9C-9463-52A4F1C3820C}"/>
              </a:ext>
            </a:extLst>
          </p:cNvPr>
          <p:cNvSpPr txBox="1"/>
          <p:nvPr/>
        </p:nvSpPr>
        <p:spPr>
          <a:xfrm>
            <a:off x="20354057" y="1937199"/>
            <a:ext cx="368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TD Mars" pitchFamily="50" charset="0"/>
              </a:rPr>
              <a:t>1</a:t>
            </a:r>
            <a:endParaRPr lang="ru-RU" sz="3200" dirty="0">
              <a:solidFill>
                <a:schemeClr val="bg1"/>
              </a:solidFill>
              <a:latin typeface="TD Mars" pitchFamily="50" charset="0"/>
            </a:endParaRP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78247EEE-B605-B476-DF23-BA879040C604}"/>
              </a:ext>
            </a:extLst>
          </p:cNvPr>
          <p:cNvSpPr/>
          <p:nvPr/>
        </p:nvSpPr>
        <p:spPr>
          <a:xfrm>
            <a:off x="21194872" y="1762452"/>
            <a:ext cx="5568024" cy="923330"/>
          </a:xfrm>
          <a:prstGeom prst="roundRect">
            <a:avLst/>
          </a:prstGeom>
          <a:solidFill>
            <a:schemeClr val="tx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B53CF5-FC71-B057-1B46-2CD7AF24C96A}"/>
              </a:ext>
            </a:extLst>
          </p:cNvPr>
          <p:cNvSpPr txBox="1"/>
          <p:nvPr/>
        </p:nvSpPr>
        <p:spPr>
          <a:xfrm>
            <a:off x="21211105" y="1784084"/>
            <a:ext cx="57125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effectLst>
                  <a:outerShdw blurRad="190500" dist="50800" dir="5400000" sx="5000" sy="5000" algn="ctr" rotWithShape="0">
                    <a:srgbClr val="000000">
                      <a:alpha val="43137"/>
                    </a:srgbClr>
                  </a:outerShdw>
                </a:effectLst>
              </a:rPr>
              <a:t>По разным оценкам и заявлениям представителей агрегаторов, уровень отказов составляет в среднем 10-20% от общего числа заказов. </a:t>
            </a:r>
          </a:p>
        </p:txBody>
      </p: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15F8B856-4360-CC17-5D22-21F1C54C8AED}"/>
              </a:ext>
            </a:extLst>
          </p:cNvPr>
          <p:cNvGrpSpPr/>
          <p:nvPr/>
        </p:nvGrpSpPr>
        <p:grpSpPr>
          <a:xfrm>
            <a:off x="20252458" y="3060287"/>
            <a:ext cx="707822" cy="679042"/>
            <a:chOff x="5088658" y="3060287"/>
            <a:chExt cx="707822" cy="67904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B160565-D71A-3EA6-8E64-4F2FC5109ADC}"/>
                </a:ext>
              </a:extLst>
            </p:cNvPr>
            <p:cNvSpPr txBox="1"/>
            <p:nvPr/>
          </p:nvSpPr>
          <p:spPr>
            <a:xfrm>
              <a:off x="5088658" y="3084283"/>
              <a:ext cx="67904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TD Mars" pitchFamily="50" charset="0"/>
                </a:rPr>
                <a:t>2</a:t>
              </a:r>
              <a:endParaRPr lang="ru-RU" sz="3200" dirty="0">
                <a:solidFill>
                  <a:schemeClr val="bg1"/>
                </a:solidFill>
                <a:latin typeface="TD Mars" pitchFamily="50" charset="0"/>
              </a:endParaRPr>
            </a:p>
          </p:txBody>
        </p:sp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id="{CD45ABFB-5AD8-55C6-D36E-A4147B826680}"/>
                </a:ext>
              </a:extLst>
            </p:cNvPr>
            <p:cNvSpPr/>
            <p:nvPr/>
          </p:nvSpPr>
          <p:spPr>
            <a:xfrm>
              <a:off x="5117438" y="3060287"/>
              <a:ext cx="679042" cy="679042"/>
            </a:xfrm>
            <a:prstGeom prst="ellipse">
              <a:avLst/>
            </a:prstGeom>
            <a:noFill/>
            <a:ln w="38100">
              <a:solidFill>
                <a:srgbClr val="97EA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A6DD1B0F-0640-6DFF-DD31-B12D4E2BAF70}"/>
              </a:ext>
            </a:extLst>
          </p:cNvPr>
          <p:cNvGrpSpPr/>
          <p:nvPr/>
        </p:nvGrpSpPr>
        <p:grpSpPr>
          <a:xfrm>
            <a:off x="20271508" y="4165340"/>
            <a:ext cx="688772" cy="679042"/>
            <a:chOff x="5107708" y="4165340"/>
            <a:chExt cx="688772" cy="67904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AB1BBB0-37D5-1EC0-89FC-7A80C74EB21C}"/>
                </a:ext>
              </a:extLst>
            </p:cNvPr>
            <p:cNvSpPr txBox="1"/>
            <p:nvPr/>
          </p:nvSpPr>
          <p:spPr>
            <a:xfrm>
              <a:off x="5107708" y="4189336"/>
              <a:ext cx="67904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3200" dirty="0">
                  <a:solidFill>
                    <a:schemeClr val="bg1"/>
                  </a:solidFill>
                  <a:latin typeface="TD Mars" pitchFamily="50" charset="0"/>
                </a:rPr>
                <a:t>3</a:t>
              </a:r>
            </a:p>
          </p:txBody>
        </p:sp>
        <p:sp>
          <p:nvSpPr>
            <p:cNvPr id="40" name="Овал 39">
              <a:extLst>
                <a:ext uri="{FF2B5EF4-FFF2-40B4-BE49-F238E27FC236}">
                  <a16:creationId xmlns:a16="http://schemas.microsoft.com/office/drawing/2014/main" id="{8DD3914A-7D84-8761-9C9F-344438ACCE6F}"/>
                </a:ext>
              </a:extLst>
            </p:cNvPr>
            <p:cNvSpPr/>
            <p:nvPr/>
          </p:nvSpPr>
          <p:spPr>
            <a:xfrm>
              <a:off x="5117438" y="4165340"/>
              <a:ext cx="679042" cy="679042"/>
            </a:xfrm>
            <a:prstGeom prst="ellipse">
              <a:avLst/>
            </a:prstGeom>
            <a:noFill/>
            <a:ln w="38100">
              <a:solidFill>
                <a:srgbClr val="97EA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</p:grp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45F32FD9-33F8-7954-69E1-DB2524AE1DDB}"/>
              </a:ext>
            </a:extLst>
          </p:cNvPr>
          <p:cNvSpPr/>
          <p:nvPr/>
        </p:nvSpPr>
        <p:spPr>
          <a:xfrm>
            <a:off x="21194872" y="4178614"/>
            <a:ext cx="5568024" cy="595497"/>
          </a:xfrm>
          <a:prstGeom prst="roundRect">
            <a:avLst/>
          </a:prstGeom>
          <a:solidFill>
            <a:schemeClr val="tx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781E0AC0-C7B0-7F61-5552-0FE8F944A710}"/>
              </a:ext>
            </a:extLst>
          </p:cNvPr>
          <p:cNvGrpSpPr/>
          <p:nvPr/>
        </p:nvGrpSpPr>
        <p:grpSpPr>
          <a:xfrm>
            <a:off x="21211105" y="2981680"/>
            <a:ext cx="5712542" cy="785446"/>
            <a:chOff x="6047305" y="20583880"/>
            <a:chExt cx="5712542" cy="785446"/>
          </a:xfrm>
        </p:grpSpPr>
        <p:sp>
          <p:nvSpPr>
            <p:cNvPr id="43" name="Прямоугольник: скругленные углы 14">
              <a:extLst>
                <a:ext uri="{FF2B5EF4-FFF2-40B4-BE49-F238E27FC236}">
                  <a16:creationId xmlns:a16="http://schemas.microsoft.com/office/drawing/2014/main" id="{79087507-A962-B379-CD59-F44E81436FDA}"/>
                </a:ext>
              </a:extLst>
            </p:cNvPr>
            <p:cNvSpPr/>
            <p:nvPr/>
          </p:nvSpPr>
          <p:spPr>
            <a:xfrm>
              <a:off x="6047305" y="20583880"/>
              <a:ext cx="5568024" cy="785446"/>
            </a:xfrm>
            <a:prstGeom prst="roundRect">
              <a:avLst/>
            </a:prstGeom>
            <a:solidFill>
              <a:schemeClr val="tx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4" name="TextBox 13">
              <a:extLst>
                <a:ext uri="{FF2B5EF4-FFF2-40B4-BE49-F238E27FC236}">
                  <a16:creationId xmlns:a16="http://schemas.microsoft.com/office/drawing/2014/main" id="{FF1CE2FA-E33D-099B-AF93-3F6DC63D848C}"/>
                </a:ext>
              </a:extLst>
            </p:cNvPr>
            <p:cNvSpPr txBox="1"/>
            <p:nvPr/>
          </p:nvSpPr>
          <p:spPr>
            <a:xfrm>
              <a:off x="6047305" y="20634387"/>
              <a:ext cx="57125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  <a:effectLst>
                    <a:outerShdw blurRad="190500" dist="50800" dir="5400000" sx="5000" sy="5000" algn="ctr" rotWithShape="0">
                      <a:srgbClr val="000000">
                        <a:alpha val="43137"/>
                      </a:srgbClr>
                    </a:outerShdw>
                  </a:effectLst>
                </a:rPr>
                <a:t>Объем рынка на 2025 </a:t>
              </a:r>
              <a:r>
                <a:rPr lang="en-US" dirty="0">
                  <a:solidFill>
                    <a:schemeClr val="bg1"/>
                  </a:solidFill>
                  <a:effectLst>
                    <a:outerShdw blurRad="190500" dist="50800" dir="5400000" sx="5000" sy="5000" algn="ctr" rotWithShape="0">
                      <a:srgbClr val="000000">
                        <a:alpha val="43137"/>
                      </a:srgbClr>
                    </a:outerShdw>
                  </a:effectLst>
                </a:rPr>
                <a:t>~</a:t>
              </a:r>
              <a:r>
                <a:rPr lang="ru-RU" dirty="0">
                  <a:solidFill>
                    <a:schemeClr val="bg1"/>
                  </a:solidFill>
                  <a:effectLst>
                    <a:outerShdw blurRad="190500" dist="50800" dir="5400000" sx="5000" sy="5000" algn="ctr" rotWithShape="0">
                      <a:srgbClr val="000000">
                        <a:alpha val="43137"/>
                      </a:srgbClr>
                    </a:outerShdw>
                  </a:effectLst>
                </a:rPr>
                <a:t> 2,3 млрд поездок в год. Средний количество отказов – 345 млн. в год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BF917DB7-8B86-6429-D4D8-E3E15D224687}"/>
              </a:ext>
            </a:extLst>
          </p:cNvPr>
          <p:cNvSpPr txBox="1"/>
          <p:nvPr/>
        </p:nvSpPr>
        <p:spPr>
          <a:xfrm>
            <a:off x="21211105" y="4304359"/>
            <a:ext cx="5712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effectLst>
                  <a:outerShdw blurRad="190500" dist="50800" dir="5400000" sx="5000" sy="5000" algn="ctr" rotWithShape="0">
                    <a:srgbClr val="000000">
                      <a:alpha val="43137"/>
                    </a:srgbClr>
                  </a:outerShdw>
                </a:effectLst>
              </a:rPr>
              <a:t>Таксист теряет время и деньги на торгах с клиентом.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7" name="Трехмерная модель 46">
                <a:extLst>
                  <a:ext uri="{FF2B5EF4-FFF2-40B4-BE49-F238E27FC236}">
                    <a16:creationId xmlns:a16="http://schemas.microsoft.com/office/drawing/2014/main" id="{6194AC41-79DC-2B4F-00AA-15EAAF34AAA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72635666"/>
                  </p:ext>
                </p:extLst>
              </p:nvPr>
            </p:nvGraphicFramePr>
            <p:xfrm>
              <a:off x="-4971070" y="871365"/>
              <a:ext cx="2307241" cy="4841100"/>
            </p:xfrm>
            <a:graphic>
              <a:graphicData uri="http://schemas.microsoft.com/office/drawing/2017/model3d">
                <am3d:model3d r:embed="rId10">
                  <am3d:spPr>
                    <a:xfrm>
                      <a:off x="0" y="0"/>
                      <a:ext cx="2307241" cy="4841100"/>
                    </a:xfrm>
                    <a:prstGeom prst="rect">
                      <a:avLst/>
                    </a:prstGeom>
                  </am3d:spPr>
                  <am3d:camera>
                    <am3d:pos x="0" y="0" z="524899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666659" d="1000000"/>
                    <am3d:preTrans dx="3" dy="14" dz="-546814"/>
                    <am3d:scale>
                      <am3d:sx n="1000000" d="1000000"/>
                      <am3d:sy n="1000000" d="1000000"/>
                      <am3d:sz n="1000000" d="1000000"/>
                    </am3d:scale>
                    <am3d:rot ax="409134" ay="1574934" az="181684"/>
                    <am3d:postTrans dx="0" dy="0" dz="0"/>
                  </am3d:trans>
                  <am3d:raster rName="Office3DRenderer" rVer="16.0.8326">
                    <am3d:blip r:embed="rId11"/>
                  </am3d:raster>
                  <am3d:objViewport viewportSz="537371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7" name="Трехмерная модель 46">
                <a:extLst>
                  <a:ext uri="{FF2B5EF4-FFF2-40B4-BE49-F238E27FC236}">
                    <a16:creationId xmlns:a16="http://schemas.microsoft.com/office/drawing/2014/main" id="{6194AC41-79DC-2B4F-00AA-15EAAF34AAA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-4971070" y="871365"/>
                <a:ext cx="2307241" cy="48411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874A7194-DCE7-A3C4-7F2E-011DC2DB4527}"/>
              </a:ext>
            </a:extLst>
          </p:cNvPr>
          <p:cNvSpPr/>
          <p:nvPr/>
        </p:nvSpPr>
        <p:spPr>
          <a:xfrm>
            <a:off x="2424635" y="13308694"/>
            <a:ext cx="7514893" cy="1204684"/>
          </a:xfrm>
          <a:prstGeom prst="roundRect">
            <a:avLst/>
          </a:prstGeom>
          <a:solidFill>
            <a:srgbClr val="002060">
              <a:alpha val="39000"/>
            </a:srgbClr>
          </a:solidFill>
          <a:ln>
            <a:noFill/>
          </a:ln>
          <a:effectLst>
            <a:glow rad="88900">
              <a:srgbClr val="002060">
                <a:alpha val="40000"/>
              </a:srgbClr>
            </a:glow>
            <a:outerShdw blurRad="279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TD Mars" pitchFamily="50" charset="0"/>
              </a:rPr>
              <a:t>Использованные стек-технологии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4E46402-141D-269D-803E-3796AE5764CC}"/>
              </a:ext>
            </a:extLst>
          </p:cNvPr>
          <p:cNvSpPr/>
          <p:nvPr/>
        </p:nvSpPr>
        <p:spPr>
          <a:xfrm>
            <a:off x="519112" y="23679785"/>
            <a:ext cx="2009775" cy="2921640"/>
          </a:xfrm>
          <a:prstGeom prst="roundRect">
            <a:avLst/>
          </a:prstGeom>
          <a:solidFill>
            <a:schemeClr val="accent2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15D6C5F-4186-B38A-1705-391668BA5E02}"/>
              </a:ext>
            </a:extLst>
          </p:cNvPr>
          <p:cNvSpPr/>
          <p:nvPr/>
        </p:nvSpPr>
        <p:spPr>
          <a:xfrm>
            <a:off x="1144560" y="23762077"/>
            <a:ext cx="758877" cy="422332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 descr="Изображение выглядит как символ, Графика, черный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32E06CE-9C43-BDF2-D793-5AE6E36ACA3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560" y="23762077"/>
            <a:ext cx="758877" cy="4223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777E63-EE77-96DA-5825-EDC55CCD0083}"/>
              </a:ext>
            </a:extLst>
          </p:cNvPr>
          <p:cNvSpPr txBox="1"/>
          <p:nvPr/>
        </p:nvSpPr>
        <p:spPr>
          <a:xfrm>
            <a:off x="583193" y="25076632"/>
            <a:ext cx="1942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Frontend Stack</a:t>
            </a:r>
            <a:endParaRPr lang="ru-RU" sz="2000" b="1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05242CA4-3D95-77ED-52C7-51C9E2ECA342}"/>
              </a:ext>
            </a:extLst>
          </p:cNvPr>
          <p:cNvSpPr/>
          <p:nvPr/>
        </p:nvSpPr>
        <p:spPr>
          <a:xfrm>
            <a:off x="3601226" y="30489621"/>
            <a:ext cx="2009775" cy="2921640"/>
          </a:xfrm>
          <a:prstGeom prst="roundRect">
            <a:avLst/>
          </a:prstGeom>
          <a:solidFill>
            <a:schemeClr val="accent3">
              <a:lumMod val="20000"/>
              <a:lumOff val="80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E508896-9498-6AC6-78C4-F30E29A54276}"/>
              </a:ext>
            </a:extLst>
          </p:cNvPr>
          <p:cNvSpPr/>
          <p:nvPr/>
        </p:nvSpPr>
        <p:spPr>
          <a:xfrm>
            <a:off x="4224640" y="30571913"/>
            <a:ext cx="758877" cy="422332"/>
          </a:xfrm>
          <a:prstGeom prst="roundRect">
            <a:avLst>
              <a:gd name="adj" fmla="val 50000"/>
            </a:avLst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4" name="Рисунок 13" descr="Карта с кнопкой со сплошной заливкой">
            <a:extLst>
              <a:ext uri="{FF2B5EF4-FFF2-40B4-BE49-F238E27FC236}">
                <a16:creationId xmlns:a16="http://schemas.microsoft.com/office/drawing/2014/main" id="{9587744F-ECE1-40C0-A1DC-F4BD6EA641E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77513" y="30537045"/>
            <a:ext cx="457200" cy="4572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4AB48A1-0FA7-C97F-6D9F-A55EBB86CC84}"/>
              </a:ext>
            </a:extLst>
          </p:cNvPr>
          <p:cNvSpPr txBox="1"/>
          <p:nvPr/>
        </p:nvSpPr>
        <p:spPr>
          <a:xfrm>
            <a:off x="3673545" y="31664601"/>
            <a:ext cx="19423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/>
              <a:t>Картография и Геосервисы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12939739-C208-E3E1-F406-86B66DF04217}"/>
              </a:ext>
            </a:extLst>
          </p:cNvPr>
          <p:cNvSpPr/>
          <p:nvPr/>
        </p:nvSpPr>
        <p:spPr>
          <a:xfrm>
            <a:off x="6702201" y="37828326"/>
            <a:ext cx="2009775" cy="2921640"/>
          </a:xfrm>
          <a:prstGeom prst="round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4D83927-0789-C333-C4AF-59C6F48FD94F}"/>
              </a:ext>
            </a:extLst>
          </p:cNvPr>
          <p:cNvSpPr/>
          <p:nvPr/>
        </p:nvSpPr>
        <p:spPr>
          <a:xfrm>
            <a:off x="7327649" y="37910618"/>
            <a:ext cx="758877" cy="422332"/>
          </a:xfrm>
          <a:prstGeom prst="roundRect">
            <a:avLst>
              <a:gd name="adj" fmla="val 50000"/>
            </a:avLst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8383E86-161E-6124-E365-57974207924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199" y="37910618"/>
            <a:ext cx="422332" cy="42233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6D3649D-C6C4-4A77-222D-CE056250357D}"/>
              </a:ext>
            </a:extLst>
          </p:cNvPr>
          <p:cNvSpPr txBox="1"/>
          <p:nvPr/>
        </p:nvSpPr>
        <p:spPr>
          <a:xfrm>
            <a:off x="6723646" y="39165652"/>
            <a:ext cx="1942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Backend </a:t>
            </a:r>
            <a:r>
              <a:rPr lang="ru-RU" sz="2000" b="1" dirty="0"/>
              <a:t>и </a:t>
            </a:r>
            <a:r>
              <a:rPr lang="en-US" sz="2000" b="1" dirty="0"/>
              <a:t>ML</a:t>
            </a:r>
            <a:endParaRPr lang="ru-RU" sz="2000" b="1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F5D2CC08-A749-C2DC-9C28-A13BE57F1D04}"/>
              </a:ext>
            </a:extLst>
          </p:cNvPr>
          <p:cNvSpPr/>
          <p:nvPr/>
        </p:nvSpPr>
        <p:spPr>
          <a:xfrm>
            <a:off x="9776857" y="44940333"/>
            <a:ext cx="2009775" cy="2921640"/>
          </a:xfrm>
          <a:prstGeom prst="roundRect">
            <a:avLst/>
          </a:prstGeom>
          <a:solidFill>
            <a:srgbClr val="FFF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54296665-B1E1-2431-E4E7-671CCF8C7E17}"/>
              </a:ext>
            </a:extLst>
          </p:cNvPr>
          <p:cNvSpPr/>
          <p:nvPr/>
        </p:nvSpPr>
        <p:spPr>
          <a:xfrm>
            <a:off x="10402305" y="44994193"/>
            <a:ext cx="758877" cy="422332"/>
          </a:xfrm>
          <a:prstGeom prst="roundRect">
            <a:avLst>
              <a:gd name="adj" fmla="val 50000"/>
            </a:avLst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5" name="Рисунок 24" descr="Изображение выглядит как пространство, ночь, темнота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7D2DE4B-312F-6331-9E10-DE693D902C1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0516795" y="45049533"/>
            <a:ext cx="530645" cy="29480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1313D0E-2120-2454-7096-C64F87978FE7}"/>
              </a:ext>
            </a:extLst>
          </p:cNvPr>
          <p:cNvSpPr txBox="1"/>
          <p:nvPr/>
        </p:nvSpPr>
        <p:spPr>
          <a:xfrm>
            <a:off x="9810582" y="46185521"/>
            <a:ext cx="19423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DevOps </a:t>
            </a:r>
            <a:r>
              <a:rPr lang="ru-RU" sz="2000" b="1" dirty="0"/>
              <a:t>и сборка</a:t>
            </a:r>
          </a:p>
        </p:txBody>
      </p:sp>
    </p:spTree>
    <p:extLst>
      <p:ext uri="{BB962C8B-B14F-4D97-AF65-F5344CB8AC3E}">
        <p14:creationId xmlns:p14="http://schemas.microsoft.com/office/powerpoint/2010/main" val="4034933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BF54F-57EB-FF77-D4D7-E62A863F0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 descr="Изображение выглядит как зеленый, Красочность, све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95C0253-EF28-950C-FA6A-59BA5C7368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9BC5C72-5D85-74F5-3495-4C10849AC07B}"/>
              </a:ext>
            </a:extLst>
          </p:cNvPr>
          <p:cNvCxnSpPr/>
          <p:nvPr/>
        </p:nvCxnSpPr>
        <p:spPr>
          <a:xfrm>
            <a:off x="9942286" y="6589486"/>
            <a:ext cx="18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67F01EA4-AEA3-0EAB-1D80-7CDC99A8CF85}"/>
              </a:ext>
            </a:extLst>
          </p:cNvPr>
          <p:cNvCxnSpPr>
            <a:cxnSpLocks/>
          </p:cNvCxnSpPr>
          <p:nvPr/>
        </p:nvCxnSpPr>
        <p:spPr>
          <a:xfrm>
            <a:off x="9942286" y="6587896"/>
            <a:ext cx="594000" cy="0"/>
          </a:xfrm>
          <a:prstGeom prst="line">
            <a:avLst/>
          </a:prstGeom>
          <a:ln>
            <a:solidFill>
              <a:srgbClr val="97E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36B9473-93C0-B92F-1A51-8B0871E85F9A}"/>
              </a:ext>
            </a:extLst>
          </p:cNvPr>
          <p:cNvCxnSpPr>
            <a:cxnSpLocks/>
          </p:cNvCxnSpPr>
          <p:nvPr/>
        </p:nvCxnSpPr>
        <p:spPr>
          <a:xfrm flipV="1">
            <a:off x="10533764" y="6517481"/>
            <a:ext cx="0" cy="79148"/>
          </a:xfrm>
          <a:prstGeom prst="line">
            <a:avLst/>
          </a:prstGeom>
          <a:ln w="12700">
            <a:solidFill>
              <a:srgbClr val="97E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A5AC92D0-F805-7CC9-F594-583CF19ED1AC}"/>
              </a:ext>
            </a:extLst>
          </p:cNvPr>
          <p:cNvSpPr/>
          <p:nvPr/>
        </p:nvSpPr>
        <p:spPr>
          <a:xfrm>
            <a:off x="2438400" y="-2852057"/>
            <a:ext cx="7315200" cy="1204684"/>
          </a:xfrm>
          <a:prstGeom prst="roundRect">
            <a:avLst/>
          </a:prstGeom>
          <a:solidFill>
            <a:srgbClr val="7CCA14">
              <a:alpha val="39000"/>
            </a:srgbClr>
          </a:solidFill>
          <a:ln>
            <a:noFill/>
          </a:ln>
          <a:effectLst>
            <a:glow rad="88900">
              <a:srgbClr val="97EA28">
                <a:alpha val="40000"/>
              </a:srgbClr>
            </a:glow>
            <a:outerShdw blurRad="279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TD Mars" pitchFamily="50" charset="0"/>
              </a:rPr>
              <a:t>ЦЕЛЕВАЯ АУДИТОИЯ</a:t>
            </a:r>
          </a:p>
        </p:txBody>
      </p:sp>
      <p:pic>
        <p:nvPicPr>
          <p:cNvPr id="19" name="Рисунок 18" descr="Пользователи со сплошной заливкой">
            <a:extLst>
              <a:ext uri="{FF2B5EF4-FFF2-40B4-BE49-F238E27FC236}">
                <a16:creationId xmlns:a16="http://schemas.microsoft.com/office/drawing/2014/main" id="{AE2FDD6A-84D6-C4D3-2705-56EAE9ACE8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906287" y="981525"/>
            <a:ext cx="2413000" cy="2413000"/>
          </a:xfrm>
          <a:prstGeom prst="rect">
            <a:avLst/>
          </a:prstGeom>
        </p:spPr>
      </p:pic>
      <p:pic>
        <p:nvPicPr>
          <p:cNvPr id="21" name="Рисунок 20" descr="Автомобиль со сплошной заливкой">
            <a:extLst>
              <a:ext uri="{FF2B5EF4-FFF2-40B4-BE49-F238E27FC236}">
                <a16:creationId xmlns:a16="http://schemas.microsoft.com/office/drawing/2014/main" id="{DF86913E-4BEB-9AB6-C312-CE90441E1E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227429" y="955671"/>
            <a:ext cx="2744107" cy="2744107"/>
          </a:xfrm>
          <a:prstGeom prst="rect">
            <a:avLst/>
          </a:prstGeom>
        </p:spPr>
      </p:pic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D50606EE-859F-C820-19BF-6750C238ED3F}"/>
              </a:ext>
            </a:extLst>
          </p:cNvPr>
          <p:cNvSpPr/>
          <p:nvPr/>
        </p:nvSpPr>
        <p:spPr>
          <a:xfrm>
            <a:off x="-4087456" y="2969982"/>
            <a:ext cx="2788554" cy="2953650"/>
          </a:xfrm>
          <a:prstGeom prst="round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Пользователи </a:t>
            </a:r>
            <a:r>
              <a:rPr lang="en-US" b="1" dirty="0"/>
              <a:t>Drivee</a:t>
            </a:r>
            <a:endParaRPr lang="ru-RU" b="1" dirty="0"/>
          </a:p>
          <a:p>
            <a:pPr algn="ctr"/>
            <a:br>
              <a:rPr lang="en-US" dirty="0"/>
            </a:br>
            <a:r>
              <a:rPr lang="ru-RU" i="1" dirty="0"/>
              <a:t>Цель: </a:t>
            </a:r>
            <a:r>
              <a:rPr lang="ru-RU" dirty="0"/>
              <a:t>комфортно заказать такси, с подходящей ценой</a:t>
            </a:r>
          </a:p>
          <a:p>
            <a:pPr algn="ctr"/>
            <a:endParaRPr lang="ru-RU" dirty="0"/>
          </a:p>
          <a:p>
            <a:pPr algn="ctr"/>
            <a:r>
              <a:rPr lang="ru-RU" i="1" dirty="0"/>
              <a:t>Проблема: </a:t>
            </a:r>
            <a:r>
              <a:rPr lang="ru-RU" dirty="0"/>
              <a:t>Много времени уходит на поиск компромисса по цене.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F59E202B-5D44-653A-E319-D9F06C5E26EE}"/>
              </a:ext>
            </a:extLst>
          </p:cNvPr>
          <p:cNvSpPr/>
          <p:nvPr/>
        </p:nvSpPr>
        <p:spPr>
          <a:xfrm>
            <a:off x="13841060" y="2959100"/>
            <a:ext cx="3516847" cy="3635711"/>
          </a:xfrm>
          <a:prstGeom prst="round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Водители </a:t>
            </a:r>
            <a:r>
              <a:rPr lang="en-US" b="1" dirty="0"/>
              <a:t>Drivee</a:t>
            </a:r>
            <a:endParaRPr lang="ru-RU" b="1" dirty="0"/>
          </a:p>
          <a:p>
            <a:pPr algn="ctr"/>
            <a:br>
              <a:rPr lang="en-US" dirty="0"/>
            </a:br>
            <a:r>
              <a:rPr lang="ru-RU" i="1" dirty="0"/>
              <a:t>Цель: </a:t>
            </a:r>
            <a:r>
              <a:rPr lang="ru-RU" dirty="0"/>
              <a:t>Максимизировать ежедневый заработок, минимизирую риски.</a:t>
            </a:r>
          </a:p>
          <a:p>
            <a:pPr algn="ctr"/>
            <a:endParaRPr lang="ru-RU" dirty="0"/>
          </a:p>
          <a:p>
            <a:pPr algn="ctr"/>
            <a:r>
              <a:rPr lang="ru-RU" i="1" dirty="0"/>
              <a:t>Проблема: </a:t>
            </a:r>
            <a:r>
              <a:rPr lang="ru-RU" dirty="0"/>
              <a:t>Нет времени и данных для расчета цен, что может привести к отказу пассажира.</a:t>
            </a:r>
          </a:p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9608897E-D4A4-E1F5-B87C-B313040C870A}"/>
              </a:ext>
            </a:extLst>
          </p:cNvPr>
          <p:cNvSpPr/>
          <p:nvPr/>
        </p:nvSpPr>
        <p:spPr>
          <a:xfrm>
            <a:off x="2338553" y="353329"/>
            <a:ext cx="7514893" cy="1204684"/>
          </a:xfrm>
          <a:prstGeom prst="roundRect">
            <a:avLst/>
          </a:prstGeom>
          <a:solidFill>
            <a:srgbClr val="002060">
              <a:alpha val="39000"/>
            </a:srgbClr>
          </a:solidFill>
          <a:ln>
            <a:noFill/>
          </a:ln>
          <a:effectLst>
            <a:glow rad="88900">
              <a:srgbClr val="002060">
                <a:alpha val="40000"/>
              </a:srgbClr>
            </a:glow>
            <a:outerShdw blurRad="279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TD Mars" pitchFamily="50" charset="0"/>
              </a:rPr>
              <a:t>Использованные стек-технологии</a:t>
            </a:r>
          </a:p>
        </p:txBody>
      </p:sp>
      <p:pic>
        <p:nvPicPr>
          <p:cNvPr id="7" name="Рисунок 6" descr="Инструменты со сплошной заливкой">
            <a:extLst>
              <a:ext uri="{FF2B5EF4-FFF2-40B4-BE49-F238E27FC236}">
                <a16:creationId xmlns:a16="http://schemas.microsoft.com/office/drawing/2014/main" id="{71641C97-7C35-6312-391F-8A9896E325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91866" y="6445250"/>
            <a:ext cx="83795" cy="83795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0A75209-59CA-190E-579A-22EF8E031533}"/>
              </a:ext>
            </a:extLst>
          </p:cNvPr>
          <p:cNvSpPr/>
          <p:nvPr/>
        </p:nvSpPr>
        <p:spPr>
          <a:xfrm>
            <a:off x="519112" y="2790825"/>
            <a:ext cx="2009775" cy="2921640"/>
          </a:xfrm>
          <a:prstGeom prst="roundRect">
            <a:avLst/>
          </a:prstGeom>
          <a:solidFill>
            <a:schemeClr val="accent2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AB51995-4803-ABB1-041C-7308BC734565}"/>
              </a:ext>
            </a:extLst>
          </p:cNvPr>
          <p:cNvSpPr/>
          <p:nvPr/>
        </p:nvSpPr>
        <p:spPr>
          <a:xfrm>
            <a:off x="6702201" y="2790825"/>
            <a:ext cx="2009775" cy="2921640"/>
          </a:xfrm>
          <a:prstGeom prst="round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93D46AF8-746E-9A73-A8CD-47402CBD2FAE}"/>
              </a:ext>
            </a:extLst>
          </p:cNvPr>
          <p:cNvSpPr/>
          <p:nvPr/>
        </p:nvSpPr>
        <p:spPr>
          <a:xfrm>
            <a:off x="3601226" y="2796354"/>
            <a:ext cx="2009775" cy="2921640"/>
          </a:xfrm>
          <a:prstGeom prst="roundRect">
            <a:avLst/>
          </a:prstGeom>
          <a:solidFill>
            <a:schemeClr val="accent3">
              <a:lumMod val="20000"/>
              <a:lumOff val="80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C4EB1680-AF93-EA53-819A-789522762294}"/>
              </a:ext>
            </a:extLst>
          </p:cNvPr>
          <p:cNvSpPr/>
          <p:nvPr/>
        </p:nvSpPr>
        <p:spPr>
          <a:xfrm>
            <a:off x="1144560" y="2873117"/>
            <a:ext cx="758877" cy="422332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 descr="Изображение выглядит как символ, Графика, черный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99FD547-5A89-5433-7F86-537C9A3CDB5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560" y="2873117"/>
            <a:ext cx="758877" cy="422332"/>
          </a:xfrm>
          <a:prstGeom prst="rect">
            <a:avLst/>
          </a:prstGeom>
        </p:spPr>
      </p:pic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AB2F6704-E002-F4CC-4482-4DCB21A7D484}"/>
              </a:ext>
            </a:extLst>
          </p:cNvPr>
          <p:cNvSpPr/>
          <p:nvPr/>
        </p:nvSpPr>
        <p:spPr>
          <a:xfrm>
            <a:off x="4224640" y="2878646"/>
            <a:ext cx="758877" cy="422332"/>
          </a:xfrm>
          <a:prstGeom prst="roundRect">
            <a:avLst>
              <a:gd name="adj" fmla="val 50000"/>
            </a:avLst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 descr="Карта с кнопкой со сплошной заливкой">
            <a:extLst>
              <a:ext uri="{FF2B5EF4-FFF2-40B4-BE49-F238E27FC236}">
                <a16:creationId xmlns:a16="http://schemas.microsoft.com/office/drawing/2014/main" id="{55BDD09E-E5BE-F971-CBA8-864B8CA17B3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77513" y="2843778"/>
            <a:ext cx="457200" cy="457200"/>
          </a:xfrm>
          <a:prstGeom prst="rect">
            <a:avLst/>
          </a:prstGeom>
        </p:spPr>
      </p:pic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25ED6DF9-0F1C-85BF-0245-FC89FD3EC980}"/>
              </a:ext>
            </a:extLst>
          </p:cNvPr>
          <p:cNvSpPr/>
          <p:nvPr/>
        </p:nvSpPr>
        <p:spPr>
          <a:xfrm>
            <a:off x="7327649" y="2873117"/>
            <a:ext cx="758877" cy="422332"/>
          </a:xfrm>
          <a:prstGeom prst="roundRect">
            <a:avLst>
              <a:gd name="adj" fmla="val 50000"/>
            </a:avLst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9" name="Рисунок 48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A30563B-269C-1E9A-CC7D-370ACA85F53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199" y="2873117"/>
            <a:ext cx="422332" cy="422332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B13FB83B-24B6-0158-DD4C-EA68A19ABEC4}"/>
              </a:ext>
            </a:extLst>
          </p:cNvPr>
          <p:cNvSpPr txBox="1"/>
          <p:nvPr/>
        </p:nvSpPr>
        <p:spPr>
          <a:xfrm>
            <a:off x="3620087" y="4030931"/>
            <a:ext cx="20097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/>
              <a:t>Картография и Геосервисы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9DA761C-74F2-C2DE-F3A7-3BB15162A6F2}"/>
              </a:ext>
            </a:extLst>
          </p:cNvPr>
          <p:cNvSpPr txBox="1"/>
          <p:nvPr/>
        </p:nvSpPr>
        <p:spPr>
          <a:xfrm>
            <a:off x="6723646" y="4128151"/>
            <a:ext cx="1942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Backend </a:t>
            </a:r>
            <a:r>
              <a:rPr lang="ru-RU" sz="2000" b="1" dirty="0"/>
              <a:t>и </a:t>
            </a:r>
            <a:r>
              <a:rPr lang="en-US" sz="2000" b="1" dirty="0"/>
              <a:t>ML</a:t>
            </a:r>
            <a:endParaRPr lang="ru-RU" sz="2000" b="1" dirty="0"/>
          </a:p>
        </p:txBody>
      </p:sp>
      <p:sp>
        <p:nvSpPr>
          <p:cNvPr id="54" name="Прямоугольник: скругленные углы 53">
            <a:extLst>
              <a:ext uri="{FF2B5EF4-FFF2-40B4-BE49-F238E27FC236}">
                <a16:creationId xmlns:a16="http://schemas.microsoft.com/office/drawing/2014/main" id="{6B2E70AD-3014-F2E8-5AD0-979B5734195B}"/>
              </a:ext>
            </a:extLst>
          </p:cNvPr>
          <p:cNvSpPr/>
          <p:nvPr/>
        </p:nvSpPr>
        <p:spPr>
          <a:xfrm>
            <a:off x="9776857" y="2790825"/>
            <a:ext cx="2009775" cy="2921640"/>
          </a:xfrm>
          <a:prstGeom prst="roundRect">
            <a:avLst/>
          </a:prstGeom>
          <a:solidFill>
            <a:srgbClr val="FFF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Прямоугольник: скругленные углы 56">
            <a:extLst>
              <a:ext uri="{FF2B5EF4-FFF2-40B4-BE49-F238E27FC236}">
                <a16:creationId xmlns:a16="http://schemas.microsoft.com/office/drawing/2014/main" id="{3C25F336-B482-92FE-42E9-8A2AFABD1D42}"/>
              </a:ext>
            </a:extLst>
          </p:cNvPr>
          <p:cNvSpPr/>
          <p:nvPr/>
        </p:nvSpPr>
        <p:spPr>
          <a:xfrm>
            <a:off x="10402305" y="2844685"/>
            <a:ext cx="758877" cy="422332"/>
          </a:xfrm>
          <a:prstGeom prst="roundRect">
            <a:avLst>
              <a:gd name="adj" fmla="val 50000"/>
            </a:avLst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6" name="Рисунок 55" descr="Изображение выглядит как пространство, ночь, темнота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D0E3EDA-208C-EBFA-3FA4-B8773F3029A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0516795" y="2900025"/>
            <a:ext cx="530645" cy="294803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06A5B433-3052-559B-B9D6-CF736D4E86DA}"/>
              </a:ext>
            </a:extLst>
          </p:cNvPr>
          <p:cNvSpPr txBox="1"/>
          <p:nvPr/>
        </p:nvSpPr>
        <p:spPr>
          <a:xfrm>
            <a:off x="9810582" y="4036013"/>
            <a:ext cx="19423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DevOps </a:t>
            </a:r>
            <a:r>
              <a:rPr lang="ru-RU" sz="2000" b="1" dirty="0"/>
              <a:t>и сборка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BBEA3C7-4F13-265E-474D-FAD780F479B9}"/>
              </a:ext>
            </a:extLst>
          </p:cNvPr>
          <p:cNvSpPr txBox="1"/>
          <p:nvPr/>
        </p:nvSpPr>
        <p:spPr>
          <a:xfrm>
            <a:off x="422467" y="4036013"/>
            <a:ext cx="2203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Frontend</a:t>
            </a:r>
            <a:r>
              <a:rPr lang="en-US" sz="2400" b="1" dirty="0"/>
              <a:t> </a:t>
            </a:r>
            <a:r>
              <a:rPr lang="en-US" sz="2000" b="1" dirty="0"/>
              <a:t>Stack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1490028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C0CD0-00B6-0DE3-7E8F-CAB783902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 descr="Изображение выглядит как зеленый, Красочность, све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A380D86-5A24-9969-4305-305748120D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Прямая соединительная линия 1" hidden="1">
            <a:extLst>
              <a:ext uri="{FF2B5EF4-FFF2-40B4-BE49-F238E27FC236}">
                <a16:creationId xmlns:a16="http://schemas.microsoft.com/office/drawing/2014/main" id="{9658E713-45D8-7C0B-7732-686C2D561E7E}"/>
              </a:ext>
            </a:extLst>
          </p:cNvPr>
          <p:cNvCxnSpPr/>
          <p:nvPr/>
        </p:nvCxnSpPr>
        <p:spPr>
          <a:xfrm>
            <a:off x="9942286" y="6589486"/>
            <a:ext cx="18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 hidden="1">
            <a:extLst>
              <a:ext uri="{FF2B5EF4-FFF2-40B4-BE49-F238E27FC236}">
                <a16:creationId xmlns:a16="http://schemas.microsoft.com/office/drawing/2014/main" id="{AD25ABB9-3A7A-04A7-47A4-9D36493EC7C6}"/>
              </a:ext>
            </a:extLst>
          </p:cNvPr>
          <p:cNvCxnSpPr>
            <a:cxnSpLocks/>
          </p:cNvCxnSpPr>
          <p:nvPr/>
        </p:nvCxnSpPr>
        <p:spPr>
          <a:xfrm>
            <a:off x="9942286" y="6587896"/>
            <a:ext cx="594000" cy="0"/>
          </a:xfrm>
          <a:prstGeom prst="line">
            <a:avLst/>
          </a:prstGeom>
          <a:ln>
            <a:solidFill>
              <a:srgbClr val="97E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 hidden="1">
            <a:extLst>
              <a:ext uri="{FF2B5EF4-FFF2-40B4-BE49-F238E27FC236}">
                <a16:creationId xmlns:a16="http://schemas.microsoft.com/office/drawing/2014/main" id="{35611DF2-85E1-681A-8520-094CB209BEFE}"/>
              </a:ext>
            </a:extLst>
          </p:cNvPr>
          <p:cNvCxnSpPr>
            <a:cxnSpLocks/>
          </p:cNvCxnSpPr>
          <p:nvPr/>
        </p:nvCxnSpPr>
        <p:spPr>
          <a:xfrm flipV="1">
            <a:off x="10533764" y="6517481"/>
            <a:ext cx="0" cy="79148"/>
          </a:xfrm>
          <a:prstGeom prst="line">
            <a:avLst/>
          </a:prstGeom>
          <a:ln w="12700">
            <a:solidFill>
              <a:srgbClr val="97E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 descr="Инструменты со сплошной заливкой" hidden="1">
            <a:extLst>
              <a:ext uri="{FF2B5EF4-FFF2-40B4-BE49-F238E27FC236}">
                <a16:creationId xmlns:a16="http://schemas.microsoft.com/office/drawing/2014/main" id="{CBE2A67C-8DB7-F2CA-0736-E5D4FF8911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91866" y="6445250"/>
            <a:ext cx="83795" cy="83795"/>
          </a:xfrm>
          <a:prstGeom prst="rect">
            <a:avLst/>
          </a:prstGeom>
        </p:spPr>
      </p:pic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B8267E23-DF71-A196-348B-3388FBF6F1B7}"/>
              </a:ext>
            </a:extLst>
          </p:cNvPr>
          <p:cNvSpPr/>
          <p:nvPr/>
        </p:nvSpPr>
        <p:spPr>
          <a:xfrm>
            <a:off x="2338553" y="-4485371"/>
            <a:ext cx="7514893" cy="1204684"/>
          </a:xfrm>
          <a:prstGeom prst="roundRect">
            <a:avLst/>
          </a:prstGeom>
          <a:solidFill>
            <a:srgbClr val="002060">
              <a:alpha val="39000"/>
            </a:srgbClr>
          </a:solidFill>
          <a:ln>
            <a:noFill/>
          </a:ln>
          <a:effectLst>
            <a:glow rad="88900">
              <a:srgbClr val="002060">
                <a:alpha val="40000"/>
              </a:srgbClr>
            </a:glow>
            <a:outerShdw blurRad="279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TD Mars" pitchFamily="50" charset="0"/>
              </a:rPr>
              <a:t>Использованные стек-технологии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D0A5861D-5BD1-0DB2-5658-DD6293F2A5DC}"/>
              </a:ext>
            </a:extLst>
          </p:cNvPr>
          <p:cNvSpPr/>
          <p:nvPr/>
        </p:nvSpPr>
        <p:spPr>
          <a:xfrm>
            <a:off x="-666750" y="-609600"/>
            <a:ext cx="13377862" cy="8362950"/>
          </a:xfrm>
          <a:prstGeom prst="roundRect">
            <a:avLst/>
          </a:prstGeom>
          <a:solidFill>
            <a:schemeClr val="accent2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096A5076-C204-7D5B-B8F4-080A14A9EC04}"/>
              </a:ext>
            </a:extLst>
          </p:cNvPr>
          <p:cNvSpPr/>
          <p:nvPr/>
        </p:nvSpPr>
        <p:spPr>
          <a:xfrm>
            <a:off x="17192401" y="-1604809"/>
            <a:ext cx="2009775" cy="10353368"/>
          </a:xfrm>
          <a:prstGeom prst="round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7278514C-CFAB-0D95-EFB3-38F276BC47B6}"/>
              </a:ext>
            </a:extLst>
          </p:cNvPr>
          <p:cNvSpPr/>
          <p:nvPr/>
        </p:nvSpPr>
        <p:spPr>
          <a:xfrm>
            <a:off x="14091425" y="-1604809"/>
            <a:ext cx="2009775" cy="10353368"/>
          </a:xfrm>
          <a:prstGeom prst="roundRect">
            <a:avLst/>
          </a:prstGeom>
          <a:solidFill>
            <a:schemeClr val="accent3">
              <a:lumMod val="20000"/>
              <a:lumOff val="80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C01E234-28EC-A37B-326D-0CFEC876D3D3}"/>
              </a:ext>
            </a:extLst>
          </p:cNvPr>
          <p:cNvSpPr/>
          <p:nvPr/>
        </p:nvSpPr>
        <p:spPr>
          <a:xfrm>
            <a:off x="5353034" y="149227"/>
            <a:ext cx="1650145" cy="1387961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 descr="Изображение выглядит как символ, Графика, черный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E2E0D83-7A13-71F6-2E08-308F89AC62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1111" y="149227"/>
            <a:ext cx="2493990" cy="1387961"/>
          </a:xfrm>
          <a:prstGeom prst="rect">
            <a:avLst/>
          </a:prstGeom>
        </p:spPr>
      </p:pic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2C6611C8-2E8F-F91B-71CC-C06BC9EE8B4C}"/>
              </a:ext>
            </a:extLst>
          </p:cNvPr>
          <p:cNvSpPr/>
          <p:nvPr/>
        </p:nvSpPr>
        <p:spPr>
          <a:xfrm>
            <a:off x="14716873" y="531784"/>
            <a:ext cx="758877" cy="422332"/>
          </a:xfrm>
          <a:prstGeom prst="roundRect">
            <a:avLst>
              <a:gd name="adj" fmla="val 50000"/>
            </a:avLst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 descr="Карта с кнопкой со сплошной заливкой">
            <a:extLst>
              <a:ext uri="{FF2B5EF4-FFF2-40B4-BE49-F238E27FC236}">
                <a16:creationId xmlns:a16="http://schemas.microsoft.com/office/drawing/2014/main" id="{0A10A05A-B6D9-F8D8-C418-8E5FD96232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906305" y="506174"/>
            <a:ext cx="457200" cy="457200"/>
          </a:xfrm>
          <a:prstGeom prst="rect">
            <a:avLst/>
          </a:prstGeom>
        </p:spPr>
      </p:pic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468EB667-A8A2-0D77-2146-F3EC2F3D7D9C}"/>
              </a:ext>
            </a:extLst>
          </p:cNvPr>
          <p:cNvSpPr/>
          <p:nvPr/>
        </p:nvSpPr>
        <p:spPr>
          <a:xfrm>
            <a:off x="17774307" y="628383"/>
            <a:ext cx="758877" cy="422332"/>
          </a:xfrm>
          <a:prstGeom prst="roundRect">
            <a:avLst>
              <a:gd name="adj" fmla="val 50000"/>
            </a:avLst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9" name="Рисунок 48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AD93288-0484-8CF3-D264-DF133D2F6A3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2580" y="628383"/>
            <a:ext cx="422332" cy="422332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AC34743E-4D04-DB61-2568-3F73C8EEF839}"/>
              </a:ext>
            </a:extLst>
          </p:cNvPr>
          <p:cNvSpPr txBox="1"/>
          <p:nvPr/>
        </p:nvSpPr>
        <p:spPr>
          <a:xfrm>
            <a:off x="4957748" y="1598416"/>
            <a:ext cx="2346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Frontend Stack</a:t>
            </a:r>
            <a:endParaRPr lang="ru-RU" sz="24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77475B8-7D71-D016-7F65-6FBAB304E018}"/>
              </a:ext>
            </a:extLst>
          </p:cNvPr>
          <p:cNvSpPr txBox="1"/>
          <p:nvPr/>
        </p:nvSpPr>
        <p:spPr>
          <a:xfrm>
            <a:off x="14163745" y="1190034"/>
            <a:ext cx="20097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/>
              <a:t>Картография и Геосервисы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9351BD-04F1-0B92-E7D3-4B321638E271}"/>
              </a:ext>
            </a:extLst>
          </p:cNvPr>
          <p:cNvSpPr txBox="1"/>
          <p:nvPr/>
        </p:nvSpPr>
        <p:spPr>
          <a:xfrm>
            <a:off x="17213846" y="1289701"/>
            <a:ext cx="1942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Backend </a:t>
            </a:r>
            <a:r>
              <a:rPr lang="ru-RU" sz="2000" b="1" dirty="0"/>
              <a:t>и </a:t>
            </a:r>
            <a:r>
              <a:rPr lang="en-US" sz="2000" b="1" dirty="0"/>
              <a:t>ML</a:t>
            </a:r>
            <a:endParaRPr lang="ru-RU" sz="2000" b="1" dirty="0"/>
          </a:p>
        </p:txBody>
      </p:sp>
      <p:sp>
        <p:nvSpPr>
          <p:cNvPr id="54" name="Прямоугольник: скругленные углы 53">
            <a:extLst>
              <a:ext uri="{FF2B5EF4-FFF2-40B4-BE49-F238E27FC236}">
                <a16:creationId xmlns:a16="http://schemas.microsoft.com/office/drawing/2014/main" id="{D05AA2FA-2A2F-A2CE-A3CE-96808774738D}"/>
              </a:ext>
            </a:extLst>
          </p:cNvPr>
          <p:cNvSpPr/>
          <p:nvPr/>
        </p:nvSpPr>
        <p:spPr>
          <a:xfrm>
            <a:off x="20267057" y="-1604809"/>
            <a:ext cx="2009775" cy="10353368"/>
          </a:xfrm>
          <a:prstGeom prst="roundRect">
            <a:avLst/>
          </a:prstGeom>
          <a:solidFill>
            <a:srgbClr val="FFF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Прямоугольник: скругленные углы 56">
            <a:extLst>
              <a:ext uri="{FF2B5EF4-FFF2-40B4-BE49-F238E27FC236}">
                <a16:creationId xmlns:a16="http://schemas.microsoft.com/office/drawing/2014/main" id="{20489952-6737-A5EB-4781-6AD7529424E9}"/>
              </a:ext>
            </a:extLst>
          </p:cNvPr>
          <p:cNvSpPr/>
          <p:nvPr/>
        </p:nvSpPr>
        <p:spPr>
          <a:xfrm>
            <a:off x="21006620" y="687321"/>
            <a:ext cx="758877" cy="422332"/>
          </a:xfrm>
          <a:prstGeom prst="roundRect">
            <a:avLst>
              <a:gd name="adj" fmla="val 50000"/>
            </a:avLst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6" name="Рисунок 55" descr="Изображение выглядит как пространство, ночь, темнота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8E63A47-3066-6863-A5A3-1BFE0C0794C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1120737" y="728631"/>
            <a:ext cx="530645" cy="294803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2910F3F2-8006-A004-D787-5C51AB0854E7}"/>
              </a:ext>
            </a:extLst>
          </p:cNvPr>
          <p:cNvSpPr txBox="1"/>
          <p:nvPr/>
        </p:nvSpPr>
        <p:spPr>
          <a:xfrm>
            <a:off x="20300782" y="1121363"/>
            <a:ext cx="19423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DevOps </a:t>
            </a:r>
            <a:r>
              <a:rPr lang="ru-RU" sz="2000" b="1" dirty="0"/>
              <a:t>и сборка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BC92FD76-F17D-FD8F-991C-FEB05A3771F5}"/>
              </a:ext>
            </a:extLst>
          </p:cNvPr>
          <p:cNvSpPr/>
          <p:nvPr/>
        </p:nvSpPr>
        <p:spPr>
          <a:xfrm>
            <a:off x="471653" y="4535322"/>
            <a:ext cx="1600200" cy="1609983"/>
          </a:xfrm>
          <a:prstGeom prst="roundRect">
            <a:avLst/>
          </a:prstGeom>
          <a:solidFill>
            <a:srgbClr val="2327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 descr="Изображение выглядит как круг, Графика, искусство,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E10C1E4-24C1-F843-3601-E1A1FFD3F02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983" y="4935225"/>
            <a:ext cx="863602" cy="777240"/>
          </a:xfrm>
          <a:prstGeom prst="rect">
            <a:avLst/>
          </a:prstGeom>
        </p:spPr>
      </p:pic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15FD22FC-E1D6-C764-548B-F72B5CBB88A3}"/>
              </a:ext>
            </a:extLst>
          </p:cNvPr>
          <p:cNvSpPr/>
          <p:nvPr/>
        </p:nvSpPr>
        <p:spPr>
          <a:xfrm>
            <a:off x="145504" y="3289300"/>
            <a:ext cx="2252497" cy="1439757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React 18.2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Современная библиотека </a:t>
            </a:r>
            <a:r>
              <a:rPr lang="en-US" dirty="0">
                <a:solidFill>
                  <a:schemeClr val="tx1"/>
                </a:solidFill>
              </a:rPr>
              <a:t>UI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17" name="Рисунок 16" descr="Изображение выглядит как логотип, символ, График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188B297-5239-59B5-556E-7BFC4539ED8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853" y="4535323"/>
            <a:ext cx="1609982" cy="1609982"/>
          </a:xfrm>
          <a:prstGeom prst="rect">
            <a:avLst/>
          </a:prstGeom>
        </p:spPr>
      </p:pic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B4B87BA-73A7-E91E-6A16-9110038009D7}"/>
              </a:ext>
            </a:extLst>
          </p:cNvPr>
          <p:cNvSpPr/>
          <p:nvPr/>
        </p:nvSpPr>
        <p:spPr>
          <a:xfrm>
            <a:off x="2575865" y="3316134"/>
            <a:ext cx="2252497" cy="1439757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TypeScript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Типизированный </a:t>
            </a:r>
            <a:r>
              <a:rPr lang="en-US" dirty="0">
                <a:solidFill>
                  <a:schemeClr val="tx1"/>
                </a:solidFill>
              </a:rPr>
              <a:t>JavaScript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041735FA-488E-2E55-6DB0-F8396FB0B61D}"/>
              </a:ext>
            </a:extLst>
          </p:cNvPr>
          <p:cNvSpPr/>
          <p:nvPr/>
        </p:nvSpPr>
        <p:spPr>
          <a:xfrm>
            <a:off x="5310556" y="4570887"/>
            <a:ext cx="1600200" cy="1609983"/>
          </a:xfrm>
          <a:prstGeom prst="roundRect">
            <a:avLst/>
          </a:prstGeom>
          <a:solidFill>
            <a:srgbClr val="1010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9" name="Рисунок 28" descr="Изображение выглядит как Графика, Красочность, творческий подход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18F4E8D-41C6-F6A2-84D4-AD0472D4776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459" y="4958090"/>
            <a:ext cx="916206" cy="902798"/>
          </a:xfrm>
          <a:prstGeom prst="rect">
            <a:avLst/>
          </a:prstGeom>
        </p:spPr>
      </p:pic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454E2935-47B9-5E65-08F7-FC98D32ED670}"/>
              </a:ext>
            </a:extLst>
          </p:cNvPr>
          <p:cNvSpPr/>
          <p:nvPr/>
        </p:nvSpPr>
        <p:spPr>
          <a:xfrm>
            <a:off x="5007360" y="3316134"/>
            <a:ext cx="2252497" cy="1439757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Vite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Быстрый сборщик и </a:t>
            </a:r>
            <a:r>
              <a:rPr lang="ru-RU" dirty="0" err="1">
                <a:solidFill>
                  <a:schemeClr val="tx1"/>
                </a:solidFill>
              </a:rPr>
              <a:t>dev</a:t>
            </a:r>
            <a:r>
              <a:rPr lang="ru-RU" dirty="0">
                <a:solidFill>
                  <a:schemeClr val="tx1"/>
                </a:solidFill>
              </a:rPr>
              <a:t> сервер</a:t>
            </a:r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99DE402E-D158-3A02-5547-47CDB3A81B48}"/>
              </a:ext>
            </a:extLst>
          </p:cNvPr>
          <p:cNvSpPr/>
          <p:nvPr/>
        </p:nvSpPr>
        <p:spPr>
          <a:xfrm>
            <a:off x="7729906" y="4570887"/>
            <a:ext cx="1600200" cy="1609983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5" name="Рисунок 54" descr="Изображение выглядит как мультфильм, графическая вставка, Мультфильм, иллюстр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E5F429F-CB8F-D5E0-293D-862F3247EC4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350" y="4779081"/>
            <a:ext cx="2044700" cy="1193594"/>
          </a:xfrm>
          <a:prstGeom prst="rect">
            <a:avLst/>
          </a:prstGeom>
        </p:spPr>
      </p:pic>
      <p:sp>
        <p:nvSpPr>
          <p:cNvPr id="59" name="Прямоугольник: скругленные углы 58">
            <a:extLst>
              <a:ext uri="{FF2B5EF4-FFF2-40B4-BE49-F238E27FC236}">
                <a16:creationId xmlns:a16="http://schemas.microsoft.com/office/drawing/2014/main" id="{23E684B3-533D-42AF-D5F4-CFB0B3C99542}"/>
              </a:ext>
            </a:extLst>
          </p:cNvPr>
          <p:cNvSpPr/>
          <p:nvPr/>
        </p:nvSpPr>
        <p:spPr>
          <a:xfrm>
            <a:off x="7423538" y="3339324"/>
            <a:ext cx="2252497" cy="1439757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Zustand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ru-RU" dirty="0">
                <a:solidFill>
                  <a:schemeClr val="tx1"/>
                </a:solidFill>
              </a:rPr>
              <a:t>Легковесное управление состоянием</a:t>
            </a:r>
          </a:p>
        </p:txBody>
      </p:sp>
      <p:sp>
        <p:nvSpPr>
          <p:cNvPr id="65" name="Прямоугольник: скругленные углы 64">
            <a:extLst>
              <a:ext uri="{FF2B5EF4-FFF2-40B4-BE49-F238E27FC236}">
                <a16:creationId xmlns:a16="http://schemas.microsoft.com/office/drawing/2014/main" id="{B19D2D5A-A932-D3AD-121D-C6298731BA1D}"/>
              </a:ext>
            </a:extLst>
          </p:cNvPr>
          <p:cNvSpPr/>
          <p:nvPr/>
        </p:nvSpPr>
        <p:spPr>
          <a:xfrm>
            <a:off x="10187014" y="4570887"/>
            <a:ext cx="1600200" cy="1609983"/>
          </a:xfrm>
          <a:prstGeom prst="roundRect">
            <a:avLst/>
          </a:prstGeom>
          <a:solidFill>
            <a:srgbClr val="1B2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7" name="Рисунок 66" descr="Изображение выглядит как круг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D20552D-D88A-5419-CF59-DB4F1CBFE44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9663" y="4555036"/>
            <a:ext cx="1570554" cy="1570554"/>
          </a:xfrm>
          <a:prstGeom prst="rect">
            <a:avLst/>
          </a:prstGeom>
        </p:spPr>
      </p:pic>
      <p:sp>
        <p:nvSpPr>
          <p:cNvPr id="68" name="Прямоугольник: скругленные углы 67">
            <a:extLst>
              <a:ext uri="{FF2B5EF4-FFF2-40B4-BE49-F238E27FC236}">
                <a16:creationId xmlns:a16="http://schemas.microsoft.com/office/drawing/2014/main" id="{1B0D4790-4555-C520-6515-C7EE69176D2B}"/>
              </a:ext>
            </a:extLst>
          </p:cNvPr>
          <p:cNvSpPr/>
          <p:nvPr/>
        </p:nvSpPr>
        <p:spPr>
          <a:xfrm>
            <a:off x="9857270" y="3316133"/>
            <a:ext cx="2252497" cy="1439757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Lucide</a:t>
            </a:r>
            <a:r>
              <a:rPr lang="en-US" b="1" dirty="0">
                <a:solidFill>
                  <a:schemeClr val="tx1"/>
                </a:solidFill>
              </a:rPr>
              <a:t> React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Современные </a:t>
            </a:r>
            <a:r>
              <a:rPr lang="en-US" dirty="0">
                <a:solidFill>
                  <a:schemeClr val="tx1"/>
                </a:solidFill>
              </a:rPr>
              <a:t>SVG </a:t>
            </a:r>
            <a:r>
              <a:rPr lang="ru-RU" dirty="0">
                <a:solidFill>
                  <a:schemeClr val="tx1"/>
                </a:solidFill>
              </a:rPr>
              <a:t>иконки</a:t>
            </a:r>
          </a:p>
        </p:txBody>
      </p:sp>
    </p:spTree>
    <p:extLst>
      <p:ext uri="{BB962C8B-B14F-4D97-AF65-F5344CB8AC3E}">
        <p14:creationId xmlns:p14="http://schemas.microsoft.com/office/powerpoint/2010/main" val="982967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6F837-DE37-CA55-02B7-298BF86DA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 descr="Изображение выглядит как зеленый, Красочность, све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5F6A4CC-C41C-1F02-41BD-E15DA0671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Прямая соединительная линия 1" hidden="1">
            <a:extLst>
              <a:ext uri="{FF2B5EF4-FFF2-40B4-BE49-F238E27FC236}">
                <a16:creationId xmlns:a16="http://schemas.microsoft.com/office/drawing/2014/main" id="{A7C80482-C5A4-0CED-2C12-8294CFC5C725}"/>
              </a:ext>
            </a:extLst>
          </p:cNvPr>
          <p:cNvCxnSpPr/>
          <p:nvPr/>
        </p:nvCxnSpPr>
        <p:spPr>
          <a:xfrm>
            <a:off x="9942286" y="6589486"/>
            <a:ext cx="18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 hidden="1">
            <a:extLst>
              <a:ext uri="{FF2B5EF4-FFF2-40B4-BE49-F238E27FC236}">
                <a16:creationId xmlns:a16="http://schemas.microsoft.com/office/drawing/2014/main" id="{9FDF054B-31A6-0DA0-C7B7-464BE8C3DA06}"/>
              </a:ext>
            </a:extLst>
          </p:cNvPr>
          <p:cNvCxnSpPr>
            <a:cxnSpLocks/>
          </p:cNvCxnSpPr>
          <p:nvPr/>
        </p:nvCxnSpPr>
        <p:spPr>
          <a:xfrm>
            <a:off x="9942286" y="6587896"/>
            <a:ext cx="594000" cy="0"/>
          </a:xfrm>
          <a:prstGeom prst="line">
            <a:avLst/>
          </a:prstGeom>
          <a:ln>
            <a:solidFill>
              <a:srgbClr val="97E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 hidden="1">
            <a:extLst>
              <a:ext uri="{FF2B5EF4-FFF2-40B4-BE49-F238E27FC236}">
                <a16:creationId xmlns:a16="http://schemas.microsoft.com/office/drawing/2014/main" id="{8FC516E1-51F8-5DA3-C009-C1C2BC15E7EE}"/>
              </a:ext>
            </a:extLst>
          </p:cNvPr>
          <p:cNvCxnSpPr>
            <a:cxnSpLocks/>
          </p:cNvCxnSpPr>
          <p:nvPr/>
        </p:nvCxnSpPr>
        <p:spPr>
          <a:xfrm flipV="1">
            <a:off x="10533764" y="6517481"/>
            <a:ext cx="0" cy="79148"/>
          </a:xfrm>
          <a:prstGeom prst="line">
            <a:avLst/>
          </a:prstGeom>
          <a:ln w="12700">
            <a:solidFill>
              <a:srgbClr val="97E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 descr="Инструменты со сплошной заливкой" hidden="1">
            <a:extLst>
              <a:ext uri="{FF2B5EF4-FFF2-40B4-BE49-F238E27FC236}">
                <a16:creationId xmlns:a16="http://schemas.microsoft.com/office/drawing/2014/main" id="{27D2706B-5AA1-8B95-A1DB-020F324F0A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91866" y="6445250"/>
            <a:ext cx="83795" cy="83795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B3CD6D2F-56B7-0106-320E-67ED6BD5D672}"/>
              </a:ext>
            </a:extLst>
          </p:cNvPr>
          <p:cNvSpPr/>
          <p:nvPr/>
        </p:nvSpPr>
        <p:spPr>
          <a:xfrm>
            <a:off x="-13925550" y="-609600"/>
            <a:ext cx="13377862" cy="8362950"/>
          </a:xfrm>
          <a:prstGeom prst="roundRect">
            <a:avLst/>
          </a:prstGeom>
          <a:solidFill>
            <a:schemeClr val="accent2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2AE295F-BD71-D1AD-3A4A-90FF8BE4F249}"/>
              </a:ext>
            </a:extLst>
          </p:cNvPr>
          <p:cNvSpPr/>
          <p:nvPr/>
        </p:nvSpPr>
        <p:spPr>
          <a:xfrm>
            <a:off x="-638053" y="-609600"/>
            <a:ext cx="13377862" cy="8362950"/>
          </a:xfrm>
          <a:prstGeom prst="roundRect">
            <a:avLst/>
          </a:prstGeom>
          <a:solidFill>
            <a:schemeClr val="accent3">
              <a:lumMod val="20000"/>
              <a:lumOff val="80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9B69A6C1-72FA-F615-BB8E-B928653B6804}"/>
              </a:ext>
            </a:extLst>
          </p:cNvPr>
          <p:cNvSpPr/>
          <p:nvPr/>
        </p:nvSpPr>
        <p:spPr>
          <a:xfrm>
            <a:off x="-7905766" y="149227"/>
            <a:ext cx="1650145" cy="1387961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 descr="Изображение выглядит как символ, Графика, черный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590A1EC-B68F-21FE-913D-60DACC288C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27689" y="149227"/>
            <a:ext cx="2493990" cy="1387961"/>
          </a:xfrm>
          <a:prstGeom prst="rect">
            <a:avLst/>
          </a:prstGeom>
        </p:spPr>
      </p:pic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EFA6EF0D-DB10-BFE1-2691-D1CEED220E9F}"/>
              </a:ext>
            </a:extLst>
          </p:cNvPr>
          <p:cNvSpPr/>
          <p:nvPr/>
        </p:nvSpPr>
        <p:spPr>
          <a:xfrm>
            <a:off x="5402507" y="220422"/>
            <a:ext cx="1705570" cy="1012090"/>
          </a:xfrm>
          <a:prstGeom prst="roundRect">
            <a:avLst>
              <a:gd name="adj" fmla="val 50000"/>
            </a:avLst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 descr="Карта с кнопкой со сплошной заливкой">
            <a:extLst>
              <a:ext uri="{FF2B5EF4-FFF2-40B4-BE49-F238E27FC236}">
                <a16:creationId xmlns:a16="http://schemas.microsoft.com/office/drawing/2014/main" id="{CD15C423-DFFE-AEC4-AFEB-513810D4A3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55281" y="76498"/>
            <a:ext cx="1212853" cy="1212853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252EA209-5796-951A-547E-153DD1666366}"/>
              </a:ext>
            </a:extLst>
          </p:cNvPr>
          <p:cNvSpPr txBox="1"/>
          <p:nvPr/>
        </p:nvSpPr>
        <p:spPr>
          <a:xfrm>
            <a:off x="-8298674" y="1626874"/>
            <a:ext cx="2346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Frontend Stack</a:t>
            </a:r>
            <a:endParaRPr lang="ru-RU" sz="24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6A726BB-917F-BA39-EAFD-4D1E463992C3}"/>
              </a:ext>
            </a:extLst>
          </p:cNvPr>
          <p:cNvSpPr txBox="1"/>
          <p:nvPr/>
        </p:nvSpPr>
        <p:spPr>
          <a:xfrm>
            <a:off x="5069779" y="1343566"/>
            <a:ext cx="23610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Картография и Геосервисы</a:t>
            </a:r>
          </a:p>
        </p:txBody>
      </p:sp>
      <p:sp>
        <p:nvSpPr>
          <p:cNvPr id="54" name="Прямоугольник: скругленные углы 53">
            <a:extLst>
              <a:ext uri="{FF2B5EF4-FFF2-40B4-BE49-F238E27FC236}">
                <a16:creationId xmlns:a16="http://schemas.microsoft.com/office/drawing/2014/main" id="{3DD719FE-5690-A7A5-D488-6B8BBE2E82AA}"/>
              </a:ext>
            </a:extLst>
          </p:cNvPr>
          <p:cNvSpPr/>
          <p:nvPr/>
        </p:nvSpPr>
        <p:spPr>
          <a:xfrm>
            <a:off x="20267057" y="2790825"/>
            <a:ext cx="2009775" cy="2921640"/>
          </a:xfrm>
          <a:prstGeom prst="roundRect">
            <a:avLst/>
          </a:prstGeom>
          <a:solidFill>
            <a:srgbClr val="FFF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Прямоугольник: скругленные углы 56">
            <a:extLst>
              <a:ext uri="{FF2B5EF4-FFF2-40B4-BE49-F238E27FC236}">
                <a16:creationId xmlns:a16="http://schemas.microsoft.com/office/drawing/2014/main" id="{467A0756-18C5-2EFC-7105-A0AD757F87DE}"/>
              </a:ext>
            </a:extLst>
          </p:cNvPr>
          <p:cNvSpPr/>
          <p:nvPr/>
        </p:nvSpPr>
        <p:spPr>
          <a:xfrm>
            <a:off x="20892505" y="2844685"/>
            <a:ext cx="758877" cy="422332"/>
          </a:xfrm>
          <a:prstGeom prst="roundRect">
            <a:avLst>
              <a:gd name="adj" fmla="val 50000"/>
            </a:avLst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6" name="Рисунок 55" descr="Изображение выглядит как пространство, ночь, темнота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D53D7FE-0726-49AE-042A-E817A77FB99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1006995" y="2900025"/>
            <a:ext cx="530645" cy="294803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E36936BB-D303-F800-3219-B84D47692C72}"/>
              </a:ext>
            </a:extLst>
          </p:cNvPr>
          <p:cNvSpPr txBox="1"/>
          <p:nvPr/>
        </p:nvSpPr>
        <p:spPr>
          <a:xfrm>
            <a:off x="20300782" y="4036013"/>
            <a:ext cx="19423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DevOps </a:t>
            </a:r>
            <a:r>
              <a:rPr lang="ru-RU" sz="2000" b="1" dirty="0"/>
              <a:t>и сборка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FA877C73-291C-691C-9EF4-EE8E54C35178}"/>
              </a:ext>
            </a:extLst>
          </p:cNvPr>
          <p:cNvSpPr/>
          <p:nvPr/>
        </p:nvSpPr>
        <p:spPr>
          <a:xfrm>
            <a:off x="-12787147" y="4535322"/>
            <a:ext cx="1600200" cy="1609983"/>
          </a:xfrm>
          <a:prstGeom prst="roundRect">
            <a:avLst/>
          </a:prstGeom>
          <a:solidFill>
            <a:srgbClr val="2327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 descr="Изображение выглядит как круг, Графика, искусство,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2014A27-51BA-4557-51BF-258BEDD844B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441817" y="4935225"/>
            <a:ext cx="863602" cy="777240"/>
          </a:xfrm>
          <a:prstGeom prst="rect">
            <a:avLst/>
          </a:prstGeom>
        </p:spPr>
      </p:pic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F10C82E9-BFF9-0561-02C0-79EBE78AF370}"/>
              </a:ext>
            </a:extLst>
          </p:cNvPr>
          <p:cNvSpPr/>
          <p:nvPr/>
        </p:nvSpPr>
        <p:spPr>
          <a:xfrm>
            <a:off x="-13113296" y="3289300"/>
            <a:ext cx="2252497" cy="1439757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React 18.2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Современная библиотека </a:t>
            </a:r>
            <a:r>
              <a:rPr lang="en-US" dirty="0">
                <a:solidFill>
                  <a:schemeClr val="tx1"/>
                </a:solidFill>
              </a:rPr>
              <a:t>UI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17" name="Рисунок 16" descr="Изображение выглядит как логотип, символ, График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E9C3032-FCE4-09AE-915A-FF7F833B8B8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66947" y="4535323"/>
            <a:ext cx="1609982" cy="1609982"/>
          </a:xfrm>
          <a:prstGeom prst="rect">
            <a:avLst/>
          </a:prstGeom>
        </p:spPr>
      </p:pic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7B0EE07B-959F-7A63-85D3-7A0BE059CCFC}"/>
              </a:ext>
            </a:extLst>
          </p:cNvPr>
          <p:cNvSpPr/>
          <p:nvPr/>
        </p:nvSpPr>
        <p:spPr>
          <a:xfrm>
            <a:off x="-10682935" y="3316134"/>
            <a:ext cx="2252497" cy="1439757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TypeScript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Типизированный </a:t>
            </a:r>
            <a:r>
              <a:rPr lang="en-US" dirty="0">
                <a:solidFill>
                  <a:schemeClr val="tx1"/>
                </a:solidFill>
              </a:rPr>
              <a:t>JavaScript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0228B94F-96C1-A23C-BA09-50FE6623CC06}"/>
              </a:ext>
            </a:extLst>
          </p:cNvPr>
          <p:cNvSpPr/>
          <p:nvPr/>
        </p:nvSpPr>
        <p:spPr>
          <a:xfrm>
            <a:off x="-7948244" y="4570887"/>
            <a:ext cx="1600200" cy="1609983"/>
          </a:xfrm>
          <a:prstGeom prst="roundRect">
            <a:avLst/>
          </a:prstGeom>
          <a:solidFill>
            <a:srgbClr val="1010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9" name="Рисунок 28" descr="Изображение выглядит как Графика, Красочность, творческий подход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2262B8E-3E6F-5D84-AD46-8EE0128BAEC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7341" y="4958090"/>
            <a:ext cx="916206" cy="902798"/>
          </a:xfrm>
          <a:prstGeom prst="rect">
            <a:avLst/>
          </a:prstGeom>
        </p:spPr>
      </p:pic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F86FD3B5-B25C-B67A-B726-1EEE755BDB95}"/>
              </a:ext>
            </a:extLst>
          </p:cNvPr>
          <p:cNvSpPr/>
          <p:nvPr/>
        </p:nvSpPr>
        <p:spPr>
          <a:xfrm>
            <a:off x="-8251440" y="3316134"/>
            <a:ext cx="2252497" cy="1439757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Vite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Быстрый сборщик и </a:t>
            </a:r>
            <a:r>
              <a:rPr lang="ru-RU" dirty="0" err="1">
                <a:solidFill>
                  <a:schemeClr val="tx1"/>
                </a:solidFill>
              </a:rPr>
              <a:t>dev</a:t>
            </a:r>
            <a:r>
              <a:rPr lang="ru-RU" dirty="0">
                <a:solidFill>
                  <a:schemeClr val="tx1"/>
                </a:solidFill>
              </a:rPr>
              <a:t> сервер</a:t>
            </a:r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4DC5D5D7-4F1B-9725-BACF-43C5BA228CE4}"/>
              </a:ext>
            </a:extLst>
          </p:cNvPr>
          <p:cNvSpPr/>
          <p:nvPr/>
        </p:nvSpPr>
        <p:spPr>
          <a:xfrm>
            <a:off x="-5528894" y="4570887"/>
            <a:ext cx="1600200" cy="1609983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5" name="Рисунок 54" descr="Изображение выглядит как мультфильм, графическая вставка, Мультфильм, иллюстр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28E1E55-AC43-2D8F-CC53-1D8C9CD487B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13450" y="4779081"/>
            <a:ext cx="2044700" cy="1193594"/>
          </a:xfrm>
          <a:prstGeom prst="rect">
            <a:avLst/>
          </a:prstGeom>
        </p:spPr>
      </p:pic>
      <p:sp>
        <p:nvSpPr>
          <p:cNvPr id="59" name="Прямоугольник: скругленные углы 58">
            <a:extLst>
              <a:ext uri="{FF2B5EF4-FFF2-40B4-BE49-F238E27FC236}">
                <a16:creationId xmlns:a16="http://schemas.microsoft.com/office/drawing/2014/main" id="{647DAE99-282F-A418-61AA-9A18B4E533BB}"/>
              </a:ext>
            </a:extLst>
          </p:cNvPr>
          <p:cNvSpPr/>
          <p:nvPr/>
        </p:nvSpPr>
        <p:spPr>
          <a:xfrm>
            <a:off x="-5835262" y="3339324"/>
            <a:ext cx="2252497" cy="1439757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Zustand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ru-RU" dirty="0">
                <a:solidFill>
                  <a:schemeClr val="tx1"/>
                </a:solidFill>
              </a:rPr>
              <a:t>Легковесное управление состоянием</a:t>
            </a:r>
          </a:p>
        </p:txBody>
      </p:sp>
      <p:sp>
        <p:nvSpPr>
          <p:cNvPr id="65" name="Прямоугольник: скругленные углы 64">
            <a:extLst>
              <a:ext uri="{FF2B5EF4-FFF2-40B4-BE49-F238E27FC236}">
                <a16:creationId xmlns:a16="http://schemas.microsoft.com/office/drawing/2014/main" id="{E239220F-AF36-A7B5-3FB9-48FB48FAD758}"/>
              </a:ext>
            </a:extLst>
          </p:cNvPr>
          <p:cNvSpPr/>
          <p:nvPr/>
        </p:nvSpPr>
        <p:spPr>
          <a:xfrm>
            <a:off x="-3071786" y="4570887"/>
            <a:ext cx="1600200" cy="1609983"/>
          </a:xfrm>
          <a:prstGeom prst="roundRect">
            <a:avLst/>
          </a:prstGeom>
          <a:solidFill>
            <a:srgbClr val="1B2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7" name="Рисунок 66" descr="Изображение выглядит как круг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C83E376-C3E8-3CC6-D07E-204773500CA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09137" y="4555036"/>
            <a:ext cx="1570554" cy="1570554"/>
          </a:xfrm>
          <a:prstGeom prst="rect">
            <a:avLst/>
          </a:prstGeom>
        </p:spPr>
      </p:pic>
      <p:sp>
        <p:nvSpPr>
          <p:cNvPr id="68" name="Прямоугольник: скругленные углы 67">
            <a:extLst>
              <a:ext uri="{FF2B5EF4-FFF2-40B4-BE49-F238E27FC236}">
                <a16:creationId xmlns:a16="http://schemas.microsoft.com/office/drawing/2014/main" id="{779228FF-8C76-565B-500F-AA714CB5E226}"/>
              </a:ext>
            </a:extLst>
          </p:cNvPr>
          <p:cNvSpPr/>
          <p:nvPr/>
        </p:nvSpPr>
        <p:spPr>
          <a:xfrm>
            <a:off x="-3401530" y="3316133"/>
            <a:ext cx="2252497" cy="1439757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Lucide</a:t>
            </a:r>
            <a:r>
              <a:rPr lang="en-US" b="1" dirty="0">
                <a:solidFill>
                  <a:schemeClr val="tx1"/>
                </a:solidFill>
              </a:rPr>
              <a:t> React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Современные </a:t>
            </a:r>
            <a:r>
              <a:rPr lang="en-US" dirty="0">
                <a:solidFill>
                  <a:schemeClr val="tx1"/>
                </a:solidFill>
              </a:rPr>
              <a:t>SVG </a:t>
            </a:r>
            <a:r>
              <a:rPr lang="ru-RU" dirty="0">
                <a:solidFill>
                  <a:schemeClr val="tx1"/>
                </a:solidFill>
              </a:rPr>
              <a:t>иконки</a:t>
            </a:r>
          </a:p>
        </p:txBody>
      </p: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247E0899-8004-44DD-C290-9D5BDB2A6362}"/>
              </a:ext>
            </a:extLst>
          </p:cNvPr>
          <p:cNvGrpSpPr/>
          <p:nvPr/>
        </p:nvGrpSpPr>
        <p:grpSpPr>
          <a:xfrm>
            <a:off x="840533" y="4389956"/>
            <a:ext cx="1600200" cy="1609983"/>
            <a:chOff x="840533" y="4389956"/>
            <a:chExt cx="1600200" cy="1609983"/>
          </a:xfrm>
        </p:grpSpPr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BF4E1A77-74C9-72BF-6AB2-320D407128F2}"/>
                </a:ext>
              </a:extLst>
            </p:cNvPr>
            <p:cNvSpPr/>
            <p:nvPr/>
          </p:nvSpPr>
          <p:spPr>
            <a:xfrm>
              <a:off x="840533" y="4389956"/>
              <a:ext cx="1600200" cy="1609983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1" name="Рисунок 20" descr="Изображение выглядит как текст, Графика, Шрифт, графическая вставка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B3CBDE73-B385-AC67-9C11-8F05811A6D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002" r="30743" b="27193"/>
            <a:stretch>
              <a:fillRect/>
            </a:stretch>
          </p:blipFill>
          <p:spPr>
            <a:xfrm>
              <a:off x="1142213" y="4755890"/>
              <a:ext cx="1142445" cy="902798"/>
            </a:xfrm>
            <a:prstGeom prst="rect">
              <a:avLst/>
            </a:prstGeom>
          </p:spPr>
        </p:pic>
      </p:grp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56CB844D-0D47-9AEC-701F-23D6B88101AE}"/>
              </a:ext>
            </a:extLst>
          </p:cNvPr>
          <p:cNvSpPr/>
          <p:nvPr/>
        </p:nvSpPr>
        <p:spPr>
          <a:xfrm>
            <a:off x="485356" y="3119894"/>
            <a:ext cx="2361003" cy="1439757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OpenStreetMap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Открытые картографические данные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D92B6C0E-5F45-0FA5-8826-4626CF6E71CA}"/>
              </a:ext>
            </a:extLst>
          </p:cNvPr>
          <p:cNvSpPr/>
          <p:nvPr/>
        </p:nvSpPr>
        <p:spPr>
          <a:xfrm>
            <a:off x="3851727" y="4389956"/>
            <a:ext cx="1600200" cy="160998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1" name="Рисунок 30" descr="Изображение выглядит как логотип, символ, дизайн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B8FBDED-379E-E962-97EA-9C14BC8F862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605" y="4710794"/>
            <a:ext cx="1001671" cy="1001671"/>
          </a:xfrm>
          <a:prstGeom prst="rect">
            <a:avLst/>
          </a:prstGeom>
        </p:spPr>
      </p:pic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EFEA4C81-0FE7-31FF-FC9B-32F4000FA09D}"/>
              </a:ext>
            </a:extLst>
          </p:cNvPr>
          <p:cNvSpPr/>
          <p:nvPr/>
        </p:nvSpPr>
        <p:spPr>
          <a:xfrm>
            <a:off x="3483695" y="3116616"/>
            <a:ext cx="2361003" cy="1439757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Nominatim</a:t>
            </a:r>
            <a:r>
              <a:rPr lang="en-US" b="1" dirty="0">
                <a:solidFill>
                  <a:schemeClr val="tx1"/>
                </a:solidFill>
              </a:rPr>
              <a:t> API</a:t>
            </a:r>
          </a:p>
          <a:p>
            <a:pPr algn="ctr"/>
            <a:r>
              <a:rPr lang="ru-RU" dirty="0" err="1">
                <a:solidFill>
                  <a:schemeClr val="tx1"/>
                </a:solidFill>
              </a:rPr>
              <a:t>Геокодинг</a:t>
            </a:r>
            <a:r>
              <a:rPr lang="ru-RU" dirty="0">
                <a:solidFill>
                  <a:schemeClr val="tx1"/>
                </a:solidFill>
              </a:rPr>
              <a:t> и поиск адресов</a:t>
            </a: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70E9E7E5-4CBD-D05D-080F-2CAAD3B99BA5}"/>
              </a:ext>
            </a:extLst>
          </p:cNvPr>
          <p:cNvSpPr/>
          <p:nvPr/>
        </p:nvSpPr>
        <p:spPr>
          <a:xfrm>
            <a:off x="6863727" y="4389955"/>
            <a:ext cx="1600200" cy="1609983"/>
          </a:xfrm>
          <a:prstGeom prst="roundRect">
            <a:avLst/>
          </a:prstGeom>
          <a:solidFill>
            <a:srgbClr val="572B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5" name="Рисунок 34" descr="Изображение выглядит как Шрифт, Графика, логотип,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744537D-C456-E71D-89F7-6BEF2955009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525" y="4935225"/>
            <a:ext cx="1742667" cy="435667"/>
          </a:xfrm>
          <a:prstGeom prst="rect">
            <a:avLst/>
          </a:prstGeom>
        </p:spPr>
      </p:pic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CCCC80A0-9A96-0BF7-5F25-F18BB8188F38}"/>
              </a:ext>
            </a:extLst>
          </p:cNvPr>
          <p:cNvSpPr/>
          <p:nvPr/>
        </p:nvSpPr>
        <p:spPr>
          <a:xfrm>
            <a:off x="6487780" y="3116616"/>
            <a:ext cx="2361003" cy="1439757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OSRM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Построение маршрутов</a:t>
            </a: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89D7422-7385-BCCE-335E-AB1C403FA0E0}"/>
              </a:ext>
            </a:extLst>
          </p:cNvPr>
          <p:cNvSpPr/>
          <p:nvPr/>
        </p:nvSpPr>
        <p:spPr>
          <a:xfrm>
            <a:off x="9750066" y="4389955"/>
            <a:ext cx="1600200" cy="160998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9" name="Рисунок 38" descr="Одна шестеренка со сплошной заливкой">
            <a:extLst>
              <a:ext uri="{FF2B5EF4-FFF2-40B4-BE49-F238E27FC236}">
                <a16:creationId xmlns:a16="http://schemas.microsoft.com/office/drawing/2014/main" id="{85306515-9158-2D32-DD7A-0571E7680A4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020743" y="4660470"/>
            <a:ext cx="1068952" cy="1068952"/>
          </a:xfrm>
          <a:prstGeom prst="rect">
            <a:avLst/>
          </a:prstGeom>
        </p:spPr>
      </p:pic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D1D9CA48-1288-385E-6F94-6176E4110E9B}"/>
              </a:ext>
            </a:extLst>
          </p:cNvPr>
          <p:cNvSpPr/>
          <p:nvPr/>
        </p:nvSpPr>
        <p:spPr>
          <a:xfrm>
            <a:off x="9349084" y="3131130"/>
            <a:ext cx="2361003" cy="1439757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Custom Map Engine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Собственный движок карт</a:t>
            </a:r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81C7DE21-9541-84BC-66D8-DEB6470B283A}"/>
              </a:ext>
            </a:extLst>
          </p:cNvPr>
          <p:cNvSpPr/>
          <p:nvPr/>
        </p:nvSpPr>
        <p:spPr>
          <a:xfrm>
            <a:off x="17192401" y="-1604809"/>
            <a:ext cx="2009775" cy="10353368"/>
          </a:xfrm>
          <a:prstGeom prst="round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D11227EF-256C-0BA3-F281-2CE16F4EFE97}"/>
              </a:ext>
            </a:extLst>
          </p:cNvPr>
          <p:cNvSpPr/>
          <p:nvPr/>
        </p:nvSpPr>
        <p:spPr>
          <a:xfrm>
            <a:off x="17774307" y="628383"/>
            <a:ext cx="758877" cy="422332"/>
          </a:xfrm>
          <a:prstGeom prst="roundRect">
            <a:avLst>
              <a:gd name="adj" fmla="val 50000"/>
            </a:avLst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8" name="Рисунок 47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C516E5D-43B5-5275-B6D8-AD07D276D72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2580" y="628383"/>
            <a:ext cx="422332" cy="422332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0CEF0BF8-4419-5C4B-6E97-BFEB919FD963}"/>
              </a:ext>
            </a:extLst>
          </p:cNvPr>
          <p:cNvSpPr txBox="1"/>
          <p:nvPr/>
        </p:nvSpPr>
        <p:spPr>
          <a:xfrm>
            <a:off x="17129538" y="1426819"/>
            <a:ext cx="1942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Backend </a:t>
            </a:r>
            <a:r>
              <a:rPr lang="ru-RU" sz="2000" b="1" dirty="0"/>
              <a:t>и </a:t>
            </a:r>
            <a:r>
              <a:rPr lang="en-US" sz="2000" b="1" dirty="0"/>
              <a:t>ML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817799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61989-7393-3B3B-E6CF-C2BFF5EEC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 descr="Изображение выглядит как зеленый, Красочность, све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58D365F-35F0-35FD-4904-892F8BB76C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Прямая соединительная линия 1" hidden="1">
            <a:extLst>
              <a:ext uri="{FF2B5EF4-FFF2-40B4-BE49-F238E27FC236}">
                <a16:creationId xmlns:a16="http://schemas.microsoft.com/office/drawing/2014/main" id="{BCDF2926-5B60-CEBF-0B2B-B4461A6F7250}"/>
              </a:ext>
            </a:extLst>
          </p:cNvPr>
          <p:cNvCxnSpPr/>
          <p:nvPr/>
        </p:nvCxnSpPr>
        <p:spPr>
          <a:xfrm>
            <a:off x="9942286" y="6589486"/>
            <a:ext cx="18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 hidden="1">
            <a:extLst>
              <a:ext uri="{FF2B5EF4-FFF2-40B4-BE49-F238E27FC236}">
                <a16:creationId xmlns:a16="http://schemas.microsoft.com/office/drawing/2014/main" id="{204857E0-912D-5D42-B986-396485066046}"/>
              </a:ext>
            </a:extLst>
          </p:cNvPr>
          <p:cNvCxnSpPr>
            <a:cxnSpLocks/>
          </p:cNvCxnSpPr>
          <p:nvPr/>
        </p:nvCxnSpPr>
        <p:spPr>
          <a:xfrm>
            <a:off x="9942286" y="6587896"/>
            <a:ext cx="594000" cy="0"/>
          </a:xfrm>
          <a:prstGeom prst="line">
            <a:avLst/>
          </a:prstGeom>
          <a:ln>
            <a:solidFill>
              <a:srgbClr val="97E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 hidden="1">
            <a:extLst>
              <a:ext uri="{FF2B5EF4-FFF2-40B4-BE49-F238E27FC236}">
                <a16:creationId xmlns:a16="http://schemas.microsoft.com/office/drawing/2014/main" id="{3A82B2EE-D4C7-539B-7263-0E562F7168BE}"/>
              </a:ext>
            </a:extLst>
          </p:cNvPr>
          <p:cNvCxnSpPr>
            <a:cxnSpLocks/>
          </p:cNvCxnSpPr>
          <p:nvPr/>
        </p:nvCxnSpPr>
        <p:spPr>
          <a:xfrm flipV="1">
            <a:off x="10533764" y="6517481"/>
            <a:ext cx="0" cy="79148"/>
          </a:xfrm>
          <a:prstGeom prst="line">
            <a:avLst/>
          </a:prstGeom>
          <a:ln w="12700">
            <a:solidFill>
              <a:srgbClr val="97E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 descr="Инструменты со сплошной заливкой" hidden="1">
            <a:extLst>
              <a:ext uri="{FF2B5EF4-FFF2-40B4-BE49-F238E27FC236}">
                <a16:creationId xmlns:a16="http://schemas.microsoft.com/office/drawing/2014/main" id="{DD39C903-8A0F-7F7E-E290-886F6B82EF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91866" y="6445250"/>
            <a:ext cx="83795" cy="83795"/>
          </a:xfrm>
          <a:prstGeom prst="rect">
            <a:avLst/>
          </a:prstGeom>
        </p:spPr>
      </p:pic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1618209C-63D9-5166-15AA-87A676BEB067}"/>
              </a:ext>
            </a:extLst>
          </p:cNvPr>
          <p:cNvSpPr/>
          <p:nvPr/>
        </p:nvSpPr>
        <p:spPr>
          <a:xfrm>
            <a:off x="-17046453" y="-609600"/>
            <a:ext cx="13377862" cy="8362950"/>
          </a:xfrm>
          <a:prstGeom prst="roundRect">
            <a:avLst/>
          </a:prstGeom>
          <a:solidFill>
            <a:schemeClr val="accent3">
              <a:lumMod val="20000"/>
              <a:lumOff val="80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524934D4-36C3-66A0-0F72-5358BA48B595}"/>
              </a:ext>
            </a:extLst>
          </p:cNvPr>
          <p:cNvSpPr/>
          <p:nvPr/>
        </p:nvSpPr>
        <p:spPr>
          <a:xfrm>
            <a:off x="-11005893" y="220422"/>
            <a:ext cx="1705570" cy="1012090"/>
          </a:xfrm>
          <a:prstGeom prst="roundRect">
            <a:avLst>
              <a:gd name="adj" fmla="val 50000"/>
            </a:avLst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 descr="Карта с кнопкой со сплошной заливкой">
            <a:extLst>
              <a:ext uri="{FF2B5EF4-FFF2-40B4-BE49-F238E27FC236}">
                <a16:creationId xmlns:a16="http://schemas.microsoft.com/office/drawing/2014/main" id="{B59769B8-1866-9DF6-896B-EBC2A8790E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0753119" y="76498"/>
            <a:ext cx="1212853" cy="1212853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49E53BF1-576A-C419-590D-E132B3E70ABD}"/>
              </a:ext>
            </a:extLst>
          </p:cNvPr>
          <p:cNvSpPr txBox="1"/>
          <p:nvPr/>
        </p:nvSpPr>
        <p:spPr>
          <a:xfrm>
            <a:off x="-11327195" y="1487108"/>
            <a:ext cx="23610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Картография и Геосервисы</a:t>
            </a:r>
          </a:p>
        </p:txBody>
      </p:sp>
      <p:sp>
        <p:nvSpPr>
          <p:cNvPr id="54" name="Прямоугольник: скругленные углы 53">
            <a:extLst>
              <a:ext uri="{FF2B5EF4-FFF2-40B4-BE49-F238E27FC236}">
                <a16:creationId xmlns:a16="http://schemas.microsoft.com/office/drawing/2014/main" id="{17AFF93B-4B4D-4CD9-293C-DC02CD6D6297}"/>
              </a:ext>
            </a:extLst>
          </p:cNvPr>
          <p:cNvSpPr/>
          <p:nvPr/>
        </p:nvSpPr>
        <p:spPr>
          <a:xfrm>
            <a:off x="20267057" y="-609600"/>
            <a:ext cx="2009775" cy="8362949"/>
          </a:xfrm>
          <a:prstGeom prst="roundRect">
            <a:avLst/>
          </a:prstGeom>
          <a:solidFill>
            <a:srgbClr val="FFF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Прямоугольник: скругленные углы 56">
            <a:extLst>
              <a:ext uri="{FF2B5EF4-FFF2-40B4-BE49-F238E27FC236}">
                <a16:creationId xmlns:a16="http://schemas.microsoft.com/office/drawing/2014/main" id="{2704DFF3-491D-13FE-25F1-C58498D45764}"/>
              </a:ext>
            </a:extLst>
          </p:cNvPr>
          <p:cNvSpPr/>
          <p:nvPr/>
        </p:nvSpPr>
        <p:spPr>
          <a:xfrm>
            <a:off x="20892505" y="258965"/>
            <a:ext cx="758877" cy="422332"/>
          </a:xfrm>
          <a:prstGeom prst="roundRect">
            <a:avLst>
              <a:gd name="adj" fmla="val 50000"/>
            </a:avLst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6" name="Рисунок 55" descr="Изображение выглядит как пространство, ночь, темнота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3858CD8-C11F-F0E2-4108-FB02069F6D3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1006995" y="314305"/>
            <a:ext cx="530645" cy="294803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8E38AA72-8726-8D47-16DF-1BBDD850629A}"/>
              </a:ext>
            </a:extLst>
          </p:cNvPr>
          <p:cNvSpPr txBox="1"/>
          <p:nvPr/>
        </p:nvSpPr>
        <p:spPr>
          <a:xfrm>
            <a:off x="20300782" y="911813"/>
            <a:ext cx="19423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DevOps </a:t>
            </a:r>
            <a:r>
              <a:rPr lang="ru-RU" sz="2000" b="1" dirty="0"/>
              <a:t>и сборка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3A3CBF96-0761-E862-5332-CF8EF869C170}"/>
              </a:ext>
            </a:extLst>
          </p:cNvPr>
          <p:cNvGrpSpPr/>
          <p:nvPr/>
        </p:nvGrpSpPr>
        <p:grpSpPr>
          <a:xfrm>
            <a:off x="-15720267" y="4389956"/>
            <a:ext cx="1600200" cy="1609983"/>
            <a:chOff x="-15720267" y="4389956"/>
            <a:chExt cx="1600200" cy="1609983"/>
          </a:xfrm>
        </p:grpSpPr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0D215FC1-6D05-24DF-C3A6-27FDBCB13C3F}"/>
                </a:ext>
              </a:extLst>
            </p:cNvPr>
            <p:cNvSpPr/>
            <p:nvPr/>
          </p:nvSpPr>
          <p:spPr>
            <a:xfrm>
              <a:off x="-15720267" y="4389956"/>
              <a:ext cx="1600200" cy="1609983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1" name="Рисунок 20" descr="Изображение выглядит как текст, Графика, Шрифт, графическая вставка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7E0C21AF-2625-7EDC-B835-CE7B094635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002" r="30743" b="27193"/>
            <a:stretch>
              <a:fillRect/>
            </a:stretch>
          </p:blipFill>
          <p:spPr>
            <a:xfrm>
              <a:off x="-15418587" y="4755890"/>
              <a:ext cx="1142445" cy="902798"/>
            </a:xfrm>
            <a:prstGeom prst="rect">
              <a:avLst/>
            </a:prstGeom>
          </p:spPr>
        </p:pic>
      </p:grp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3FA945A9-BE7D-1454-E0E9-E8EFDEFD4D45}"/>
              </a:ext>
            </a:extLst>
          </p:cNvPr>
          <p:cNvSpPr/>
          <p:nvPr/>
        </p:nvSpPr>
        <p:spPr>
          <a:xfrm>
            <a:off x="-16075444" y="3119894"/>
            <a:ext cx="2361003" cy="1439757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OpenStreetMap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Открытые картографические данные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6E995D5D-9ECD-3B00-CAB2-4D0A7EE5D4EC}"/>
              </a:ext>
            </a:extLst>
          </p:cNvPr>
          <p:cNvSpPr/>
          <p:nvPr/>
        </p:nvSpPr>
        <p:spPr>
          <a:xfrm>
            <a:off x="-12709073" y="4389956"/>
            <a:ext cx="1600200" cy="160998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1" name="Рисунок 30" descr="Изображение выглядит как логотип, символ, дизайн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2A216BA-1793-AFB4-386D-D5DD27525BC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73195" y="4710794"/>
            <a:ext cx="1001671" cy="1001671"/>
          </a:xfrm>
          <a:prstGeom prst="rect">
            <a:avLst/>
          </a:prstGeom>
        </p:spPr>
      </p:pic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FAFE3B08-EB18-063D-99F8-531C844AA488}"/>
              </a:ext>
            </a:extLst>
          </p:cNvPr>
          <p:cNvSpPr/>
          <p:nvPr/>
        </p:nvSpPr>
        <p:spPr>
          <a:xfrm>
            <a:off x="-13077105" y="3116616"/>
            <a:ext cx="2361003" cy="1439757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Nominatim</a:t>
            </a:r>
            <a:r>
              <a:rPr lang="en-US" b="1" dirty="0">
                <a:solidFill>
                  <a:schemeClr val="tx1"/>
                </a:solidFill>
              </a:rPr>
              <a:t> API</a:t>
            </a:r>
          </a:p>
          <a:p>
            <a:pPr algn="ctr"/>
            <a:r>
              <a:rPr lang="ru-RU" dirty="0" err="1">
                <a:solidFill>
                  <a:schemeClr val="tx1"/>
                </a:solidFill>
              </a:rPr>
              <a:t>Геокодинг</a:t>
            </a:r>
            <a:r>
              <a:rPr lang="ru-RU" dirty="0">
                <a:solidFill>
                  <a:schemeClr val="tx1"/>
                </a:solidFill>
              </a:rPr>
              <a:t> и поиск адресов</a:t>
            </a: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084DFB76-B325-CC95-B03A-1865A515D8AF}"/>
              </a:ext>
            </a:extLst>
          </p:cNvPr>
          <p:cNvSpPr/>
          <p:nvPr/>
        </p:nvSpPr>
        <p:spPr>
          <a:xfrm>
            <a:off x="-9697073" y="4389955"/>
            <a:ext cx="1600200" cy="1609983"/>
          </a:xfrm>
          <a:prstGeom prst="roundRect">
            <a:avLst/>
          </a:prstGeom>
          <a:solidFill>
            <a:srgbClr val="572B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5" name="Рисунок 34" descr="Изображение выглядит как Шрифт, Графика, логотип,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17DB3F9-4789-3504-23D3-A835EFF9A43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44275" y="4935225"/>
            <a:ext cx="1742667" cy="435667"/>
          </a:xfrm>
          <a:prstGeom prst="rect">
            <a:avLst/>
          </a:prstGeom>
        </p:spPr>
      </p:pic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7C748ED1-1902-F842-913D-510F7922BF50}"/>
              </a:ext>
            </a:extLst>
          </p:cNvPr>
          <p:cNvSpPr/>
          <p:nvPr/>
        </p:nvSpPr>
        <p:spPr>
          <a:xfrm>
            <a:off x="-10073020" y="3116616"/>
            <a:ext cx="2361003" cy="1439757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OSRM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Построение маршрутов</a:t>
            </a: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93ED23D7-4827-03A2-C43F-C46A3CFDF602}"/>
              </a:ext>
            </a:extLst>
          </p:cNvPr>
          <p:cNvSpPr/>
          <p:nvPr/>
        </p:nvSpPr>
        <p:spPr>
          <a:xfrm>
            <a:off x="-6810734" y="4389955"/>
            <a:ext cx="1600200" cy="160998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9" name="Рисунок 38" descr="Одна шестеренка со сплошной заливкой">
            <a:extLst>
              <a:ext uri="{FF2B5EF4-FFF2-40B4-BE49-F238E27FC236}">
                <a16:creationId xmlns:a16="http://schemas.microsoft.com/office/drawing/2014/main" id="{8E8F600F-11EC-7B8E-2428-7D7AE976774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6540057" y="4660470"/>
            <a:ext cx="1068952" cy="1068952"/>
          </a:xfrm>
          <a:prstGeom prst="rect">
            <a:avLst/>
          </a:prstGeom>
        </p:spPr>
      </p:pic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E5C70FAB-E638-275E-B1BB-518B04874BB1}"/>
              </a:ext>
            </a:extLst>
          </p:cNvPr>
          <p:cNvSpPr/>
          <p:nvPr/>
        </p:nvSpPr>
        <p:spPr>
          <a:xfrm>
            <a:off x="-7211716" y="3131130"/>
            <a:ext cx="2361003" cy="1439757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Custom Map Engine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Собственный движок карт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60136F5-A48D-1271-7248-95E4FDDCEC7B}"/>
              </a:ext>
            </a:extLst>
          </p:cNvPr>
          <p:cNvSpPr/>
          <p:nvPr/>
        </p:nvSpPr>
        <p:spPr>
          <a:xfrm>
            <a:off x="-1273168" y="-609600"/>
            <a:ext cx="14811463" cy="8362950"/>
          </a:xfrm>
          <a:prstGeom prst="round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02EB30A0-80A8-F5A2-175A-0F604798DE9E}"/>
              </a:ext>
            </a:extLst>
          </p:cNvPr>
          <p:cNvSpPr/>
          <p:nvPr/>
        </p:nvSpPr>
        <p:spPr>
          <a:xfrm>
            <a:off x="5259131" y="133337"/>
            <a:ext cx="1673738" cy="1156014"/>
          </a:xfrm>
          <a:prstGeom prst="roundRect">
            <a:avLst>
              <a:gd name="adj" fmla="val 50000"/>
            </a:avLst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40F0767-34F6-E32D-EAC1-50B8F388C67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5865" y="204646"/>
            <a:ext cx="1013396" cy="1013396"/>
          </a:xfrm>
          <a:prstGeom prst="rect">
            <a:avLst/>
          </a:prstGeom>
        </p:spPr>
      </p:pic>
      <p:grpSp>
        <p:nvGrpSpPr>
          <p:cNvPr id="72" name="Группа 71">
            <a:extLst>
              <a:ext uri="{FF2B5EF4-FFF2-40B4-BE49-F238E27FC236}">
                <a16:creationId xmlns:a16="http://schemas.microsoft.com/office/drawing/2014/main" id="{940F8B8A-CBBB-CE64-7888-9910B4394F54}"/>
              </a:ext>
            </a:extLst>
          </p:cNvPr>
          <p:cNvGrpSpPr/>
          <p:nvPr/>
        </p:nvGrpSpPr>
        <p:grpSpPr>
          <a:xfrm>
            <a:off x="738353" y="4251645"/>
            <a:ext cx="1600200" cy="1609983"/>
            <a:chOff x="738353" y="4251645"/>
            <a:chExt cx="1600200" cy="1609983"/>
          </a:xfrm>
        </p:grpSpPr>
        <p:sp>
          <p:nvSpPr>
            <p:cNvPr id="38" name="Прямоугольник: скругленные углы 37">
              <a:extLst>
                <a:ext uri="{FF2B5EF4-FFF2-40B4-BE49-F238E27FC236}">
                  <a16:creationId xmlns:a16="http://schemas.microsoft.com/office/drawing/2014/main" id="{D151EE7B-CF38-4D5C-F366-8753FFF04851}"/>
                </a:ext>
              </a:extLst>
            </p:cNvPr>
            <p:cNvSpPr/>
            <p:nvPr/>
          </p:nvSpPr>
          <p:spPr>
            <a:xfrm>
              <a:off x="738353" y="4251645"/>
              <a:ext cx="1600200" cy="160998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42" name="Рисунок 41" descr="Изображение выглядит как Шрифт, Графика, графический дизайн, логотип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4FD0F69F-F007-AF02-3329-72A0DA8CC3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6542" y="4931539"/>
              <a:ext cx="1423822" cy="263407"/>
            </a:xfrm>
            <a:prstGeom prst="rect">
              <a:avLst/>
            </a:prstGeom>
          </p:spPr>
        </p:pic>
      </p:grp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458AB1E8-F47F-8C19-F479-2ABA3C5088E1}"/>
              </a:ext>
            </a:extLst>
          </p:cNvPr>
          <p:cNvSpPr/>
          <p:nvPr/>
        </p:nvSpPr>
        <p:spPr>
          <a:xfrm>
            <a:off x="344299" y="2969807"/>
            <a:ext cx="2361003" cy="1439757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FastAPI</a:t>
            </a:r>
            <a:endParaRPr lang="ru-RU" b="1" dirty="0">
              <a:solidFill>
                <a:schemeClr val="tx1"/>
              </a:solidFill>
            </a:endParaRPr>
          </a:p>
          <a:p>
            <a:pPr algn="ctr"/>
            <a:r>
              <a:rPr lang="ru-RU" dirty="0">
                <a:solidFill>
                  <a:schemeClr val="tx1"/>
                </a:solidFill>
              </a:rPr>
              <a:t>Современный </a:t>
            </a:r>
            <a:r>
              <a:rPr lang="en-US" dirty="0">
                <a:solidFill>
                  <a:schemeClr val="tx1"/>
                </a:solidFill>
              </a:rPr>
              <a:t>Python web framework</a:t>
            </a:r>
            <a:endParaRPr lang="ru-RU" dirty="0">
              <a:solidFill>
                <a:schemeClr val="tx1"/>
              </a:solidFill>
            </a:endParaRPr>
          </a:p>
        </p:txBody>
      </p:sp>
      <p:grpSp>
        <p:nvGrpSpPr>
          <p:cNvPr id="73" name="Группа 72">
            <a:extLst>
              <a:ext uri="{FF2B5EF4-FFF2-40B4-BE49-F238E27FC236}">
                <a16:creationId xmlns:a16="http://schemas.microsoft.com/office/drawing/2014/main" id="{FEACC42D-EC0A-9467-C37A-7DED0C773084}"/>
              </a:ext>
            </a:extLst>
          </p:cNvPr>
          <p:cNvGrpSpPr/>
          <p:nvPr/>
        </p:nvGrpSpPr>
        <p:grpSpPr>
          <a:xfrm>
            <a:off x="3845687" y="4258250"/>
            <a:ext cx="1600200" cy="1609983"/>
            <a:chOff x="3845687" y="4258250"/>
            <a:chExt cx="1600200" cy="1609983"/>
          </a:xfrm>
        </p:grpSpPr>
        <p:sp>
          <p:nvSpPr>
            <p:cNvPr id="45" name="Прямоугольник: скругленные углы 44">
              <a:extLst>
                <a:ext uri="{FF2B5EF4-FFF2-40B4-BE49-F238E27FC236}">
                  <a16:creationId xmlns:a16="http://schemas.microsoft.com/office/drawing/2014/main" id="{DC04B794-2E32-043F-EE69-D36D7DA129FB}"/>
                </a:ext>
              </a:extLst>
            </p:cNvPr>
            <p:cNvSpPr/>
            <p:nvPr/>
          </p:nvSpPr>
          <p:spPr>
            <a:xfrm>
              <a:off x="3845687" y="4258250"/>
              <a:ext cx="1600200" cy="160998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48" name="Рисунок 47" descr="Изображение выглядит как Графика, Шрифт, логотип, круг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DE0A48D3-0D34-C64B-8DBF-42FE9A3AE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06250" y="4739369"/>
              <a:ext cx="1079073" cy="581647"/>
            </a:xfrm>
            <a:prstGeom prst="rect">
              <a:avLst/>
            </a:prstGeom>
          </p:spPr>
        </p:pic>
      </p:grpSp>
      <p:sp>
        <p:nvSpPr>
          <p:cNvPr id="60" name="Прямоугольник: скругленные углы 59">
            <a:extLst>
              <a:ext uri="{FF2B5EF4-FFF2-40B4-BE49-F238E27FC236}">
                <a16:creationId xmlns:a16="http://schemas.microsoft.com/office/drawing/2014/main" id="{752A51AC-F473-29A8-29E6-CDF2B4852B2E}"/>
              </a:ext>
            </a:extLst>
          </p:cNvPr>
          <p:cNvSpPr/>
          <p:nvPr/>
        </p:nvSpPr>
        <p:spPr>
          <a:xfrm>
            <a:off x="3465284" y="2950198"/>
            <a:ext cx="2361003" cy="1439757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Scikit-learn</a:t>
            </a:r>
            <a:endParaRPr lang="ru-RU" b="1" dirty="0">
              <a:solidFill>
                <a:schemeClr val="tx1"/>
              </a:solidFill>
            </a:endParaRPr>
          </a:p>
          <a:p>
            <a:pPr algn="ctr"/>
            <a:r>
              <a:rPr lang="ru-RU" dirty="0">
                <a:solidFill>
                  <a:schemeClr val="tx1"/>
                </a:solidFill>
              </a:rPr>
              <a:t>Машинное обучение (</a:t>
            </a:r>
            <a:r>
              <a:rPr lang="en-US" dirty="0">
                <a:solidFill>
                  <a:schemeClr val="tx1"/>
                </a:solidFill>
              </a:rPr>
              <a:t>Gradient Boosting)</a:t>
            </a:r>
            <a:endParaRPr lang="ru-RU" dirty="0">
              <a:solidFill>
                <a:schemeClr val="tx1"/>
              </a:solidFill>
            </a:endParaRPr>
          </a:p>
        </p:txBody>
      </p:sp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A36A36F9-6723-8C4B-0317-22C2ADE8ADC7}"/>
              </a:ext>
            </a:extLst>
          </p:cNvPr>
          <p:cNvGrpSpPr/>
          <p:nvPr/>
        </p:nvGrpSpPr>
        <p:grpSpPr>
          <a:xfrm>
            <a:off x="7041210" y="4258250"/>
            <a:ext cx="1600200" cy="1609983"/>
            <a:chOff x="7041210" y="4258250"/>
            <a:chExt cx="1600200" cy="1609983"/>
          </a:xfrm>
        </p:grpSpPr>
        <p:sp>
          <p:nvSpPr>
            <p:cNvPr id="61" name="Прямоугольник: скругленные углы 60">
              <a:extLst>
                <a:ext uri="{FF2B5EF4-FFF2-40B4-BE49-F238E27FC236}">
                  <a16:creationId xmlns:a16="http://schemas.microsoft.com/office/drawing/2014/main" id="{5CC7907A-79AD-907B-22E7-2C0ECFCD1CE2}"/>
                </a:ext>
              </a:extLst>
            </p:cNvPr>
            <p:cNvSpPr/>
            <p:nvPr/>
          </p:nvSpPr>
          <p:spPr>
            <a:xfrm>
              <a:off x="7041210" y="4258250"/>
              <a:ext cx="1600200" cy="160998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63" name="Рисунок 62" descr="Изображение выглядит как снимок экрана, текст, дизайн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60ADF114-AFB9-64C5-A7A6-9A60E102F4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05800" y="4581974"/>
              <a:ext cx="1271019" cy="1286259"/>
            </a:xfrm>
            <a:prstGeom prst="rect">
              <a:avLst/>
            </a:prstGeom>
          </p:spPr>
        </p:pic>
      </p:grpSp>
      <p:sp>
        <p:nvSpPr>
          <p:cNvPr id="64" name="Прямоугольник: скругленные углы 63">
            <a:extLst>
              <a:ext uri="{FF2B5EF4-FFF2-40B4-BE49-F238E27FC236}">
                <a16:creationId xmlns:a16="http://schemas.microsoft.com/office/drawing/2014/main" id="{0FDBA42A-437E-E89D-90E9-F07E7F4FD1E8}"/>
              </a:ext>
            </a:extLst>
          </p:cNvPr>
          <p:cNvSpPr/>
          <p:nvPr/>
        </p:nvSpPr>
        <p:spPr>
          <a:xfrm>
            <a:off x="6660807" y="2950197"/>
            <a:ext cx="2361003" cy="1439757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Pandas &amp; NumPy</a:t>
            </a:r>
            <a:endParaRPr lang="ru-RU" b="1" dirty="0">
              <a:solidFill>
                <a:schemeClr val="tx1"/>
              </a:solidFill>
            </a:endParaRPr>
          </a:p>
          <a:p>
            <a:pPr algn="ctr"/>
            <a:r>
              <a:rPr lang="ru-RU" dirty="0">
                <a:solidFill>
                  <a:schemeClr val="tx1"/>
                </a:solidFill>
              </a:rPr>
              <a:t>Обработка данных</a:t>
            </a:r>
          </a:p>
        </p:txBody>
      </p: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D1C4D321-C0F2-9171-ABFC-48B7419D0E8F}"/>
              </a:ext>
            </a:extLst>
          </p:cNvPr>
          <p:cNvGrpSpPr/>
          <p:nvPr/>
        </p:nvGrpSpPr>
        <p:grpSpPr>
          <a:xfrm>
            <a:off x="9975075" y="4258250"/>
            <a:ext cx="1600200" cy="1609983"/>
            <a:chOff x="9975075" y="4258250"/>
            <a:chExt cx="1600200" cy="1609983"/>
          </a:xfrm>
        </p:grpSpPr>
        <p:sp>
          <p:nvSpPr>
            <p:cNvPr id="66" name="Прямоугольник: скругленные углы 65">
              <a:extLst>
                <a:ext uri="{FF2B5EF4-FFF2-40B4-BE49-F238E27FC236}">
                  <a16:creationId xmlns:a16="http://schemas.microsoft.com/office/drawing/2014/main" id="{16246D1E-F478-9D6E-9E26-DC474B0BE855}"/>
                </a:ext>
              </a:extLst>
            </p:cNvPr>
            <p:cNvSpPr/>
            <p:nvPr/>
          </p:nvSpPr>
          <p:spPr>
            <a:xfrm>
              <a:off x="9975075" y="4258250"/>
              <a:ext cx="1600200" cy="1609983"/>
            </a:xfrm>
            <a:prstGeom prst="roundRect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70" name="Рисунок 69" descr="Изображение выглядит как лошадь, Фигурка животного, искусство, творческий подход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9512CCD1-B99A-4E9D-3231-5F8F2B878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56969" y="4511986"/>
              <a:ext cx="1036411" cy="1036411"/>
            </a:xfrm>
            <a:prstGeom prst="rect">
              <a:avLst/>
            </a:prstGeom>
          </p:spPr>
        </p:pic>
      </p:grpSp>
      <p:sp>
        <p:nvSpPr>
          <p:cNvPr id="71" name="Прямоугольник: скругленные углы 70">
            <a:extLst>
              <a:ext uri="{FF2B5EF4-FFF2-40B4-BE49-F238E27FC236}">
                <a16:creationId xmlns:a16="http://schemas.microsoft.com/office/drawing/2014/main" id="{ADFADC4D-486F-5752-96B5-AC3EFCF9ED06}"/>
              </a:ext>
            </a:extLst>
          </p:cNvPr>
          <p:cNvSpPr/>
          <p:nvPr/>
        </p:nvSpPr>
        <p:spPr>
          <a:xfrm>
            <a:off x="9594672" y="2969807"/>
            <a:ext cx="2361003" cy="1439757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Uvicorn</a:t>
            </a:r>
            <a:endParaRPr lang="ru-RU" b="1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ASGI </a:t>
            </a:r>
            <a:r>
              <a:rPr lang="ru-RU" dirty="0">
                <a:solidFill>
                  <a:schemeClr val="tx1"/>
                </a:solidFill>
              </a:rPr>
              <a:t>сервер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F750536-F360-7781-F15E-66420D105D19}"/>
              </a:ext>
            </a:extLst>
          </p:cNvPr>
          <p:cNvSpPr txBox="1"/>
          <p:nvPr/>
        </p:nvSpPr>
        <p:spPr>
          <a:xfrm>
            <a:off x="4952061" y="1437286"/>
            <a:ext cx="23610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Backend </a:t>
            </a:r>
            <a:r>
              <a:rPr lang="ru-RU" sz="2400" b="1" dirty="0"/>
              <a:t>и </a:t>
            </a:r>
            <a:r>
              <a:rPr lang="en-US" sz="2400" b="1" dirty="0"/>
              <a:t>ML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252518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ECD41-DE5A-0894-B2D3-DF75C1AC7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 descr="Изображение выглядит как зеленый, Красочность, све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F6AF231-8DF1-B2A1-7763-2D6414ABC5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Прямая соединительная линия 1" hidden="1">
            <a:extLst>
              <a:ext uri="{FF2B5EF4-FFF2-40B4-BE49-F238E27FC236}">
                <a16:creationId xmlns:a16="http://schemas.microsoft.com/office/drawing/2014/main" id="{888BCFE1-8389-0CBA-91CE-3D483428F00E}"/>
              </a:ext>
            </a:extLst>
          </p:cNvPr>
          <p:cNvCxnSpPr/>
          <p:nvPr/>
        </p:nvCxnSpPr>
        <p:spPr>
          <a:xfrm>
            <a:off x="9942286" y="6589486"/>
            <a:ext cx="18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 hidden="1">
            <a:extLst>
              <a:ext uri="{FF2B5EF4-FFF2-40B4-BE49-F238E27FC236}">
                <a16:creationId xmlns:a16="http://schemas.microsoft.com/office/drawing/2014/main" id="{9F2140D8-CC4D-B4B4-005A-3CCC8D3BEB45}"/>
              </a:ext>
            </a:extLst>
          </p:cNvPr>
          <p:cNvCxnSpPr>
            <a:cxnSpLocks/>
          </p:cNvCxnSpPr>
          <p:nvPr/>
        </p:nvCxnSpPr>
        <p:spPr>
          <a:xfrm>
            <a:off x="9942286" y="6587896"/>
            <a:ext cx="594000" cy="0"/>
          </a:xfrm>
          <a:prstGeom prst="line">
            <a:avLst/>
          </a:prstGeom>
          <a:ln>
            <a:solidFill>
              <a:srgbClr val="97E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 hidden="1">
            <a:extLst>
              <a:ext uri="{FF2B5EF4-FFF2-40B4-BE49-F238E27FC236}">
                <a16:creationId xmlns:a16="http://schemas.microsoft.com/office/drawing/2014/main" id="{70F5890E-ECEA-83CE-8B77-C79B8F1B2401}"/>
              </a:ext>
            </a:extLst>
          </p:cNvPr>
          <p:cNvCxnSpPr>
            <a:cxnSpLocks/>
          </p:cNvCxnSpPr>
          <p:nvPr/>
        </p:nvCxnSpPr>
        <p:spPr>
          <a:xfrm flipV="1">
            <a:off x="10533764" y="6517481"/>
            <a:ext cx="0" cy="79148"/>
          </a:xfrm>
          <a:prstGeom prst="line">
            <a:avLst/>
          </a:prstGeom>
          <a:ln w="12700">
            <a:solidFill>
              <a:srgbClr val="97E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 descr="Инструменты со сплошной заливкой" hidden="1">
            <a:extLst>
              <a:ext uri="{FF2B5EF4-FFF2-40B4-BE49-F238E27FC236}">
                <a16:creationId xmlns:a16="http://schemas.microsoft.com/office/drawing/2014/main" id="{2E59A9C8-41E4-8B5F-02EC-8E4135A035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91866" y="6445250"/>
            <a:ext cx="83795" cy="83795"/>
          </a:xfrm>
          <a:prstGeom prst="rect">
            <a:avLst/>
          </a:prstGeom>
        </p:spPr>
      </p:pic>
      <p:sp>
        <p:nvSpPr>
          <p:cNvPr id="54" name="Прямоугольник: скругленные углы 53">
            <a:extLst>
              <a:ext uri="{FF2B5EF4-FFF2-40B4-BE49-F238E27FC236}">
                <a16:creationId xmlns:a16="http://schemas.microsoft.com/office/drawing/2014/main" id="{CA1B0696-930B-D396-0ACD-BB763025D393}"/>
              </a:ext>
            </a:extLst>
          </p:cNvPr>
          <p:cNvSpPr/>
          <p:nvPr/>
        </p:nvSpPr>
        <p:spPr>
          <a:xfrm>
            <a:off x="-771524" y="-438150"/>
            <a:ext cx="14058899" cy="7734300"/>
          </a:xfrm>
          <a:prstGeom prst="roundRect">
            <a:avLst/>
          </a:prstGeom>
          <a:solidFill>
            <a:srgbClr val="FFF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Прямоугольник: скругленные углы 56">
            <a:extLst>
              <a:ext uri="{FF2B5EF4-FFF2-40B4-BE49-F238E27FC236}">
                <a16:creationId xmlns:a16="http://schemas.microsoft.com/office/drawing/2014/main" id="{86DE359A-B9F4-A70C-8DDC-3039A0FA1208}"/>
              </a:ext>
            </a:extLst>
          </p:cNvPr>
          <p:cNvSpPr/>
          <p:nvPr/>
        </p:nvSpPr>
        <p:spPr>
          <a:xfrm>
            <a:off x="5391150" y="78585"/>
            <a:ext cx="1581150" cy="1093722"/>
          </a:xfrm>
          <a:prstGeom prst="roundRect">
            <a:avLst>
              <a:gd name="adj" fmla="val 50000"/>
            </a:avLst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6" name="Рисунок 55" descr="Изображение выглядит как пространство, ночь, темнота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37B4F44-5010-A36F-EA35-74967233A7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5607729" y="298576"/>
            <a:ext cx="1176731" cy="65374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B091D6A4-73EF-BB5E-9C38-47224A1B6BA1}"/>
              </a:ext>
            </a:extLst>
          </p:cNvPr>
          <p:cNvSpPr txBox="1"/>
          <p:nvPr/>
        </p:nvSpPr>
        <p:spPr>
          <a:xfrm>
            <a:off x="5224935" y="1269143"/>
            <a:ext cx="19423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DevOps </a:t>
            </a:r>
            <a:r>
              <a:rPr lang="ru-RU" sz="2400" b="1" dirty="0"/>
              <a:t>и сборка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1E1E379-C660-5CD0-D081-960CD5120931}"/>
              </a:ext>
            </a:extLst>
          </p:cNvPr>
          <p:cNvSpPr/>
          <p:nvPr/>
        </p:nvSpPr>
        <p:spPr>
          <a:xfrm>
            <a:off x="-18265768" y="-609600"/>
            <a:ext cx="14811463" cy="8362950"/>
          </a:xfrm>
          <a:prstGeom prst="round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437590DB-7E6D-0CC4-BEEF-84A634AC0FD2}"/>
              </a:ext>
            </a:extLst>
          </p:cNvPr>
          <p:cNvSpPr/>
          <p:nvPr/>
        </p:nvSpPr>
        <p:spPr>
          <a:xfrm>
            <a:off x="-11733469" y="133337"/>
            <a:ext cx="1673738" cy="1156014"/>
          </a:xfrm>
          <a:prstGeom prst="roundRect">
            <a:avLst>
              <a:gd name="adj" fmla="val 50000"/>
            </a:avLst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B211092-05ED-EBCF-E441-6797155EAD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366735" y="204646"/>
            <a:ext cx="1013396" cy="1013396"/>
          </a:xfrm>
          <a:prstGeom prst="rect">
            <a:avLst/>
          </a:prstGeom>
        </p:spPr>
      </p:pic>
      <p:grpSp>
        <p:nvGrpSpPr>
          <p:cNvPr id="72" name="Группа 71">
            <a:extLst>
              <a:ext uri="{FF2B5EF4-FFF2-40B4-BE49-F238E27FC236}">
                <a16:creationId xmlns:a16="http://schemas.microsoft.com/office/drawing/2014/main" id="{A0501386-70A5-CD4D-3D83-B43D72323638}"/>
              </a:ext>
            </a:extLst>
          </p:cNvPr>
          <p:cNvGrpSpPr/>
          <p:nvPr/>
        </p:nvGrpSpPr>
        <p:grpSpPr>
          <a:xfrm>
            <a:off x="-16254247" y="4251645"/>
            <a:ext cx="1600200" cy="1609983"/>
            <a:chOff x="738353" y="4251645"/>
            <a:chExt cx="1600200" cy="1609983"/>
          </a:xfrm>
        </p:grpSpPr>
        <p:sp>
          <p:nvSpPr>
            <p:cNvPr id="38" name="Прямоугольник: скругленные углы 37">
              <a:extLst>
                <a:ext uri="{FF2B5EF4-FFF2-40B4-BE49-F238E27FC236}">
                  <a16:creationId xmlns:a16="http://schemas.microsoft.com/office/drawing/2014/main" id="{57709B46-8C56-43BB-24FD-5197EC17C282}"/>
                </a:ext>
              </a:extLst>
            </p:cNvPr>
            <p:cNvSpPr/>
            <p:nvPr/>
          </p:nvSpPr>
          <p:spPr>
            <a:xfrm>
              <a:off x="738353" y="4251645"/>
              <a:ext cx="1600200" cy="160998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42" name="Рисунок 41" descr="Изображение выглядит как Шрифт, Графика, графический дизайн, логотип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AE4AC295-09B8-4B4E-A256-04B4CD1B6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6542" y="4931539"/>
              <a:ext cx="1423822" cy="263407"/>
            </a:xfrm>
            <a:prstGeom prst="rect">
              <a:avLst/>
            </a:prstGeom>
          </p:spPr>
        </p:pic>
      </p:grp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708FD017-7261-DAC4-1B33-C7AA297CF829}"/>
              </a:ext>
            </a:extLst>
          </p:cNvPr>
          <p:cNvSpPr/>
          <p:nvPr/>
        </p:nvSpPr>
        <p:spPr>
          <a:xfrm>
            <a:off x="-16648301" y="2969807"/>
            <a:ext cx="2361003" cy="1439757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FastAPI</a:t>
            </a:r>
            <a:endParaRPr lang="ru-RU" b="1" dirty="0">
              <a:solidFill>
                <a:schemeClr val="tx1"/>
              </a:solidFill>
            </a:endParaRPr>
          </a:p>
          <a:p>
            <a:pPr algn="ctr"/>
            <a:r>
              <a:rPr lang="ru-RU" dirty="0">
                <a:solidFill>
                  <a:schemeClr val="tx1"/>
                </a:solidFill>
              </a:rPr>
              <a:t>Современный </a:t>
            </a:r>
            <a:r>
              <a:rPr lang="en-US" dirty="0">
                <a:solidFill>
                  <a:schemeClr val="tx1"/>
                </a:solidFill>
              </a:rPr>
              <a:t>Python web framework</a:t>
            </a:r>
            <a:endParaRPr lang="ru-RU" dirty="0">
              <a:solidFill>
                <a:schemeClr val="tx1"/>
              </a:solidFill>
            </a:endParaRPr>
          </a:p>
        </p:txBody>
      </p:sp>
      <p:grpSp>
        <p:nvGrpSpPr>
          <p:cNvPr id="73" name="Группа 72">
            <a:extLst>
              <a:ext uri="{FF2B5EF4-FFF2-40B4-BE49-F238E27FC236}">
                <a16:creationId xmlns:a16="http://schemas.microsoft.com/office/drawing/2014/main" id="{E69EEEC0-382B-3509-2843-58ECCC80C052}"/>
              </a:ext>
            </a:extLst>
          </p:cNvPr>
          <p:cNvGrpSpPr/>
          <p:nvPr/>
        </p:nvGrpSpPr>
        <p:grpSpPr>
          <a:xfrm>
            <a:off x="-13146913" y="4258250"/>
            <a:ext cx="1600200" cy="1609983"/>
            <a:chOff x="3845687" y="4258250"/>
            <a:chExt cx="1600200" cy="1609983"/>
          </a:xfrm>
        </p:grpSpPr>
        <p:sp>
          <p:nvSpPr>
            <p:cNvPr id="45" name="Прямоугольник: скругленные углы 44">
              <a:extLst>
                <a:ext uri="{FF2B5EF4-FFF2-40B4-BE49-F238E27FC236}">
                  <a16:creationId xmlns:a16="http://schemas.microsoft.com/office/drawing/2014/main" id="{3FDE59D0-51CC-B8FB-4199-54280C4DD481}"/>
                </a:ext>
              </a:extLst>
            </p:cNvPr>
            <p:cNvSpPr/>
            <p:nvPr/>
          </p:nvSpPr>
          <p:spPr>
            <a:xfrm>
              <a:off x="3845687" y="4258250"/>
              <a:ext cx="1600200" cy="160998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48" name="Рисунок 47" descr="Изображение выглядит как Графика, Шрифт, логотип, круг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243CBC17-CDCE-7877-4DDC-DDDC3B97B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06250" y="4739369"/>
              <a:ext cx="1079073" cy="581647"/>
            </a:xfrm>
            <a:prstGeom prst="rect">
              <a:avLst/>
            </a:prstGeom>
          </p:spPr>
        </p:pic>
      </p:grpSp>
      <p:sp>
        <p:nvSpPr>
          <p:cNvPr id="60" name="Прямоугольник: скругленные углы 59">
            <a:extLst>
              <a:ext uri="{FF2B5EF4-FFF2-40B4-BE49-F238E27FC236}">
                <a16:creationId xmlns:a16="http://schemas.microsoft.com/office/drawing/2014/main" id="{ECB4429E-97ED-C616-58B8-AFDD2D80DE0F}"/>
              </a:ext>
            </a:extLst>
          </p:cNvPr>
          <p:cNvSpPr/>
          <p:nvPr/>
        </p:nvSpPr>
        <p:spPr>
          <a:xfrm>
            <a:off x="-13527316" y="2950198"/>
            <a:ext cx="2361003" cy="1439757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Scikit-learn</a:t>
            </a:r>
            <a:endParaRPr lang="ru-RU" b="1" dirty="0">
              <a:solidFill>
                <a:schemeClr val="tx1"/>
              </a:solidFill>
            </a:endParaRPr>
          </a:p>
          <a:p>
            <a:pPr algn="ctr"/>
            <a:r>
              <a:rPr lang="ru-RU" dirty="0">
                <a:solidFill>
                  <a:schemeClr val="tx1"/>
                </a:solidFill>
              </a:rPr>
              <a:t>Машинное обучение (</a:t>
            </a:r>
            <a:r>
              <a:rPr lang="en-US" dirty="0">
                <a:solidFill>
                  <a:schemeClr val="tx1"/>
                </a:solidFill>
              </a:rPr>
              <a:t>Gradient Boosting)</a:t>
            </a:r>
            <a:endParaRPr lang="ru-RU" dirty="0">
              <a:solidFill>
                <a:schemeClr val="tx1"/>
              </a:solidFill>
            </a:endParaRPr>
          </a:p>
        </p:txBody>
      </p:sp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A16A0469-D202-D506-746D-0E0681017646}"/>
              </a:ext>
            </a:extLst>
          </p:cNvPr>
          <p:cNvGrpSpPr/>
          <p:nvPr/>
        </p:nvGrpSpPr>
        <p:grpSpPr>
          <a:xfrm>
            <a:off x="-9951390" y="4258250"/>
            <a:ext cx="1600200" cy="1609983"/>
            <a:chOff x="7041210" y="4258250"/>
            <a:chExt cx="1600200" cy="1609983"/>
          </a:xfrm>
        </p:grpSpPr>
        <p:sp>
          <p:nvSpPr>
            <p:cNvPr id="61" name="Прямоугольник: скругленные углы 60">
              <a:extLst>
                <a:ext uri="{FF2B5EF4-FFF2-40B4-BE49-F238E27FC236}">
                  <a16:creationId xmlns:a16="http://schemas.microsoft.com/office/drawing/2014/main" id="{3EB66067-4699-4072-222D-6709D03EE2EB}"/>
                </a:ext>
              </a:extLst>
            </p:cNvPr>
            <p:cNvSpPr/>
            <p:nvPr/>
          </p:nvSpPr>
          <p:spPr>
            <a:xfrm>
              <a:off x="7041210" y="4258250"/>
              <a:ext cx="1600200" cy="160998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63" name="Рисунок 62" descr="Изображение выглядит как снимок экрана, текст, дизайн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629C2BC9-D6A7-ABD1-A857-AD04EBE69D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05800" y="4581974"/>
              <a:ext cx="1271019" cy="1286259"/>
            </a:xfrm>
            <a:prstGeom prst="rect">
              <a:avLst/>
            </a:prstGeom>
          </p:spPr>
        </p:pic>
      </p:grpSp>
      <p:sp>
        <p:nvSpPr>
          <p:cNvPr id="64" name="Прямоугольник: скругленные углы 63">
            <a:extLst>
              <a:ext uri="{FF2B5EF4-FFF2-40B4-BE49-F238E27FC236}">
                <a16:creationId xmlns:a16="http://schemas.microsoft.com/office/drawing/2014/main" id="{B78C7882-46F0-CFF0-229A-E1EF6E256259}"/>
              </a:ext>
            </a:extLst>
          </p:cNvPr>
          <p:cNvSpPr/>
          <p:nvPr/>
        </p:nvSpPr>
        <p:spPr>
          <a:xfrm>
            <a:off x="-10331793" y="2950197"/>
            <a:ext cx="2361003" cy="1439757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Pandas &amp; NumPy</a:t>
            </a:r>
            <a:endParaRPr lang="ru-RU" b="1" dirty="0">
              <a:solidFill>
                <a:schemeClr val="tx1"/>
              </a:solidFill>
            </a:endParaRPr>
          </a:p>
          <a:p>
            <a:pPr algn="ctr"/>
            <a:r>
              <a:rPr lang="ru-RU" dirty="0">
                <a:solidFill>
                  <a:schemeClr val="tx1"/>
                </a:solidFill>
              </a:rPr>
              <a:t>Обработка данных</a:t>
            </a:r>
          </a:p>
        </p:txBody>
      </p: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FAEE80A8-9208-DD4E-F1DF-C03789CF2A6F}"/>
              </a:ext>
            </a:extLst>
          </p:cNvPr>
          <p:cNvGrpSpPr/>
          <p:nvPr/>
        </p:nvGrpSpPr>
        <p:grpSpPr>
          <a:xfrm>
            <a:off x="-7017525" y="4258250"/>
            <a:ext cx="1600200" cy="1609983"/>
            <a:chOff x="9975075" y="4258250"/>
            <a:chExt cx="1600200" cy="1609983"/>
          </a:xfrm>
        </p:grpSpPr>
        <p:sp>
          <p:nvSpPr>
            <p:cNvPr id="66" name="Прямоугольник: скругленные углы 65">
              <a:extLst>
                <a:ext uri="{FF2B5EF4-FFF2-40B4-BE49-F238E27FC236}">
                  <a16:creationId xmlns:a16="http://schemas.microsoft.com/office/drawing/2014/main" id="{3FA009B1-60E4-281E-1029-CE85788B2E2B}"/>
                </a:ext>
              </a:extLst>
            </p:cNvPr>
            <p:cNvSpPr/>
            <p:nvPr/>
          </p:nvSpPr>
          <p:spPr>
            <a:xfrm>
              <a:off x="9975075" y="4258250"/>
              <a:ext cx="1600200" cy="1609983"/>
            </a:xfrm>
            <a:prstGeom prst="roundRect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70" name="Рисунок 69" descr="Изображение выглядит как лошадь, Фигурка животного, искусство, творческий подход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F5B266AC-F27E-2903-8A16-E2448B718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56969" y="4511986"/>
              <a:ext cx="1036411" cy="1036411"/>
            </a:xfrm>
            <a:prstGeom prst="rect">
              <a:avLst/>
            </a:prstGeom>
          </p:spPr>
        </p:pic>
      </p:grpSp>
      <p:sp>
        <p:nvSpPr>
          <p:cNvPr id="71" name="Прямоугольник: скругленные углы 70">
            <a:extLst>
              <a:ext uri="{FF2B5EF4-FFF2-40B4-BE49-F238E27FC236}">
                <a16:creationId xmlns:a16="http://schemas.microsoft.com/office/drawing/2014/main" id="{B122DF3E-3B16-6BE4-4DBC-703344EDEDF0}"/>
              </a:ext>
            </a:extLst>
          </p:cNvPr>
          <p:cNvSpPr/>
          <p:nvPr/>
        </p:nvSpPr>
        <p:spPr>
          <a:xfrm>
            <a:off x="-7397928" y="2969807"/>
            <a:ext cx="2361003" cy="1439757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Uvicorn</a:t>
            </a:r>
            <a:endParaRPr lang="ru-RU" b="1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ASGI </a:t>
            </a:r>
            <a:r>
              <a:rPr lang="ru-RU" dirty="0">
                <a:solidFill>
                  <a:schemeClr val="tx1"/>
                </a:solidFill>
              </a:rPr>
              <a:t>сервер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08C4EDC-FAED-7A50-DF57-F8C42279C043}"/>
              </a:ext>
            </a:extLst>
          </p:cNvPr>
          <p:cNvSpPr txBox="1"/>
          <p:nvPr/>
        </p:nvSpPr>
        <p:spPr>
          <a:xfrm>
            <a:off x="-12040539" y="1437286"/>
            <a:ext cx="23610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Backend </a:t>
            </a:r>
            <a:r>
              <a:rPr lang="ru-RU" sz="2400" b="1" dirty="0"/>
              <a:t>и </a:t>
            </a:r>
            <a:r>
              <a:rPr lang="en-US" sz="2400" b="1" dirty="0"/>
              <a:t>ML</a:t>
            </a:r>
            <a:endParaRPr lang="ru-RU" sz="2400" b="1" dirty="0"/>
          </a:p>
        </p:txBody>
      </p:sp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3B34A263-F609-7EAE-376E-BBA843D75C1E}"/>
              </a:ext>
            </a:extLst>
          </p:cNvPr>
          <p:cNvGrpSpPr/>
          <p:nvPr/>
        </p:nvGrpSpPr>
        <p:grpSpPr>
          <a:xfrm>
            <a:off x="1664550" y="4219611"/>
            <a:ext cx="1600200" cy="1609983"/>
            <a:chOff x="1664550" y="4219611"/>
            <a:chExt cx="1600200" cy="1609983"/>
          </a:xfrm>
        </p:grpSpPr>
        <p:sp>
          <p:nvSpPr>
            <p:cNvPr id="4" name="Прямоугольник: скругленные углы 3">
              <a:extLst>
                <a:ext uri="{FF2B5EF4-FFF2-40B4-BE49-F238E27FC236}">
                  <a16:creationId xmlns:a16="http://schemas.microsoft.com/office/drawing/2014/main" id="{B63DB0EA-9034-FE92-6C8D-120C22AC2A04}"/>
                </a:ext>
              </a:extLst>
            </p:cNvPr>
            <p:cNvSpPr/>
            <p:nvPr/>
          </p:nvSpPr>
          <p:spPr>
            <a:xfrm>
              <a:off x="1664550" y="4219611"/>
              <a:ext cx="1600200" cy="160998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2" name="Рисунок 11" descr="Изображение выглядит как красный, Графика, Шрифт, Прямоугольник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3FD2072A-E94B-C588-E6E0-DDE735904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7422" y="4632294"/>
              <a:ext cx="1034455" cy="402428"/>
            </a:xfrm>
            <a:prstGeom prst="rect">
              <a:avLst/>
            </a:prstGeom>
          </p:spPr>
        </p:pic>
        <p:pic>
          <p:nvPicPr>
            <p:cNvPr id="15" name="Рисунок 14" descr="Изображение выглядит как Графика, Шрифт, логотип, дизайн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B2E5FB61-E58E-3348-659C-D67919F932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5985" y="5034722"/>
              <a:ext cx="1317328" cy="689733"/>
            </a:xfrm>
            <a:prstGeom prst="rect">
              <a:avLst/>
            </a:prstGeom>
          </p:spPr>
        </p:pic>
      </p:grpSp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316D46E4-574C-AE69-E23A-E2627BE6AADC}"/>
              </a:ext>
            </a:extLst>
          </p:cNvPr>
          <p:cNvGrpSpPr/>
          <p:nvPr/>
        </p:nvGrpSpPr>
        <p:grpSpPr>
          <a:xfrm>
            <a:off x="5534279" y="4258250"/>
            <a:ext cx="1600200" cy="1609983"/>
            <a:chOff x="5534279" y="4258250"/>
            <a:chExt cx="1600200" cy="1609983"/>
          </a:xfrm>
        </p:grpSpPr>
        <p:sp>
          <p:nvSpPr>
            <p:cNvPr id="18" name="Прямоугольник: скругленные углы 17">
              <a:extLst>
                <a:ext uri="{FF2B5EF4-FFF2-40B4-BE49-F238E27FC236}">
                  <a16:creationId xmlns:a16="http://schemas.microsoft.com/office/drawing/2014/main" id="{8DE7DBD8-70EF-7D30-1B26-E22326E4A730}"/>
                </a:ext>
              </a:extLst>
            </p:cNvPr>
            <p:cNvSpPr/>
            <p:nvPr/>
          </p:nvSpPr>
          <p:spPr>
            <a:xfrm>
              <a:off x="5534279" y="4258250"/>
              <a:ext cx="1600200" cy="1609983"/>
            </a:xfrm>
            <a:prstGeom prst="roundRect">
              <a:avLst/>
            </a:prstGeom>
            <a:solidFill>
              <a:srgbClr val="3440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2" name="Рисунок 21" descr="Изображение выглядит как круг, Красочность, Симметрия, снимок экрана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95722E7A-50C9-0D14-2F5B-FF89B2E76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06094" y="4593170"/>
              <a:ext cx="1059259" cy="932664"/>
            </a:xfrm>
            <a:prstGeom prst="rect">
              <a:avLst/>
            </a:prstGeom>
          </p:spPr>
        </p:pic>
      </p:grp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61032672-002D-7569-D32B-F55C8CF6AEE2}"/>
              </a:ext>
            </a:extLst>
          </p:cNvPr>
          <p:cNvSpPr/>
          <p:nvPr/>
        </p:nvSpPr>
        <p:spPr>
          <a:xfrm>
            <a:off x="1290595" y="2997996"/>
            <a:ext cx="2361003" cy="1439757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npm</a:t>
            </a:r>
            <a:r>
              <a:rPr lang="en-US" b="1" dirty="0">
                <a:solidFill>
                  <a:schemeClr val="tx1"/>
                </a:solidFill>
              </a:rPr>
              <a:t>/yarn</a:t>
            </a:r>
            <a:endParaRPr lang="ru-RU" b="1" dirty="0">
              <a:solidFill>
                <a:schemeClr val="tx1"/>
              </a:solidFill>
            </a:endParaRPr>
          </a:p>
          <a:p>
            <a:pPr algn="ctr"/>
            <a:r>
              <a:rPr lang="ru-RU" dirty="0">
                <a:solidFill>
                  <a:schemeClr val="tx1"/>
                </a:solidFill>
              </a:rPr>
              <a:t>Управление пакетами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025AF8A1-41F1-9A43-3CCC-614DB2ABD481}"/>
              </a:ext>
            </a:extLst>
          </p:cNvPr>
          <p:cNvSpPr/>
          <p:nvPr/>
        </p:nvSpPr>
        <p:spPr>
          <a:xfrm>
            <a:off x="5153877" y="3010696"/>
            <a:ext cx="2361003" cy="1439757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ESLint</a:t>
            </a:r>
            <a:endParaRPr lang="ru-RU" b="1" dirty="0">
              <a:solidFill>
                <a:schemeClr val="tx1"/>
              </a:solidFill>
            </a:endParaRPr>
          </a:p>
          <a:p>
            <a:pPr algn="ctr"/>
            <a:r>
              <a:rPr lang="ru-RU" dirty="0" err="1">
                <a:solidFill>
                  <a:schemeClr val="tx1"/>
                </a:solidFill>
              </a:rPr>
              <a:t>Линтинг</a:t>
            </a:r>
            <a:r>
              <a:rPr lang="ru-RU" dirty="0">
                <a:solidFill>
                  <a:schemeClr val="tx1"/>
                </a:solidFill>
              </a:rPr>
              <a:t> кода</a:t>
            </a:r>
          </a:p>
        </p:txBody>
      </p:sp>
      <p:grpSp>
        <p:nvGrpSpPr>
          <p:cNvPr id="68" name="Группа 67">
            <a:extLst>
              <a:ext uri="{FF2B5EF4-FFF2-40B4-BE49-F238E27FC236}">
                <a16:creationId xmlns:a16="http://schemas.microsoft.com/office/drawing/2014/main" id="{F204D8A5-DB1E-4EF2-6DE3-94D3E4ED3B56}"/>
              </a:ext>
            </a:extLst>
          </p:cNvPr>
          <p:cNvGrpSpPr/>
          <p:nvPr/>
        </p:nvGrpSpPr>
        <p:grpSpPr>
          <a:xfrm>
            <a:off x="9173710" y="4258249"/>
            <a:ext cx="1600200" cy="1609983"/>
            <a:chOff x="9173710" y="4258249"/>
            <a:chExt cx="1600200" cy="1609983"/>
          </a:xfrm>
        </p:grpSpPr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4D52762B-FBC6-1AD8-9523-0D74F3793CCF}"/>
                </a:ext>
              </a:extLst>
            </p:cNvPr>
            <p:cNvSpPr/>
            <p:nvPr/>
          </p:nvSpPr>
          <p:spPr>
            <a:xfrm>
              <a:off x="9173710" y="4258249"/>
              <a:ext cx="1600200" cy="160998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9" name="Рисунок 28" descr="Изображение выглядит как Графика, Шрифт, символ, дизайн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346281A3-AB39-814E-371F-8D6D972E3D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2972"/>
            <a:stretch>
              <a:fillRect/>
            </a:stretch>
          </p:blipFill>
          <p:spPr>
            <a:xfrm>
              <a:off x="9444660" y="4537521"/>
              <a:ext cx="1225892" cy="1089537"/>
            </a:xfrm>
            <a:prstGeom prst="rect">
              <a:avLst/>
            </a:prstGeom>
          </p:spPr>
        </p:pic>
      </p:grp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639E21AD-9B5F-7024-74C0-814B5260D4EC}"/>
              </a:ext>
            </a:extLst>
          </p:cNvPr>
          <p:cNvSpPr/>
          <p:nvPr/>
        </p:nvSpPr>
        <p:spPr>
          <a:xfrm>
            <a:off x="8773006" y="3010696"/>
            <a:ext cx="2361003" cy="1439757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Git</a:t>
            </a:r>
            <a:endParaRPr lang="ru-RU" b="1" dirty="0">
              <a:solidFill>
                <a:schemeClr val="tx1"/>
              </a:solidFill>
            </a:endParaRPr>
          </a:p>
          <a:p>
            <a:pPr algn="ctr"/>
            <a:r>
              <a:rPr lang="ru-RU" dirty="0">
                <a:solidFill>
                  <a:schemeClr val="tx1"/>
                </a:solidFill>
              </a:rPr>
              <a:t>Система контроля версий</a:t>
            </a: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7E41D576-680F-FC2C-6AD0-2EFA7AECE9DB}"/>
              </a:ext>
            </a:extLst>
          </p:cNvPr>
          <p:cNvSpPr/>
          <p:nvPr/>
        </p:nvSpPr>
        <p:spPr>
          <a:xfrm>
            <a:off x="3600419" y="-2393873"/>
            <a:ext cx="4991161" cy="1204684"/>
          </a:xfrm>
          <a:prstGeom prst="roundRect">
            <a:avLst/>
          </a:prstGeom>
          <a:solidFill>
            <a:schemeClr val="tx1">
              <a:alpha val="39000"/>
            </a:schemeClr>
          </a:solidFill>
          <a:ln>
            <a:noFill/>
          </a:ln>
          <a:effectLst>
            <a:glow rad="88900">
              <a:schemeClr val="tx1">
                <a:alpha val="40000"/>
              </a:schemeClr>
            </a:glow>
            <a:outerShdw blurRad="279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TD Mars" pitchFamily="50" charset="0"/>
              </a:rPr>
              <a:t>РЕШЕНИЕ</a:t>
            </a: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40A81E75-BFCB-C6ED-7797-AB39C2EAC102}"/>
              </a:ext>
            </a:extLst>
          </p:cNvPr>
          <p:cNvSpPr/>
          <p:nvPr/>
        </p:nvSpPr>
        <p:spPr>
          <a:xfrm>
            <a:off x="491697" y="9404621"/>
            <a:ext cx="3223048" cy="4518374"/>
          </a:xfrm>
          <a:prstGeom prst="roundRect">
            <a:avLst/>
          </a:prstGeom>
          <a:solidFill>
            <a:schemeClr val="tx1">
              <a:lumMod val="65000"/>
              <a:lumOff val="3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CBB17C5-1057-9610-0936-C5CA803529C3}"/>
              </a:ext>
            </a:extLst>
          </p:cNvPr>
          <p:cNvSpPr txBox="1"/>
          <p:nvPr/>
        </p:nvSpPr>
        <p:spPr>
          <a:xfrm>
            <a:off x="2131779" y="9535186"/>
            <a:ext cx="1614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V-SKIFER" pitchFamily="50" charset="0"/>
              </a:rPr>
              <a:t>PULSE</a:t>
            </a:r>
            <a:endParaRPr lang="ru-RU" sz="2800" dirty="0">
              <a:latin typeface="MV-SKIFER" pitchFamily="50" charset="0"/>
            </a:endParaRPr>
          </a:p>
        </p:txBody>
      </p:sp>
      <p:pic>
        <p:nvPicPr>
          <p:cNvPr id="49" name="Рисунок 48" descr="Изображение выглядит как Графика, Шрифт, логотип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731DC49-84BE-4E2D-0530-64A5C97B37E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84" y="9493088"/>
            <a:ext cx="1400472" cy="594346"/>
          </a:xfrm>
          <a:prstGeom prst="rect">
            <a:avLst/>
          </a:prstGeom>
        </p:spPr>
      </p:pic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9189B711-1922-A350-34EA-2E4AE8FB29F4}"/>
              </a:ext>
            </a:extLst>
          </p:cNvPr>
          <p:cNvSpPr/>
          <p:nvPr/>
        </p:nvSpPr>
        <p:spPr>
          <a:xfrm>
            <a:off x="627791" y="10147170"/>
            <a:ext cx="2950859" cy="3579209"/>
          </a:xfrm>
          <a:prstGeom prst="round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err="1">
                <a:solidFill>
                  <a:schemeClr val="tx1"/>
                </a:solidFill>
              </a:rPr>
              <a:t>Drivee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P</a:t>
            </a:r>
            <a:r>
              <a:rPr lang="ru-RU" sz="2000" dirty="0" err="1">
                <a:solidFill>
                  <a:schemeClr val="tx1"/>
                </a:solidFill>
              </a:rPr>
              <a:t>ulse</a:t>
            </a:r>
            <a:r>
              <a:rPr lang="ru-RU" sz="2000" dirty="0">
                <a:solidFill>
                  <a:schemeClr val="tx1"/>
                </a:solidFill>
              </a:rPr>
              <a:t> - это ML-модель, которая подсказывает клиенту оптимальную цену для поездки, а водителю варианты цен для предложения клиенту.</a:t>
            </a:r>
          </a:p>
        </p:txBody>
      </p:sp>
      <p:sp>
        <p:nvSpPr>
          <p:cNvPr id="51" name="Прямоугольник: скругленные углы 50">
            <a:extLst>
              <a:ext uri="{FF2B5EF4-FFF2-40B4-BE49-F238E27FC236}">
                <a16:creationId xmlns:a16="http://schemas.microsoft.com/office/drawing/2014/main" id="{22892C17-6A39-FB29-07A0-F0E6A9148F6F}"/>
              </a:ext>
            </a:extLst>
          </p:cNvPr>
          <p:cNvSpPr/>
          <p:nvPr/>
        </p:nvSpPr>
        <p:spPr>
          <a:xfrm>
            <a:off x="5652556" y="10623549"/>
            <a:ext cx="6047747" cy="608593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Клиент вводит куда и откуда он хочет добраться.</a:t>
            </a:r>
          </a:p>
        </p:txBody>
      </p:sp>
      <p:sp>
        <p:nvSpPr>
          <p:cNvPr id="53" name="Овал 52">
            <a:extLst>
              <a:ext uri="{FF2B5EF4-FFF2-40B4-BE49-F238E27FC236}">
                <a16:creationId xmlns:a16="http://schemas.microsoft.com/office/drawing/2014/main" id="{8DDF6954-800E-97E2-5734-888463E28B3B}"/>
              </a:ext>
            </a:extLst>
          </p:cNvPr>
          <p:cNvSpPr/>
          <p:nvPr/>
        </p:nvSpPr>
        <p:spPr>
          <a:xfrm>
            <a:off x="8526262" y="11390046"/>
            <a:ext cx="333829" cy="333829"/>
          </a:xfrm>
          <a:prstGeom prst="ellipse">
            <a:avLst/>
          </a:prstGeom>
          <a:solidFill>
            <a:srgbClr val="97EA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Прямоугольник: скругленные углы 54">
            <a:extLst>
              <a:ext uri="{FF2B5EF4-FFF2-40B4-BE49-F238E27FC236}">
                <a16:creationId xmlns:a16="http://schemas.microsoft.com/office/drawing/2014/main" id="{69689726-9CED-9667-654C-E6A46751D760}"/>
              </a:ext>
            </a:extLst>
          </p:cNvPr>
          <p:cNvSpPr/>
          <p:nvPr/>
        </p:nvSpPr>
        <p:spPr>
          <a:xfrm>
            <a:off x="5652557" y="11883645"/>
            <a:ext cx="5911652" cy="917961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Система автоматически дополняет данные: Название и модель машины, дистанция, и. т. п.</a:t>
            </a:r>
          </a:p>
        </p:txBody>
      </p:sp>
      <p:sp>
        <p:nvSpPr>
          <p:cNvPr id="59" name="Овал 58">
            <a:extLst>
              <a:ext uri="{FF2B5EF4-FFF2-40B4-BE49-F238E27FC236}">
                <a16:creationId xmlns:a16="http://schemas.microsoft.com/office/drawing/2014/main" id="{3538F880-7B25-9487-94ED-1536C193944E}"/>
              </a:ext>
            </a:extLst>
          </p:cNvPr>
          <p:cNvSpPr/>
          <p:nvPr/>
        </p:nvSpPr>
        <p:spPr>
          <a:xfrm>
            <a:off x="8526262" y="12961376"/>
            <a:ext cx="333829" cy="333829"/>
          </a:xfrm>
          <a:prstGeom prst="ellipse">
            <a:avLst/>
          </a:prstGeom>
          <a:solidFill>
            <a:srgbClr val="97EA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Прямоугольник: скругленные углы 61">
            <a:extLst>
              <a:ext uri="{FF2B5EF4-FFF2-40B4-BE49-F238E27FC236}">
                <a16:creationId xmlns:a16="http://schemas.microsoft.com/office/drawing/2014/main" id="{FE35A0F4-4D82-029A-EFDE-86506449BACD}"/>
              </a:ext>
            </a:extLst>
          </p:cNvPr>
          <p:cNvSpPr/>
          <p:nvPr/>
        </p:nvSpPr>
        <p:spPr>
          <a:xfrm>
            <a:off x="5652556" y="13453109"/>
            <a:ext cx="6110269" cy="1948930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Модель анализирует данные и выдает результат:</a:t>
            </a:r>
          </a:p>
          <a:p>
            <a:pPr algn="ctr"/>
            <a:r>
              <a:rPr lang="ru-RU" b="1" dirty="0">
                <a:solidFill>
                  <a:srgbClr val="92D050"/>
                </a:solidFill>
                <a:effectLst>
                  <a:outerShdw blurRad="76200" dist="50800" dir="5400000" algn="ctr" rotWithShape="0">
                    <a:srgbClr val="000000">
                      <a:alpha val="43137"/>
                    </a:srgbClr>
                  </a:outerShdw>
                </a:effectLst>
              </a:rPr>
              <a:t>Безопасный</a:t>
            </a:r>
            <a:r>
              <a:rPr lang="ru-RU" dirty="0">
                <a:solidFill>
                  <a:srgbClr val="92D050"/>
                </a:solidFill>
                <a:effectLst>
                  <a:outerShdw blurRad="76200" dist="50800" dir="5400000" algn="ctr" rotWithShape="0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ru-RU" dirty="0">
                <a:solidFill>
                  <a:schemeClr val="tx1"/>
                </a:solidFill>
              </a:rPr>
              <a:t>500 руб. | Вероятность согласия 90%</a:t>
            </a:r>
          </a:p>
          <a:p>
            <a:pPr algn="ctr"/>
            <a:r>
              <a:rPr lang="ru-RU" b="1" dirty="0"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76200" dist="50800" dir="5400000" algn="ctr" rotWithShape="0">
                    <a:srgbClr val="000000">
                      <a:alpha val="43137"/>
                    </a:srgbClr>
                  </a:outerShdw>
                </a:effectLst>
              </a:rPr>
              <a:t>Оптимальный</a:t>
            </a:r>
            <a:r>
              <a:rPr lang="ru-RU" dirty="0">
                <a:solidFill>
                  <a:schemeClr val="tx2">
                    <a:lumMod val="50000"/>
                    <a:lumOff val="50000"/>
                  </a:schemeClr>
                </a:solidFill>
              </a:rPr>
              <a:t>: </a:t>
            </a:r>
            <a:r>
              <a:rPr lang="ru-RU" dirty="0">
                <a:solidFill>
                  <a:schemeClr val="tx1"/>
                </a:solidFill>
              </a:rPr>
              <a:t>Цена: 550 руб. | Вероятность согласия: 80%</a:t>
            </a:r>
          </a:p>
          <a:p>
            <a:pPr algn="ctr"/>
            <a:r>
              <a:rPr lang="ru-RU" dirty="0">
                <a:solidFill>
                  <a:srgbClr val="FF0000"/>
                </a:solidFill>
                <a:effectLst>
                  <a:outerShdw blurRad="76200" dist="50800" dir="5400000" algn="ctr" rotWithShape="0">
                    <a:srgbClr val="000000">
                      <a:alpha val="43137"/>
                    </a:srgbClr>
                  </a:outerShdw>
                </a:effectLst>
              </a:rPr>
              <a:t>Рискованный</a:t>
            </a:r>
            <a:r>
              <a:rPr lang="ru-RU" dirty="0">
                <a:solidFill>
                  <a:srgbClr val="FF0000"/>
                </a:solidFill>
              </a:rPr>
              <a:t>:</a:t>
            </a:r>
            <a:r>
              <a:rPr lang="ru-RU" dirty="0">
                <a:solidFill>
                  <a:schemeClr val="tx1"/>
                </a:solidFill>
              </a:rPr>
              <a:t> Цена: 650 руб. | Вероятность согласия: 60%</a:t>
            </a:r>
          </a:p>
        </p:txBody>
      </p:sp>
    </p:spTree>
    <p:extLst>
      <p:ext uri="{BB962C8B-B14F-4D97-AF65-F5344CB8AC3E}">
        <p14:creationId xmlns:p14="http://schemas.microsoft.com/office/powerpoint/2010/main" val="2293970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5D060-92B9-9F8D-E844-4D28BB3EE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 descr="Изображение выглядит как зеленый, Красочность, све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AD2DDBB-4785-8BCC-6FAA-197052565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Прямая соединительная линия 1" hidden="1">
            <a:extLst>
              <a:ext uri="{FF2B5EF4-FFF2-40B4-BE49-F238E27FC236}">
                <a16:creationId xmlns:a16="http://schemas.microsoft.com/office/drawing/2014/main" id="{32AB2630-991B-96C4-D9FF-1AFA9CD4C171}"/>
              </a:ext>
            </a:extLst>
          </p:cNvPr>
          <p:cNvCxnSpPr/>
          <p:nvPr/>
        </p:nvCxnSpPr>
        <p:spPr>
          <a:xfrm>
            <a:off x="9942286" y="6589486"/>
            <a:ext cx="18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 hidden="1">
            <a:extLst>
              <a:ext uri="{FF2B5EF4-FFF2-40B4-BE49-F238E27FC236}">
                <a16:creationId xmlns:a16="http://schemas.microsoft.com/office/drawing/2014/main" id="{4A4A40AD-3405-F7A2-926C-42533F5835EF}"/>
              </a:ext>
            </a:extLst>
          </p:cNvPr>
          <p:cNvCxnSpPr>
            <a:cxnSpLocks/>
          </p:cNvCxnSpPr>
          <p:nvPr/>
        </p:nvCxnSpPr>
        <p:spPr>
          <a:xfrm>
            <a:off x="9942286" y="6587896"/>
            <a:ext cx="594000" cy="0"/>
          </a:xfrm>
          <a:prstGeom prst="line">
            <a:avLst/>
          </a:prstGeom>
          <a:ln>
            <a:solidFill>
              <a:srgbClr val="97E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 hidden="1">
            <a:extLst>
              <a:ext uri="{FF2B5EF4-FFF2-40B4-BE49-F238E27FC236}">
                <a16:creationId xmlns:a16="http://schemas.microsoft.com/office/drawing/2014/main" id="{468C7801-3CD2-3121-C109-3D0685C81097}"/>
              </a:ext>
            </a:extLst>
          </p:cNvPr>
          <p:cNvCxnSpPr>
            <a:cxnSpLocks/>
          </p:cNvCxnSpPr>
          <p:nvPr/>
        </p:nvCxnSpPr>
        <p:spPr>
          <a:xfrm flipV="1">
            <a:off x="10533764" y="6517481"/>
            <a:ext cx="0" cy="79148"/>
          </a:xfrm>
          <a:prstGeom prst="line">
            <a:avLst/>
          </a:prstGeom>
          <a:ln w="12700">
            <a:solidFill>
              <a:srgbClr val="97E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 descr="Инструменты со сплошной заливкой" hidden="1">
            <a:extLst>
              <a:ext uri="{FF2B5EF4-FFF2-40B4-BE49-F238E27FC236}">
                <a16:creationId xmlns:a16="http://schemas.microsoft.com/office/drawing/2014/main" id="{C473FDD4-6985-73DB-89A3-0FBD7F6A26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91866" y="6445250"/>
            <a:ext cx="83795" cy="83795"/>
          </a:xfrm>
          <a:prstGeom prst="rect">
            <a:avLst/>
          </a:prstGeom>
        </p:spPr>
      </p:pic>
      <p:sp>
        <p:nvSpPr>
          <p:cNvPr id="54" name="Прямоугольник: скругленные углы 53">
            <a:extLst>
              <a:ext uri="{FF2B5EF4-FFF2-40B4-BE49-F238E27FC236}">
                <a16:creationId xmlns:a16="http://schemas.microsoft.com/office/drawing/2014/main" id="{F6DDC5A1-B7DB-A064-9C2A-1CA40D84C32A}"/>
              </a:ext>
            </a:extLst>
          </p:cNvPr>
          <p:cNvSpPr/>
          <p:nvPr/>
        </p:nvSpPr>
        <p:spPr>
          <a:xfrm>
            <a:off x="-21231224" y="-438150"/>
            <a:ext cx="14058899" cy="7734300"/>
          </a:xfrm>
          <a:prstGeom prst="roundRect">
            <a:avLst/>
          </a:prstGeom>
          <a:solidFill>
            <a:srgbClr val="FFF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Прямоугольник: скругленные углы 56">
            <a:extLst>
              <a:ext uri="{FF2B5EF4-FFF2-40B4-BE49-F238E27FC236}">
                <a16:creationId xmlns:a16="http://schemas.microsoft.com/office/drawing/2014/main" id="{4F4C3F64-6717-E9A8-4827-97E783B86988}"/>
              </a:ext>
            </a:extLst>
          </p:cNvPr>
          <p:cNvSpPr/>
          <p:nvPr/>
        </p:nvSpPr>
        <p:spPr>
          <a:xfrm>
            <a:off x="-15068550" y="78585"/>
            <a:ext cx="1581150" cy="1093722"/>
          </a:xfrm>
          <a:prstGeom prst="roundRect">
            <a:avLst>
              <a:gd name="adj" fmla="val 50000"/>
            </a:avLst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6" name="Рисунок 55" descr="Изображение выглядит как пространство, ночь, темнота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E06F7E8-DF90-72E8-FBFA-7CE5D418E4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-14851971" y="298576"/>
            <a:ext cx="1176731" cy="65374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FC196E7C-756C-CEAF-BCEF-0F1CA9757B5C}"/>
              </a:ext>
            </a:extLst>
          </p:cNvPr>
          <p:cNvSpPr txBox="1"/>
          <p:nvPr/>
        </p:nvSpPr>
        <p:spPr>
          <a:xfrm>
            <a:off x="-15234765" y="1269143"/>
            <a:ext cx="19423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DevOps </a:t>
            </a:r>
            <a:r>
              <a:rPr lang="ru-RU" sz="2400" b="1" dirty="0"/>
              <a:t>и сборка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C573E49B-0310-58F1-519E-EC0F799E3F5D}"/>
              </a:ext>
            </a:extLst>
          </p:cNvPr>
          <p:cNvSpPr/>
          <p:nvPr/>
        </p:nvSpPr>
        <p:spPr>
          <a:xfrm>
            <a:off x="3600419" y="305785"/>
            <a:ext cx="4991161" cy="1204684"/>
          </a:xfrm>
          <a:prstGeom prst="roundRect">
            <a:avLst/>
          </a:prstGeom>
          <a:solidFill>
            <a:schemeClr val="tx1">
              <a:alpha val="39000"/>
            </a:schemeClr>
          </a:solidFill>
          <a:ln>
            <a:noFill/>
          </a:ln>
          <a:effectLst>
            <a:glow rad="88900">
              <a:schemeClr val="tx1">
                <a:alpha val="40000"/>
              </a:schemeClr>
            </a:glow>
            <a:outerShdw blurRad="279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TD Mars" pitchFamily="50" charset="0"/>
              </a:rPr>
              <a:t>РЕШЕНИЕ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7F2464F-A3BE-7036-1544-787B8E297C95}"/>
              </a:ext>
            </a:extLst>
          </p:cNvPr>
          <p:cNvSpPr/>
          <p:nvPr/>
        </p:nvSpPr>
        <p:spPr>
          <a:xfrm>
            <a:off x="491697" y="1915244"/>
            <a:ext cx="3223048" cy="4518374"/>
          </a:xfrm>
          <a:prstGeom prst="roundRect">
            <a:avLst/>
          </a:prstGeom>
          <a:solidFill>
            <a:schemeClr val="tx1">
              <a:lumMod val="65000"/>
              <a:lumOff val="3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BF2084-94F2-0199-60DE-65FDE641AC24}"/>
              </a:ext>
            </a:extLst>
          </p:cNvPr>
          <p:cNvSpPr txBox="1"/>
          <p:nvPr/>
        </p:nvSpPr>
        <p:spPr>
          <a:xfrm>
            <a:off x="2131779" y="2045809"/>
            <a:ext cx="1614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V-SKIFER" pitchFamily="50" charset="0"/>
              </a:rPr>
              <a:t>PULSE</a:t>
            </a:r>
            <a:endParaRPr lang="ru-RU" sz="2800" dirty="0">
              <a:latin typeface="MV-SKIFER" pitchFamily="50" charset="0"/>
            </a:endParaRPr>
          </a:p>
        </p:txBody>
      </p:sp>
      <p:pic>
        <p:nvPicPr>
          <p:cNvPr id="13" name="Рисунок 12" descr="Изображение выглядит как Графика, Шрифт, логотип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B960A1A-CE98-A17B-BE83-63434E262A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84" y="2003711"/>
            <a:ext cx="1400472" cy="594346"/>
          </a:xfrm>
          <a:prstGeom prst="rect">
            <a:avLst/>
          </a:prstGeom>
        </p:spPr>
      </p:pic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AEA473C6-B305-CA3E-4940-673B7B85C274}"/>
              </a:ext>
            </a:extLst>
          </p:cNvPr>
          <p:cNvSpPr/>
          <p:nvPr/>
        </p:nvSpPr>
        <p:spPr>
          <a:xfrm>
            <a:off x="627791" y="2657793"/>
            <a:ext cx="2950859" cy="3579209"/>
          </a:xfrm>
          <a:prstGeom prst="round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err="1">
                <a:solidFill>
                  <a:schemeClr val="tx1"/>
                </a:solidFill>
              </a:rPr>
              <a:t>Drivee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P</a:t>
            </a:r>
            <a:r>
              <a:rPr lang="ru-RU" sz="2000" dirty="0" err="1">
                <a:solidFill>
                  <a:schemeClr val="tx1"/>
                </a:solidFill>
              </a:rPr>
              <a:t>ulse</a:t>
            </a:r>
            <a:r>
              <a:rPr lang="ru-RU" sz="2000" dirty="0">
                <a:solidFill>
                  <a:schemeClr val="tx1"/>
                </a:solidFill>
              </a:rPr>
              <a:t> - это ML-модель, которая подсказывает клиенту оптимальную цену для поездки, а водителю варианты цен для предложения клиенту.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7E6C06E7-0E60-360D-9D75-5916B57497F2}"/>
              </a:ext>
            </a:extLst>
          </p:cNvPr>
          <p:cNvSpPr/>
          <p:nvPr/>
        </p:nvSpPr>
        <p:spPr>
          <a:xfrm>
            <a:off x="5652556" y="1827885"/>
            <a:ext cx="6047747" cy="608593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Клиент вводит куда и откуда он хочет добраться.</a:t>
            </a: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5ACAF698-4AD3-DAE1-507A-805008898417}"/>
              </a:ext>
            </a:extLst>
          </p:cNvPr>
          <p:cNvSpPr/>
          <p:nvPr/>
        </p:nvSpPr>
        <p:spPr>
          <a:xfrm>
            <a:off x="8526262" y="2594382"/>
            <a:ext cx="333829" cy="333829"/>
          </a:xfrm>
          <a:prstGeom prst="ellipse">
            <a:avLst/>
          </a:prstGeom>
          <a:solidFill>
            <a:srgbClr val="97EA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6B2C8B80-82EC-F99D-B8D1-C8F00A6B50C5}"/>
              </a:ext>
            </a:extLst>
          </p:cNvPr>
          <p:cNvSpPr/>
          <p:nvPr/>
        </p:nvSpPr>
        <p:spPr>
          <a:xfrm>
            <a:off x="5652557" y="3087981"/>
            <a:ext cx="5911652" cy="917961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Система автоматически дополняет данные: Название и модель машины, дистанция, и. т. п.</a:t>
            </a: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84C224AB-EBE9-F115-1E8A-CE28301E42AB}"/>
              </a:ext>
            </a:extLst>
          </p:cNvPr>
          <p:cNvSpPr/>
          <p:nvPr/>
        </p:nvSpPr>
        <p:spPr>
          <a:xfrm>
            <a:off x="8526262" y="4165712"/>
            <a:ext cx="333829" cy="333829"/>
          </a:xfrm>
          <a:prstGeom prst="ellipse">
            <a:avLst/>
          </a:prstGeom>
          <a:solidFill>
            <a:srgbClr val="97EA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4FF28E8F-025A-5603-B3EF-005ABAFC284E}"/>
              </a:ext>
            </a:extLst>
          </p:cNvPr>
          <p:cNvSpPr/>
          <p:nvPr/>
        </p:nvSpPr>
        <p:spPr>
          <a:xfrm>
            <a:off x="5652556" y="4657445"/>
            <a:ext cx="6110269" cy="1948930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Модель анализирует данные и выдает результат:</a:t>
            </a:r>
          </a:p>
          <a:p>
            <a:pPr algn="ctr"/>
            <a:r>
              <a:rPr lang="ru-RU" b="1" dirty="0">
                <a:solidFill>
                  <a:srgbClr val="92D050"/>
                </a:solidFill>
                <a:effectLst>
                  <a:outerShdw blurRad="76200" dist="50800" dir="5400000" algn="ctr" rotWithShape="0">
                    <a:srgbClr val="000000">
                      <a:alpha val="43137"/>
                    </a:srgbClr>
                  </a:outerShdw>
                </a:effectLst>
              </a:rPr>
              <a:t>Безопасный</a:t>
            </a:r>
            <a:r>
              <a:rPr lang="ru-RU" dirty="0">
                <a:solidFill>
                  <a:srgbClr val="92D050"/>
                </a:solidFill>
                <a:effectLst>
                  <a:outerShdw blurRad="76200" dist="50800" dir="5400000" algn="ctr" rotWithShape="0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ru-RU" dirty="0">
                <a:solidFill>
                  <a:schemeClr val="tx1"/>
                </a:solidFill>
              </a:rPr>
              <a:t>500 руб. | Вероятность согласия 90%</a:t>
            </a:r>
          </a:p>
          <a:p>
            <a:pPr algn="ctr"/>
            <a:r>
              <a:rPr lang="ru-RU" b="1" dirty="0"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76200" dist="50800" dir="5400000" algn="ctr" rotWithShape="0">
                    <a:srgbClr val="000000">
                      <a:alpha val="43137"/>
                    </a:srgbClr>
                  </a:outerShdw>
                </a:effectLst>
              </a:rPr>
              <a:t>Оптимальный</a:t>
            </a:r>
            <a:r>
              <a:rPr lang="ru-RU" dirty="0">
                <a:solidFill>
                  <a:schemeClr val="tx2">
                    <a:lumMod val="50000"/>
                    <a:lumOff val="50000"/>
                  </a:schemeClr>
                </a:solidFill>
              </a:rPr>
              <a:t>: </a:t>
            </a:r>
            <a:r>
              <a:rPr lang="ru-RU" dirty="0">
                <a:solidFill>
                  <a:schemeClr val="tx1"/>
                </a:solidFill>
              </a:rPr>
              <a:t>Цена: 550 руб. | Вероятность согласия: 80%</a:t>
            </a:r>
          </a:p>
          <a:p>
            <a:pPr algn="ctr"/>
            <a:r>
              <a:rPr lang="ru-RU" dirty="0">
                <a:solidFill>
                  <a:srgbClr val="FF0000"/>
                </a:solidFill>
                <a:effectLst>
                  <a:outerShdw blurRad="76200" dist="50800" dir="5400000" algn="ctr" rotWithShape="0">
                    <a:srgbClr val="000000">
                      <a:alpha val="43137"/>
                    </a:srgbClr>
                  </a:outerShdw>
                </a:effectLst>
              </a:rPr>
              <a:t>Рискованный</a:t>
            </a:r>
            <a:r>
              <a:rPr lang="ru-RU" dirty="0">
                <a:solidFill>
                  <a:srgbClr val="FF0000"/>
                </a:solidFill>
              </a:rPr>
              <a:t>:</a:t>
            </a:r>
            <a:r>
              <a:rPr lang="ru-RU" dirty="0">
                <a:solidFill>
                  <a:schemeClr val="tx1"/>
                </a:solidFill>
              </a:rPr>
              <a:t> Цена: 650 руб. | Вероятность согласия: 60%</a:t>
            </a:r>
          </a:p>
        </p:txBody>
      </p: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CC7A18C1-7D7A-FB75-A402-6EEFE3FD5329}"/>
              </a:ext>
            </a:extLst>
          </p:cNvPr>
          <p:cNvGrpSpPr/>
          <p:nvPr/>
        </p:nvGrpSpPr>
        <p:grpSpPr>
          <a:xfrm>
            <a:off x="-18909450" y="4219611"/>
            <a:ext cx="1600200" cy="1609983"/>
            <a:chOff x="1664550" y="4219611"/>
            <a:chExt cx="1600200" cy="1609983"/>
          </a:xfrm>
        </p:grpSpPr>
        <p:sp>
          <p:nvSpPr>
            <p:cNvPr id="32" name="Прямоугольник: скругленные углы 31">
              <a:extLst>
                <a:ext uri="{FF2B5EF4-FFF2-40B4-BE49-F238E27FC236}">
                  <a16:creationId xmlns:a16="http://schemas.microsoft.com/office/drawing/2014/main" id="{97DAD367-42D0-F722-9B20-5483690F9C65}"/>
                </a:ext>
              </a:extLst>
            </p:cNvPr>
            <p:cNvSpPr/>
            <p:nvPr/>
          </p:nvSpPr>
          <p:spPr>
            <a:xfrm>
              <a:off x="1664550" y="4219611"/>
              <a:ext cx="1600200" cy="160998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3" name="Рисунок 32" descr="Изображение выглядит как красный, Графика, Шрифт, Прямоугольник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E404458C-3CC2-EFBD-F083-171F8CB2D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7422" y="4632294"/>
              <a:ext cx="1034455" cy="402428"/>
            </a:xfrm>
            <a:prstGeom prst="rect">
              <a:avLst/>
            </a:prstGeom>
          </p:spPr>
        </p:pic>
        <p:pic>
          <p:nvPicPr>
            <p:cNvPr id="34" name="Рисунок 33" descr="Изображение выглядит как Графика, Шрифт, логотип, дизайн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ADEF82C5-A9E2-5C8C-3E95-F7A6A73A073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5985" y="5034722"/>
              <a:ext cx="1317328" cy="689733"/>
            </a:xfrm>
            <a:prstGeom prst="rect">
              <a:avLst/>
            </a:prstGeom>
          </p:spPr>
        </p:pic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AEAC3D02-F456-17E8-C931-D5E5A5EBB649}"/>
              </a:ext>
            </a:extLst>
          </p:cNvPr>
          <p:cNvGrpSpPr/>
          <p:nvPr/>
        </p:nvGrpSpPr>
        <p:grpSpPr>
          <a:xfrm>
            <a:off x="-15039721" y="4258250"/>
            <a:ext cx="1600200" cy="1609983"/>
            <a:chOff x="5534279" y="4258250"/>
            <a:chExt cx="1600200" cy="1609983"/>
          </a:xfrm>
        </p:grpSpPr>
        <p:sp>
          <p:nvSpPr>
            <p:cNvPr id="36" name="Прямоугольник: скругленные углы 35">
              <a:extLst>
                <a:ext uri="{FF2B5EF4-FFF2-40B4-BE49-F238E27FC236}">
                  <a16:creationId xmlns:a16="http://schemas.microsoft.com/office/drawing/2014/main" id="{303B32AD-F951-E715-E54F-092F80CE50FE}"/>
                </a:ext>
              </a:extLst>
            </p:cNvPr>
            <p:cNvSpPr/>
            <p:nvPr/>
          </p:nvSpPr>
          <p:spPr>
            <a:xfrm>
              <a:off x="5534279" y="4258250"/>
              <a:ext cx="1600200" cy="1609983"/>
            </a:xfrm>
            <a:prstGeom prst="roundRect">
              <a:avLst/>
            </a:prstGeom>
            <a:solidFill>
              <a:srgbClr val="3440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7" name="Рисунок 36" descr="Изображение выглядит как круг, Красочность, Симметрия, снимок экрана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FA4DFE82-F273-2C86-047E-FF73DE2A2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06094" y="4593170"/>
              <a:ext cx="1059259" cy="932664"/>
            </a:xfrm>
            <a:prstGeom prst="rect">
              <a:avLst/>
            </a:prstGeom>
          </p:spPr>
        </p:pic>
      </p:grp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73FD7B4C-474B-4274-3BB8-E8DBA5633766}"/>
              </a:ext>
            </a:extLst>
          </p:cNvPr>
          <p:cNvSpPr/>
          <p:nvPr/>
        </p:nvSpPr>
        <p:spPr>
          <a:xfrm>
            <a:off x="-19283405" y="2997996"/>
            <a:ext cx="2361003" cy="1439757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npm</a:t>
            </a:r>
            <a:r>
              <a:rPr lang="en-US" b="1" dirty="0">
                <a:solidFill>
                  <a:schemeClr val="tx1"/>
                </a:solidFill>
              </a:rPr>
              <a:t>/yarn</a:t>
            </a:r>
            <a:endParaRPr lang="ru-RU" b="1" dirty="0">
              <a:solidFill>
                <a:schemeClr val="tx1"/>
              </a:solidFill>
            </a:endParaRPr>
          </a:p>
          <a:p>
            <a:pPr algn="ctr"/>
            <a:r>
              <a:rPr lang="ru-RU" dirty="0">
                <a:solidFill>
                  <a:schemeClr val="tx1"/>
                </a:solidFill>
              </a:rPr>
              <a:t>Управление пакетами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74E60E9A-10BA-6CC9-E7AC-66ACCC89C0A1}"/>
              </a:ext>
            </a:extLst>
          </p:cNvPr>
          <p:cNvSpPr/>
          <p:nvPr/>
        </p:nvSpPr>
        <p:spPr>
          <a:xfrm>
            <a:off x="-15420123" y="3010696"/>
            <a:ext cx="2361003" cy="1439757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ESLint</a:t>
            </a:r>
            <a:endParaRPr lang="ru-RU" b="1" dirty="0">
              <a:solidFill>
                <a:schemeClr val="tx1"/>
              </a:solidFill>
            </a:endParaRPr>
          </a:p>
          <a:p>
            <a:pPr algn="ctr"/>
            <a:r>
              <a:rPr lang="ru-RU" dirty="0" err="1">
                <a:solidFill>
                  <a:schemeClr val="tx1"/>
                </a:solidFill>
              </a:rPr>
              <a:t>Линтинг</a:t>
            </a:r>
            <a:r>
              <a:rPr lang="ru-RU" dirty="0">
                <a:solidFill>
                  <a:schemeClr val="tx1"/>
                </a:solidFill>
              </a:rPr>
              <a:t> кода</a:t>
            </a:r>
          </a:p>
        </p:txBody>
      </p: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03442959-BC8B-617B-61F3-27339E515AED}"/>
              </a:ext>
            </a:extLst>
          </p:cNvPr>
          <p:cNvGrpSpPr/>
          <p:nvPr/>
        </p:nvGrpSpPr>
        <p:grpSpPr>
          <a:xfrm>
            <a:off x="-11400290" y="4258249"/>
            <a:ext cx="1600200" cy="1609983"/>
            <a:chOff x="9173710" y="4258249"/>
            <a:chExt cx="1600200" cy="1609983"/>
          </a:xfrm>
        </p:grpSpPr>
        <p:sp>
          <p:nvSpPr>
            <p:cNvPr id="46" name="Прямоугольник: скругленные углы 45">
              <a:extLst>
                <a:ext uri="{FF2B5EF4-FFF2-40B4-BE49-F238E27FC236}">
                  <a16:creationId xmlns:a16="http://schemas.microsoft.com/office/drawing/2014/main" id="{0BD258B5-CC48-9ABC-A83F-6BCFCBD8AD6B}"/>
                </a:ext>
              </a:extLst>
            </p:cNvPr>
            <p:cNvSpPr/>
            <p:nvPr/>
          </p:nvSpPr>
          <p:spPr>
            <a:xfrm>
              <a:off x="9173710" y="4258249"/>
              <a:ext cx="1600200" cy="160998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47" name="Рисунок 46" descr="Изображение выглядит как Графика, Шрифт, символ, дизайн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E6D2D70F-625A-D8E9-8404-DA90E53F29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2972"/>
            <a:stretch>
              <a:fillRect/>
            </a:stretch>
          </p:blipFill>
          <p:spPr>
            <a:xfrm>
              <a:off x="9444660" y="4537521"/>
              <a:ext cx="1225892" cy="1089537"/>
            </a:xfrm>
            <a:prstGeom prst="rect">
              <a:avLst/>
            </a:prstGeom>
          </p:spPr>
        </p:pic>
      </p:grp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9493AAB0-4D5B-F2BD-44F6-BE21D8AF1130}"/>
              </a:ext>
            </a:extLst>
          </p:cNvPr>
          <p:cNvSpPr/>
          <p:nvPr/>
        </p:nvSpPr>
        <p:spPr>
          <a:xfrm>
            <a:off x="-11800994" y="3010696"/>
            <a:ext cx="2361003" cy="1439757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Git</a:t>
            </a:r>
            <a:endParaRPr lang="ru-RU" b="1" dirty="0">
              <a:solidFill>
                <a:schemeClr val="tx1"/>
              </a:solidFill>
            </a:endParaRPr>
          </a:p>
          <a:p>
            <a:pPr algn="ctr"/>
            <a:r>
              <a:rPr lang="ru-RU" dirty="0">
                <a:solidFill>
                  <a:schemeClr val="tx1"/>
                </a:solidFill>
              </a:rPr>
              <a:t>Система контроля версий</a:t>
            </a:r>
          </a:p>
        </p:txBody>
      </p:sp>
    </p:spTree>
    <p:extLst>
      <p:ext uri="{BB962C8B-B14F-4D97-AF65-F5344CB8AC3E}">
        <p14:creationId xmlns:p14="http://schemas.microsoft.com/office/powerpoint/2010/main" val="3666621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72335-77AB-CF67-5628-08E5F3E01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 descr="Изображение выглядит как зеленый, Красочность, све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A9D2E78-ABF1-76E1-20D9-C89C83CD31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Прямая соединительная линия 1" hidden="1">
            <a:extLst>
              <a:ext uri="{FF2B5EF4-FFF2-40B4-BE49-F238E27FC236}">
                <a16:creationId xmlns:a16="http://schemas.microsoft.com/office/drawing/2014/main" id="{C3EBAB5C-C117-2173-BA8A-9F8B4798D061}"/>
              </a:ext>
            </a:extLst>
          </p:cNvPr>
          <p:cNvCxnSpPr/>
          <p:nvPr/>
        </p:nvCxnSpPr>
        <p:spPr>
          <a:xfrm>
            <a:off x="9942286" y="6589486"/>
            <a:ext cx="18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 hidden="1">
            <a:extLst>
              <a:ext uri="{FF2B5EF4-FFF2-40B4-BE49-F238E27FC236}">
                <a16:creationId xmlns:a16="http://schemas.microsoft.com/office/drawing/2014/main" id="{EF702907-62A7-BD66-9A09-25417AED050C}"/>
              </a:ext>
            </a:extLst>
          </p:cNvPr>
          <p:cNvCxnSpPr>
            <a:cxnSpLocks/>
          </p:cNvCxnSpPr>
          <p:nvPr/>
        </p:nvCxnSpPr>
        <p:spPr>
          <a:xfrm>
            <a:off x="9942286" y="6587896"/>
            <a:ext cx="594000" cy="0"/>
          </a:xfrm>
          <a:prstGeom prst="line">
            <a:avLst/>
          </a:prstGeom>
          <a:ln>
            <a:solidFill>
              <a:srgbClr val="97E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 hidden="1">
            <a:extLst>
              <a:ext uri="{FF2B5EF4-FFF2-40B4-BE49-F238E27FC236}">
                <a16:creationId xmlns:a16="http://schemas.microsoft.com/office/drawing/2014/main" id="{8BB8F7B0-2186-18E6-7A48-610C597BEAB7}"/>
              </a:ext>
            </a:extLst>
          </p:cNvPr>
          <p:cNvCxnSpPr>
            <a:cxnSpLocks/>
          </p:cNvCxnSpPr>
          <p:nvPr/>
        </p:nvCxnSpPr>
        <p:spPr>
          <a:xfrm flipV="1">
            <a:off x="10533764" y="6517481"/>
            <a:ext cx="0" cy="79148"/>
          </a:xfrm>
          <a:prstGeom prst="line">
            <a:avLst/>
          </a:prstGeom>
          <a:ln w="12700">
            <a:solidFill>
              <a:srgbClr val="97E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 descr="Инструменты со сплошной заливкой" hidden="1">
            <a:extLst>
              <a:ext uri="{FF2B5EF4-FFF2-40B4-BE49-F238E27FC236}">
                <a16:creationId xmlns:a16="http://schemas.microsoft.com/office/drawing/2014/main" id="{B097F9C1-FE32-4E5F-6285-4D388EED44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91866" y="6445250"/>
            <a:ext cx="83795" cy="83795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A3A3ECE-7DE1-E3CA-EBB9-60EF26F78111}"/>
              </a:ext>
            </a:extLst>
          </p:cNvPr>
          <p:cNvSpPr/>
          <p:nvPr/>
        </p:nvSpPr>
        <p:spPr>
          <a:xfrm>
            <a:off x="3600419" y="305785"/>
            <a:ext cx="4991161" cy="1204684"/>
          </a:xfrm>
          <a:prstGeom prst="roundRect">
            <a:avLst/>
          </a:prstGeom>
          <a:solidFill>
            <a:schemeClr val="tx1">
              <a:alpha val="39000"/>
            </a:schemeClr>
          </a:solidFill>
          <a:ln>
            <a:noFill/>
          </a:ln>
          <a:effectLst>
            <a:glow rad="88900">
              <a:schemeClr val="tx1">
                <a:alpha val="40000"/>
              </a:schemeClr>
            </a:glow>
            <a:outerShdw blurRad="279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TD Mars" pitchFamily="50" charset="0"/>
              </a:rPr>
              <a:t>РЕШЕНИЕ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48E6E1B2-FAF4-528B-5232-D29A680D4A02}"/>
              </a:ext>
            </a:extLst>
          </p:cNvPr>
          <p:cNvSpPr/>
          <p:nvPr/>
        </p:nvSpPr>
        <p:spPr>
          <a:xfrm>
            <a:off x="491697" y="1915244"/>
            <a:ext cx="3223048" cy="4518374"/>
          </a:xfrm>
          <a:prstGeom prst="roundRect">
            <a:avLst/>
          </a:prstGeom>
          <a:solidFill>
            <a:schemeClr val="tx1">
              <a:lumMod val="65000"/>
              <a:lumOff val="3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B260B3-737A-ED82-6F10-72FBCD8BF961}"/>
              </a:ext>
            </a:extLst>
          </p:cNvPr>
          <p:cNvSpPr txBox="1"/>
          <p:nvPr/>
        </p:nvSpPr>
        <p:spPr>
          <a:xfrm>
            <a:off x="2131779" y="2045809"/>
            <a:ext cx="1614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V-SKIFER" pitchFamily="50" charset="0"/>
              </a:rPr>
              <a:t>PULSE</a:t>
            </a:r>
            <a:endParaRPr lang="ru-RU" sz="2800" dirty="0">
              <a:latin typeface="MV-SKIFER" pitchFamily="50" charset="0"/>
            </a:endParaRPr>
          </a:p>
        </p:txBody>
      </p:sp>
      <p:pic>
        <p:nvPicPr>
          <p:cNvPr id="13" name="Рисунок 12" descr="Изображение выглядит как Графика, Шрифт, логотип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33E53C9-D5D0-1B80-5B7D-9EAEFDACF4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84" y="2003711"/>
            <a:ext cx="1400472" cy="594346"/>
          </a:xfrm>
          <a:prstGeom prst="rect">
            <a:avLst/>
          </a:prstGeom>
        </p:spPr>
      </p:pic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9125EBD7-173E-DA8F-7D56-D0D01A8E1CCB}"/>
              </a:ext>
            </a:extLst>
          </p:cNvPr>
          <p:cNvSpPr/>
          <p:nvPr/>
        </p:nvSpPr>
        <p:spPr>
          <a:xfrm>
            <a:off x="627791" y="2657793"/>
            <a:ext cx="2950859" cy="3579209"/>
          </a:xfrm>
          <a:prstGeom prst="round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err="1">
                <a:solidFill>
                  <a:schemeClr val="tx1"/>
                </a:solidFill>
              </a:rPr>
              <a:t>Drivee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P</a:t>
            </a:r>
            <a:r>
              <a:rPr lang="ru-RU" sz="2000" dirty="0" err="1">
                <a:solidFill>
                  <a:schemeClr val="tx1"/>
                </a:solidFill>
              </a:rPr>
              <a:t>ulse</a:t>
            </a:r>
            <a:r>
              <a:rPr lang="ru-RU" sz="2000" dirty="0">
                <a:solidFill>
                  <a:schemeClr val="tx1"/>
                </a:solidFill>
              </a:rPr>
              <a:t> - это ML-модель, которая подсказывает клиенту оптимальную цену для поездки, а водителю варианты цен для предложения клиенту.</a:t>
            </a:r>
          </a:p>
        </p:txBody>
      </p:sp>
      <p:sp>
        <p:nvSpPr>
          <p:cNvPr id="23" name="Прямоугольник: скругленные углы 22" hidden="1">
            <a:extLst>
              <a:ext uri="{FF2B5EF4-FFF2-40B4-BE49-F238E27FC236}">
                <a16:creationId xmlns:a16="http://schemas.microsoft.com/office/drawing/2014/main" id="{BFA1EFFF-CBA6-DFED-8A79-88B5543321AA}"/>
              </a:ext>
            </a:extLst>
          </p:cNvPr>
          <p:cNvSpPr/>
          <p:nvPr/>
        </p:nvSpPr>
        <p:spPr>
          <a:xfrm>
            <a:off x="5652556" y="-369215"/>
            <a:ext cx="6047747" cy="608593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Клиент вводи куда и откуда он хочет добраться.</a:t>
            </a:r>
          </a:p>
        </p:txBody>
      </p:sp>
      <p:sp>
        <p:nvSpPr>
          <p:cNvPr id="24" name="Овал 23" hidden="1">
            <a:extLst>
              <a:ext uri="{FF2B5EF4-FFF2-40B4-BE49-F238E27FC236}">
                <a16:creationId xmlns:a16="http://schemas.microsoft.com/office/drawing/2014/main" id="{E44837FA-9626-8E86-A88F-CE033DB18220}"/>
              </a:ext>
            </a:extLst>
          </p:cNvPr>
          <p:cNvSpPr/>
          <p:nvPr/>
        </p:nvSpPr>
        <p:spPr>
          <a:xfrm>
            <a:off x="8526262" y="397282"/>
            <a:ext cx="333829" cy="333829"/>
          </a:xfrm>
          <a:prstGeom prst="ellipse">
            <a:avLst/>
          </a:prstGeom>
          <a:solidFill>
            <a:srgbClr val="97EA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 hidden="1">
            <a:extLst>
              <a:ext uri="{FF2B5EF4-FFF2-40B4-BE49-F238E27FC236}">
                <a16:creationId xmlns:a16="http://schemas.microsoft.com/office/drawing/2014/main" id="{136D8378-D8A4-89FE-742C-F142B574D3BA}"/>
              </a:ext>
            </a:extLst>
          </p:cNvPr>
          <p:cNvSpPr/>
          <p:nvPr/>
        </p:nvSpPr>
        <p:spPr>
          <a:xfrm>
            <a:off x="5652557" y="890881"/>
            <a:ext cx="5911652" cy="917961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Система автоматически дополняет данные: Название и модель машины, дистанция, и. т. п.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EB00C63B-2AF7-8848-646C-ECECCB8EF41D}"/>
              </a:ext>
            </a:extLst>
          </p:cNvPr>
          <p:cNvSpPr/>
          <p:nvPr/>
        </p:nvSpPr>
        <p:spPr>
          <a:xfrm>
            <a:off x="5652556" y="2460345"/>
            <a:ext cx="6110269" cy="1948930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Модель анализирует данные и выдает результат:</a:t>
            </a:r>
          </a:p>
          <a:p>
            <a:pPr algn="ctr"/>
            <a:r>
              <a:rPr lang="ru-RU" b="1" dirty="0">
                <a:solidFill>
                  <a:srgbClr val="92D050"/>
                </a:solidFill>
                <a:effectLst>
                  <a:outerShdw blurRad="76200" dist="50800" dir="5400000" algn="ctr" rotWithShape="0">
                    <a:srgbClr val="000000">
                      <a:alpha val="43137"/>
                    </a:srgbClr>
                  </a:outerShdw>
                </a:effectLst>
              </a:rPr>
              <a:t>Безопасный</a:t>
            </a:r>
            <a:r>
              <a:rPr lang="ru-RU" dirty="0">
                <a:solidFill>
                  <a:srgbClr val="92D050"/>
                </a:solidFill>
                <a:effectLst>
                  <a:outerShdw blurRad="76200" dist="50800" dir="5400000" algn="ctr" rotWithShape="0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ru-RU" dirty="0">
                <a:solidFill>
                  <a:schemeClr val="tx1"/>
                </a:solidFill>
              </a:rPr>
              <a:t>500 руб. | Вероятность согласия 90%</a:t>
            </a:r>
          </a:p>
          <a:p>
            <a:pPr algn="ctr"/>
            <a:r>
              <a:rPr lang="ru-RU" b="1" dirty="0"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76200" dist="50800" dir="5400000" algn="ctr" rotWithShape="0">
                    <a:srgbClr val="000000">
                      <a:alpha val="43137"/>
                    </a:srgbClr>
                  </a:outerShdw>
                </a:effectLst>
              </a:rPr>
              <a:t>Оптимальный</a:t>
            </a:r>
            <a:r>
              <a:rPr lang="ru-RU" dirty="0">
                <a:solidFill>
                  <a:schemeClr val="tx2">
                    <a:lumMod val="50000"/>
                    <a:lumOff val="50000"/>
                  </a:schemeClr>
                </a:solidFill>
              </a:rPr>
              <a:t>: </a:t>
            </a:r>
            <a:r>
              <a:rPr lang="ru-RU" dirty="0">
                <a:solidFill>
                  <a:schemeClr val="tx1"/>
                </a:solidFill>
              </a:rPr>
              <a:t>Цена: 550 руб. | Вероятность согласия: 80%</a:t>
            </a:r>
          </a:p>
          <a:p>
            <a:pPr algn="ctr"/>
            <a:r>
              <a:rPr lang="ru-RU" dirty="0">
                <a:solidFill>
                  <a:srgbClr val="FF0000"/>
                </a:solidFill>
                <a:effectLst>
                  <a:outerShdw blurRad="76200" dist="50800" dir="5400000" algn="ctr" rotWithShape="0">
                    <a:srgbClr val="000000">
                      <a:alpha val="43137"/>
                    </a:srgbClr>
                  </a:outerShdw>
                </a:effectLst>
              </a:rPr>
              <a:t>Рискованный</a:t>
            </a:r>
            <a:r>
              <a:rPr lang="ru-RU" dirty="0">
                <a:solidFill>
                  <a:srgbClr val="FF0000"/>
                </a:solidFill>
              </a:rPr>
              <a:t>:</a:t>
            </a:r>
            <a:r>
              <a:rPr lang="ru-RU" dirty="0">
                <a:solidFill>
                  <a:schemeClr val="tx1"/>
                </a:solidFill>
              </a:rPr>
              <a:t> Цена: 650 руб. | Вероятность согласия: 60%</a:t>
            </a: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64583194-54E4-718C-23F9-F79D91A9A808}"/>
              </a:ext>
            </a:extLst>
          </p:cNvPr>
          <p:cNvGrpSpPr/>
          <p:nvPr/>
        </p:nvGrpSpPr>
        <p:grpSpPr>
          <a:xfrm>
            <a:off x="5652556" y="4567179"/>
            <a:ext cx="6110269" cy="1745283"/>
            <a:chOff x="5652556" y="4567179"/>
            <a:chExt cx="6110269" cy="1745283"/>
          </a:xfrm>
        </p:grpSpPr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DEFD14CF-BDC5-05E8-9F97-A72BCB42B489}"/>
                </a:ext>
              </a:extLst>
            </p:cNvPr>
            <p:cNvSpPr/>
            <p:nvPr/>
          </p:nvSpPr>
          <p:spPr>
            <a:xfrm>
              <a:off x="8523548" y="4567179"/>
              <a:ext cx="333829" cy="333829"/>
            </a:xfrm>
            <a:prstGeom prst="ellipse">
              <a:avLst/>
            </a:prstGeom>
            <a:solidFill>
              <a:srgbClr val="97EA2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: скругленные углы 9">
              <a:extLst>
                <a:ext uri="{FF2B5EF4-FFF2-40B4-BE49-F238E27FC236}">
                  <a16:creationId xmlns:a16="http://schemas.microsoft.com/office/drawing/2014/main" id="{2DBC6B0A-E446-4C32-4640-051604C30958}"/>
                </a:ext>
              </a:extLst>
            </p:cNvPr>
            <p:cNvSpPr/>
            <p:nvPr/>
          </p:nvSpPr>
          <p:spPr>
            <a:xfrm>
              <a:off x="5652556" y="5063482"/>
              <a:ext cx="6110269" cy="1248980"/>
            </a:xfrm>
            <a:prstGeom prst="roundRect">
              <a:avLst/>
            </a:pr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>
                  <a:solidFill>
                    <a:schemeClr val="tx1"/>
                  </a:solidFill>
                  <a:effectLst>
                    <a:outerShdw blurRad="76200" dist="50800" dir="5400000" algn="ctr" rotWithShape="0">
                      <a:srgbClr val="000000">
                        <a:alpha val="43137"/>
                      </a:srgbClr>
                    </a:outerShdw>
                  </a:effectLst>
                </a:rPr>
                <a:t>Преимущество: </a:t>
              </a:r>
              <a:r>
                <a:rPr lang="ru-RU" dirty="0">
                  <a:solidFill>
                    <a:schemeClr val="tx1"/>
                  </a:solidFill>
                </a:rPr>
                <a:t>Таксист получает не просто цифру, а обоснованный прогноз, и может сам выбрать стратегию: надежную или с наценкой.</a:t>
              </a:r>
            </a:p>
          </p:txBody>
        </p:sp>
      </p:grp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CE847DD-4AE7-E130-5D5D-1C377EAF8C86}"/>
              </a:ext>
            </a:extLst>
          </p:cNvPr>
          <p:cNvSpPr/>
          <p:nvPr/>
        </p:nvSpPr>
        <p:spPr>
          <a:xfrm>
            <a:off x="323850" y="7600548"/>
            <a:ext cx="1104900" cy="471345"/>
          </a:xfrm>
          <a:prstGeom prst="rect">
            <a:avLst/>
          </a:prstGeom>
          <a:solidFill>
            <a:schemeClr val="bg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7F22E69-0AE7-A54D-C096-157816AAEE3E}"/>
              </a:ext>
            </a:extLst>
          </p:cNvPr>
          <p:cNvSpPr/>
          <p:nvPr/>
        </p:nvSpPr>
        <p:spPr>
          <a:xfrm>
            <a:off x="2965411" y="7600547"/>
            <a:ext cx="1104900" cy="471345"/>
          </a:xfrm>
          <a:prstGeom prst="rect">
            <a:avLst/>
          </a:prstGeom>
          <a:solidFill>
            <a:schemeClr val="bg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FF9F602-AF14-772C-314B-0AA7A43AF572}"/>
              </a:ext>
            </a:extLst>
          </p:cNvPr>
          <p:cNvSpPr/>
          <p:nvPr/>
        </p:nvSpPr>
        <p:spPr>
          <a:xfrm>
            <a:off x="1604943" y="7600548"/>
            <a:ext cx="1104900" cy="471345"/>
          </a:xfrm>
          <a:prstGeom prst="rect">
            <a:avLst/>
          </a:prstGeom>
          <a:solidFill>
            <a:srgbClr val="FFFF00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 descr="Изображение выглядит как Графика, Шрифт, логотип,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E093950-BE23-E416-475D-2AF774C5E4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017" y="6914858"/>
            <a:ext cx="682565" cy="682565"/>
          </a:xfrm>
          <a:prstGeom prst="rect">
            <a:avLst/>
          </a:prstGeom>
        </p:spPr>
      </p:pic>
      <p:pic>
        <p:nvPicPr>
          <p:cNvPr id="19" name="Рисунок 18" descr="Изображение выглядит как логотип, символ, График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E538192-2878-A491-CFFD-C16CAFE1A8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88" t="13294" r="29583" b="12699"/>
          <a:stretch>
            <a:fillRect/>
          </a:stretch>
        </p:blipFill>
        <p:spPr>
          <a:xfrm>
            <a:off x="3170237" y="6946764"/>
            <a:ext cx="695248" cy="663242"/>
          </a:xfrm>
          <a:prstGeom prst="rect">
            <a:avLst/>
          </a:prstGeom>
        </p:spPr>
      </p:pic>
      <p:pic>
        <p:nvPicPr>
          <p:cNvPr id="22" name="Рисунок 21" descr="Изображение выглядит как Графика, Шрифт, логотип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824ED22-07A0-B1A4-2EFC-598ACD48CA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343" y="6914858"/>
            <a:ext cx="1114479" cy="47297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06C0338-735C-C7A4-8478-DE7D806F4FDA}"/>
              </a:ext>
            </a:extLst>
          </p:cNvPr>
          <p:cNvSpPr txBox="1"/>
          <p:nvPr/>
        </p:nvSpPr>
        <p:spPr>
          <a:xfrm>
            <a:off x="1604943" y="7302724"/>
            <a:ext cx="1285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MV-SKIFER" pitchFamily="50" charset="0"/>
              </a:rPr>
              <a:t>PULSE</a:t>
            </a:r>
            <a:endParaRPr lang="ru-RU" sz="2000" b="1" dirty="0">
              <a:latin typeface="MV-SKIFER" pitchFamily="50" charset="0"/>
            </a:endParaRP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8AA22CD1-06B3-4A97-F319-BAF1B3EF495D}"/>
              </a:ext>
            </a:extLst>
          </p:cNvPr>
          <p:cNvSpPr/>
          <p:nvPr/>
        </p:nvSpPr>
        <p:spPr>
          <a:xfrm>
            <a:off x="-8408133" y="400409"/>
            <a:ext cx="7519865" cy="1204684"/>
          </a:xfrm>
          <a:prstGeom prst="roundRect">
            <a:avLst/>
          </a:prstGeom>
          <a:solidFill>
            <a:schemeClr val="accent1">
              <a:lumMod val="60000"/>
              <a:lumOff val="40000"/>
              <a:alpha val="39000"/>
            </a:schemeClr>
          </a:solidFill>
          <a:ln>
            <a:noFill/>
          </a:ln>
          <a:effectLst>
            <a:glow rad="88900">
              <a:srgbClr val="00B0F0">
                <a:alpha val="40000"/>
              </a:srgbClr>
            </a:glow>
            <a:outerShdw blurRad="279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TD Mars" pitchFamily="50" charset="0"/>
              </a:rPr>
              <a:t>Альтернативные предложения</a:t>
            </a:r>
          </a:p>
        </p:txBody>
      </p:sp>
    </p:spTree>
    <p:extLst>
      <p:ext uri="{BB962C8B-B14F-4D97-AF65-F5344CB8AC3E}">
        <p14:creationId xmlns:p14="http://schemas.microsoft.com/office/powerpoint/2010/main" val="3625083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10CFD-8083-34B4-C702-D2EBF97BC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 descr="Изображение выглядит как зеленый, Красочность, све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31EF9F1-CD69-3A10-4E85-D38EFB8F28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Прямая соединительная линия 1" hidden="1">
            <a:extLst>
              <a:ext uri="{FF2B5EF4-FFF2-40B4-BE49-F238E27FC236}">
                <a16:creationId xmlns:a16="http://schemas.microsoft.com/office/drawing/2014/main" id="{CA6D4861-A968-83C1-AC99-AD3BF1554403}"/>
              </a:ext>
            </a:extLst>
          </p:cNvPr>
          <p:cNvCxnSpPr/>
          <p:nvPr/>
        </p:nvCxnSpPr>
        <p:spPr>
          <a:xfrm>
            <a:off x="9942286" y="6589486"/>
            <a:ext cx="18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 hidden="1">
            <a:extLst>
              <a:ext uri="{FF2B5EF4-FFF2-40B4-BE49-F238E27FC236}">
                <a16:creationId xmlns:a16="http://schemas.microsoft.com/office/drawing/2014/main" id="{62130E8F-9C40-6566-898E-D4E97A4CCE20}"/>
              </a:ext>
            </a:extLst>
          </p:cNvPr>
          <p:cNvCxnSpPr>
            <a:cxnSpLocks/>
          </p:cNvCxnSpPr>
          <p:nvPr/>
        </p:nvCxnSpPr>
        <p:spPr>
          <a:xfrm>
            <a:off x="9942286" y="6587896"/>
            <a:ext cx="594000" cy="0"/>
          </a:xfrm>
          <a:prstGeom prst="line">
            <a:avLst/>
          </a:prstGeom>
          <a:ln>
            <a:solidFill>
              <a:srgbClr val="97E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 hidden="1">
            <a:extLst>
              <a:ext uri="{FF2B5EF4-FFF2-40B4-BE49-F238E27FC236}">
                <a16:creationId xmlns:a16="http://schemas.microsoft.com/office/drawing/2014/main" id="{901044DA-5B7E-DB16-3679-2E2CE5CF8046}"/>
              </a:ext>
            </a:extLst>
          </p:cNvPr>
          <p:cNvCxnSpPr>
            <a:cxnSpLocks/>
          </p:cNvCxnSpPr>
          <p:nvPr/>
        </p:nvCxnSpPr>
        <p:spPr>
          <a:xfrm flipV="1">
            <a:off x="10533764" y="6517481"/>
            <a:ext cx="0" cy="79148"/>
          </a:xfrm>
          <a:prstGeom prst="line">
            <a:avLst/>
          </a:prstGeom>
          <a:ln w="12700">
            <a:solidFill>
              <a:srgbClr val="97E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 descr="Инструменты со сплошной заливкой" hidden="1">
            <a:extLst>
              <a:ext uri="{FF2B5EF4-FFF2-40B4-BE49-F238E27FC236}">
                <a16:creationId xmlns:a16="http://schemas.microsoft.com/office/drawing/2014/main" id="{E2272C87-D88E-B2C2-4741-16954528BF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91866" y="6445250"/>
            <a:ext cx="83795" cy="83795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0A0EEDA-EF49-CDF3-0895-1C814466CC96}"/>
              </a:ext>
            </a:extLst>
          </p:cNvPr>
          <p:cNvSpPr/>
          <p:nvPr/>
        </p:nvSpPr>
        <p:spPr>
          <a:xfrm>
            <a:off x="13582619" y="305785"/>
            <a:ext cx="4991161" cy="1204684"/>
          </a:xfrm>
          <a:prstGeom prst="roundRect">
            <a:avLst/>
          </a:prstGeom>
          <a:solidFill>
            <a:schemeClr val="tx1">
              <a:alpha val="39000"/>
            </a:schemeClr>
          </a:solidFill>
          <a:ln>
            <a:noFill/>
          </a:ln>
          <a:effectLst>
            <a:glow rad="88900">
              <a:schemeClr val="tx1">
                <a:alpha val="40000"/>
              </a:schemeClr>
            </a:glow>
            <a:outerShdw blurRad="279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TD Mars" pitchFamily="50" charset="0"/>
              </a:rPr>
              <a:t>РЕШЕНИЕ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48984A61-7E3D-5443-B6B3-AF68B0280D76}"/>
              </a:ext>
            </a:extLst>
          </p:cNvPr>
          <p:cNvSpPr/>
          <p:nvPr/>
        </p:nvSpPr>
        <p:spPr>
          <a:xfrm>
            <a:off x="-4619016" y="2045809"/>
            <a:ext cx="3223048" cy="4518374"/>
          </a:xfrm>
          <a:prstGeom prst="roundRect">
            <a:avLst/>
          </a:prstGeom>
          <a:solidFill>
            <a:schemeClr val="tx1">
              <a:lumMod val="65000"/>
              <a:lumOff val="3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B4C90C-EF7D-3ADD-EE9A-641212D0FB79}"/>
              </a:ext>
            </a:extLst>
          </p:cNvPr>
          <p:cNvSpPr txBox="1"/>
          <p:nvPr/>
        </p:nvSpPr>
        <p:spPr>
          <a:xfrm>
            <a:off x="-3151421" y="2045809"/>
            <a:ext cx="1614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V-SKIFER" pitchFamily="50" charset="0"/>
              </a:rPr>
              <a:t>PULSE</a:t>
            </a:r>
            <a:endParaRPr lang="ru-RU" sz="2800" dirty="0">
              <a:latin typeface="MV-SKIFER" pitchFamily="50" charset="0"/>
            </a:endParaRPr>
          </a:p>
        </p:txBody>
      </p:sp>
      <p:pic>
        <p:nvPicPr>
          <p:cNvPr id="13" name="Рисунок 12" descr="Изображение выглядит как Графика, Шрифт, логотип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189D39F-7C20-CA53-5128-A6836A95AD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09916" y="2003711"/>
            <a:ext cx="1400472" cy="594346"/>
          </a:xfrm>
          <a:prstGeom prst="rect">
            <a:avLst/>
          </a:prstGeom>
        </p:spPr>
      </p:pic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4F81C35F-91C9-7420-3D3D-1F25B65D6F65}"/>
              </a:ext>
            </a:extLst>
          </p:cNvPr>
          <p:cNvSpPr/>
          <p:nvPr/>
        </p:nvSpPr>
        <p:spPr>
          <a:xfrm>
            <a:off x="-4655409" y="2657793"/>
            <a:ext cx="2950859" cy="3579209"/>
          </a:xfrm>
          <a:prstGeom prst="round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err="1">
                <a:solidFill>
                  <a:schemeClr val="tx1"/>
                </a:solidFill>
              </a:rPr>
              <a:t>Drivee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P</a:t>
            </a:r>
            <a:r>
              <a:rPr lang="ru-RU" sz="2000" dirty="0" err="1">
                <a:solidFill>
                  <a:schemeClr val="tx1"/>
                </a:solidFill>
              </a:rPr>
              <a:t>ulse</a:t>
            </a:r>
            <a:r>
              <a:rPr lang="ru-RU" sz="2000" dirty="0">
                <a:solidFill>
                  <a:schemeClr val="tx1"/>
                </a:solidFill>
              </a:rPr>
              <a:t> - это ML-модель, которая подсказывает клиенту оптимальную цену для поездки, а водителю варианты цен для предложения клиенту.</a:t>
            </a:r>
          </a:p>
        </p:txBody>
      </p:sp>
      <p:sp>
        <p:nvSpPr>
          <p:cNvPr id="23" name="Прямоугольник: скругленные углы 22" hidden="1">
            <a:extLst>
              <a:ext uri="{FF2B5EF4-FFF2-40B4-BE49-F238E27FC236}">
                <a16:creationId xmlns:a16="http://schemas.microsoft.com/office/drawing/2014/main" id="{AADD7F52-894C-0419-F54C-3D064DF9C3FD}"/>
              </a:ext>
            </a:extLst>
          </p:cNvPr>
          <p:cNvSpPr/>
          <p:nvPr/>
        </p:nvSpPr>
        <p:spPr>
          <a:xfrm>
            <a:off x="5652556" y="-369215"/>
            <a:ext cx="6047747" cy="608593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Клиент вводи куда и откуда он хочет добраться.</a:t>
            </a:r>
          </a:p>
        </p:txBody>
      </p:sp>
      <p:sp>
        <p:nvSpPr>
          <p:cNvPr id="24" name="Овал 23" hidden="1">
            <a:extLst>
              <a:ext uri="{FF2B5EF4-FFF2-40B4-BE49-F238E27FC236}">
                <a16:creationId xmlns:a16="http://schemas.microsoft.com/office/drawing/2014/main" id="{0983D109-C6BF-F6AB-8C04-0A024E345E09}"/>
              </a:ext>
            </a:extLst>
          </p:cNvPr>
          <p:cNvSpPr/>
          <p:nvPr/>
        </p:nvSpPr>
        <p:spPr>
          <a:xfrm>
            <a:off x="8526262" y="397282"/>
            <a:ext cx="333829" cy="333829"/>
          </a:xfrm>
          <a:prstGeom prst="ellipse">
            <a:avLst/>
          </a:prstGeom>
          <a:solidFill>
            <a:srgbClr val="97EA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 hidden="1">
            <a:extLst>
              <a:ext uri="{FF2B5EF4-FFF2-40B4-BE49-F238E27FC236}">
                <a16:creationId xmlns:a16="http://schemas.microsoft.com/office/drawing/2014/main" id="{E63E3DF2-07B9-0458-0229-8104D02164F2}"/>
              </a:ext>
            </a:extLst>
          </p:cNvPr>
          <p:cNvSpPr/>
          <p:nvPr/>
        </p:nvSpPr>
        <p:spPr>
          <a:xfrm>
            <a:off x="5652557" y="890881"/>
            <a:ext cx="5911652" cy="917961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Система автоматически дополняет данные: Название и модель машины, дистанция, и. т. п.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A5385C2-653A-7649-029C-F54150280FBE}"/>
              </a:ext>
            </a:extLst>
          </p:cNvPr>
          <p:cNvSpPr/>
          <p:nvPr/>
        </p:nvSpPr>
        <p:spPr>
          <a:xfrm>
            <a:off x="2336067" y="400409"/>
            <a:ext cx="7519865" cy="1204684"/>
          </a:xfrm>
          <a:prstGeom prst="roundRect">
            <a:avLst/>
          </a:prstGeom>
          <a:solidFill>
            <a:schemeClr val="accent1">
              <a:lumMod val="60000"/>
              <a:lumOff val="40000"/>
              <a:alpha val="39000"/>
            </a:schemeClr>
          </a:solidFill>
          <a:ln>
            <a:noFill/>
          </a:ln>
          <a:effectLst>
            <a:glow rad="88900">
              <a:srgbClr val="00B0F0">
                <a:alpha val="40000"/>
              </a:srgbClr>
            </a:glow>
            <a:outerShdw blurRad="279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TD Mars" pitchFamily="50" charset="0"/>
              </a:rPr>
              <a:t>Альтернативные предложения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5EFB60C-6C2E-E622-D6D0-5E8877ADEE62}"/>
              </a:ext>
            </a:extLst>
          </p:cNvPr>
          <p:cNvSpPr/>
          <p:nvPr/>
        </p:nvSpPr>
        <p:spPr>
          <a:xfrm>
            <a:off x="323850" y="5175250"/>
            <a:ext cx="1104900" cy="2101850"/>
          </a:xfrm>
          <a:prstGeom prst="rect">
            <a:avLst/>
          </a:prstGeom>
          <a:solidFill>
            <a:schemeClr val="bg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89FC905-BD1A-8914-18B7-95F61FCA3C7A}"/>
              </a:ext>
            </a:extLst>
          </p:cNvPr>
          <p:cNvSpPr/>
          <p:nvPr/>
        </p:nvSpPr>
        <p:spPr>
          <a:xfrm>
            <a:off x="2965411" y="5162550"/>
            <a:ext cx="1104900" cy="2114550"/>
          </a:xfrm>
          <a:prstGeom prst="rect">
            <a:avLst/>
          </a:prstGeom>
          <a:solidFill>
            <a:schemeClr val="bg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AB4364E-8178-9982-620D-05487679F058}"/>
              </a:ext>
            </a:extLst>
          </p:cNvPr>
          <p:cNvSpPr/>
          <p:nvPr/>
        </p:nvSpPr>
        <p:spPr>
          <a:xfrm>
            <a:off x="1604943" y="3086100"/>
            <a:ext cx="1104900" cy="4191000"/>
          </a:xfrm>
          <a:prstGeom prst="rect">
            <a:avLst/>
          </a:prstGeom>
          <a:solidFill>
            <a:srgbClr val="FFFF00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 descr="Изображение выглядит как Графика, Шрифт, логотип,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111F279-4605-A880-C7BD-CB6A7424CF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87" y="4492685"/>
            <a:ext cx="682565" cy="682565"/>
          </a:xfrm>
          <a:prstGeom prst="rect">
            <a:avLst/>
          </a:prstGeom>
        </p:spPr>
      </p:pic>
      <p:pic>
        <p:nvPicPr>
          <p:cNvPr id="22" name="Рисунок 21" descr="Изображение выглядит как логотип, символ, График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E94EFE6-BF6F-2EAD-EC6C-4F20AC031F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88" t="13294" r="29583" b="12699"/>
          <a:stretch>
            <a:fillRect/>
          </a:stretch>
        </p:blipFill>
        <p:spPr>
          <a:xfrm>
            <a:off x="3170237" y="4524708"/>
            <a:ext cx="695248" cy="663242"/>
          </a:xfrm>
          <a:prstGeom prst="rect">
            <a:avLst/>
          </a:prstGeom>
        </p:spPr>
      </p:pic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32F925A5-9ABD-F6D0-A320-C40AA5B2ACDD}"/>
              </a:ext>
            </a:extLst>
          </p:cNvPr>
          <p:cNvSpPr/>
          <p:nvPr/>
        </p:nvSpPr>
        <p:spPr>
          <a:xfrm>
            <a:off x="6095999" y="2685691"/>
            <a:ext cx="5667453" cy="2769317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Конкуренты, такие как </a:t>
            </a:r>
            <a:r>
              <a:rPr lang="ru-RU" sz="2400" dirty="0" err="1">
                <a:solidFill>
                  <a:schemeClr val="tx1"/>
                </a:solidFill>
              </a:rPr>
              <a:t>YandexGo</a:t>
            </a:r>
            <a:r>
              <a:rPr lang="ru-RU" sz="2400" dirty="0">
                <a:solidFill>
                  <a:schemeClr val="tx1"/>
                </a:solidFill>
              </a:rPr>
              <a:t>, </a:t>
            </a:r>
            <a:r>
              <a:rPr lang="ru-RU" sz="2400" dirty="0" err="1">
                <a:solidFill>
                  <a:schemeClr val="tx1"/>
                </a:solidFill>
              </a:rPr>
              <a:t>InDrive</a:t>
            </a:r>
            <a:r>
              <a:rPr lang="ru-RU" sz="2400" dirty="0">
                <a:solidFill>
                  <a:schemeClr val="tx1"/>
                </a:solidFill>
              </a:rPr>
              <a:t>. Используют статичную цену, которая при учёте контекста может оказаться несправедливой. Прогноз </a:t>
            </a:r>
            <a:r>
              <a:rPr lang="ru-RU" sz="2400" dirty="0" err="1">
                <a:solidFill>
                  <a:schemeClr val="tx1"/>
                </a:solidFill>
              </a:rPr>
              <a:t>Ml</a:t>
            </a:r>
            <a:r>
              <a:rPr lang="ru-RU" sz="2400" dirty="0">
                <a:solidFill>
                  <a:schemeClr val="tx1"/>
                </a:solidFill>
              </a:rPr>
              <a:t>-модели и возможность торговаться позволяют достичь компромисса.</a:t>
            </a:r>
          </a:p>
        </p:txBody>
      </p:sp>
      <p:pic>
        <p:nvPicPr>
          <p:cNvPr id="29" name="Рисунок 28" descr="Изображение выглядит как Графика, Шрифт, логотип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2B68F45-F82D-777C-D9A1-C5C5E116AF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553" y="2390517"/>
            <a:ext cx="1114479" cy="47297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1ADB518-EB54-87A4-A7B5-EE2FFC7859A6}"/>
              </a:ext>
            </a:extLst>
          </p:cNvPr>
          <p:cNvSpPr txBox="1"/>
          <p:nvPr/>
        </p:nvSpPr>
        <p:spPr>
          <a:xfrm>
            <a:off x="1600153" y="2778383"/>
            <a:ext cx="1285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MV-SKIFER" pitchFamily="50" charset="0"/>
              </a:rPr>
              <a:t>PULSE</a:t>
            </a:r>
            <a:endParaRPr lang="ru-RU" sz="2000" b="1" dirty="0">
              <a:latin typeface="MV-SKIFER" pitchFamily="50" charset="0"/>
            </a:endParaRP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D8AABEE3-10B0-4A8D-3F63-1978FCA923FF}"/>
              </a:ext>
            </a:extLst>
          </p:cNvPr>
          <p:cNvSpPr/>
          <p:nvPr/>
        </p:nvSpPr>
        <p:spPr>
          <a:xfrm>
            <a:off x="-11445803" y="2005502"/>
            <a:ext cx="3303815" cy="3715145"/>
          </a:xfrm>
          <a:prstGeom prst="roundRect">
            <a:avLst/>
          </a:prstGeom>
          <a:solidFill>
            <a:schemeClr val="tx1">
              <a:lumMod val="65000"/>
              <a:lumOff val="3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/>
          </a:p>
          <a:p>
            <a:pPr algn="ctr"/>
            <a:endParaRPr lang="ru-RU" sz="2400" dirty="0"/>
          </a:p>
          <a:p>
            <a:pPr algn="ctr"/>
            <a:r>
              <a:rPr lang="ru-RU" sz="2400" dirty="0"/>
              <a:t>Удобный сервис для поиска компромисса по цене для таксистов и клиентов.</a:t>
            </a: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C1C9E76E-5DC0-D6C3-7ABE-35D654A7BAB7}"/>
              </a:ext>
            </a:extLst>
          </p:cNvPr>
          <p:cNvSpPr/>
          <p:nvPr/>
        </p:nvSpPr>
        <p:spPr>
          <a:xfrm>
            <a:off x="-11431288" y="2018119"/>
            <a:ext cx="3303814" cy="1136012"/>
          </a:xfrm>
          <a:prstGeom prst="roundRect">
            <a:avLst>
              <a:gd name="adj" fmla="val 46053"/>
            </a:avLst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chemeClr val="tx1"/>
                </a:solidFill>
              </a:rPr>
              <a:t>Для таксистов и клиентов</a:t>
            </a: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0BA2BE5D-0128-2D4A-C0AD-FDAFF7320AC9}"/>
              </a:ext>
            </a:extLst>
          </p:cNvPr>
          <p:cNvSpPr/>
          <p:nvPr/>
        </p:nvSpPr>
        <p:spPr>
          <a:xfrm>
            <a:off x="-5512948" y="1956961"/>
            <a:ext cx="3303815" cy="3812982"/>
          </a:xfrm>
          <a:prstGeom prst="roundRect">
            <a:avLst/>
          </a:prstGeom>
          <a:solidFill>
            <a:schemeClr val="tx1">
              <a:lumMod val="65000"/>
              <a:lumOff val="3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/>
          </a:p>
          <a:p>
            <a:pPr algn="ctr"/>
            <a:endParaRPr lang="ru-RU" sz="2400" dirty="0"/>
          </a:p>
          <a:p>
            <a:pPr algn="ctr"/>
            <a:endParaRPr lang="ru-RU" sz="2400" dirty="0"/>
          </a:p>
          <a:p>
            <a:pPr algn="ctr"/>
            <a:r>
              <a:rPr lang="ru-RU" sz="2400" dirty="0"/>
              <a:t>Обученная </a:t>
            </a:r>
            <a:r>
              <a:rPr lang="ru-RU" sz="2400" dirty="0" err="1"/>
              <a:t>ml</a:t>
            </a:r>
            <a:r>
              <a:rPr lang="ru-RU" sz="2400" dirty="0"/>
              <a:t>-модель, которую удобно интегрировать в систему.</a:t>
            </a:r>
          </a:p>
          <a:p>
            <a:pPr algn="ctr"/>
            <a:endParaRPr lang="ru-RU" dirty="0"/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F33DE22A-9051-0FAE-D10E-A5D2EB4969E7}"/>
              </a:ext>
            </a:extLst>
          </p:cNvPr>
          <p:cNvSpPr/>
          <p:nvPr/>
        </p:nvSpPr>
        <p:spPr>
          <a:xfrm>
            <a:off x="-5497708" y="1960063"/>
            <a:ext cx="3303814" cy="1136012"/>
          </a:xfrm>
          <a:prstGeom prst="roundRect">
            <a:avLst>
              <a:gd name="adj" fmla="val 46053"/>
            </a:avLst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chemeClr val="tx1"/>
                </a:solidFill>
              </a:rPr>
              <a:t>Для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sz="2000" b="1" dirty="0">
                <a:solidFill>
                  <a:schemeClr val="tx1"/>
                </a:solidFill>
              </a:rPr>
              <a:t>заказчика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C8613C13-7BC8-54B3-8076-9D7E2ED0774D}"/>
              </a:ext>
            </a:extLst>
          </p:cNvPr>
          <p:cNvSpPr/>
          <p:nvPr/>
        </p:nvSpPr>
        <p:spPr>
          <a:xfrm>
            <a:off x="-9064914" y="552809"/>
            <a:ext cx="7519865" cy="1204684"/>
          </a:xfrm>
          <a:prstGeom prst="roundRect">
            <a:avLst/>
          </a:prstGeom>
          <a:solidFill>
            <a:srgbClr val="FFFF00">
              <a:alpha val="39000"/>
            </a:srgbClr>
          </a:solidFill>
          <a:ln>
            <a:noFill/>
          </a:ln>
          <a:effectLst>
            <a:glow rad="88900">
              <a:srgbClr val="FFFF00">
                <a:alpha val="40000"/>
              </a:srgbClr>
            </a:glow>
            <a:outerShdw blurRad="279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TD Mars" pitchFamily="50" charset="0"/>
              </a:rPr>
              <a:t>ЧТО МЫ Предлагаем?</a:t>
            </a:r>
          </a:p>
        </p:txBody>
      </p:sp>
    </p:spTree>
    <p:extLst>
      <p:ext uri="{BB962C8B-B14F-4D97-AF65-F5344CB8AC3E}">
        <p14:creationId xmlns:p14="http://schemas.microsoft.com/office/powerpoint/2010/main" val="646665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B762-9E09-9696-9401-29D844C61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 descr="Изображение выглядит как зеленый, Красочность, све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598986F-BC44-2DF7-3A54-08A76052BF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Прямая соединительная линия 1" hidden="1">
            <a:extLst>
              <a:ext uri="{FF2B5EF4-FFF2-40B4-BE49-F238E27FC236}">
                <a16:creationId xmlns:a16="http://schemas.microsoft.com/office/drawing/2014/main" id="{6C679567-240A-8069-F768-FD331CC7C3FB}"/>
              </a:ext>
            </a:extLst>
          </p:cNvPr>
          <p:cNvCxnSpPr/>
          <p:nvPr/>
        </p:nvCxnSpPr>
        <p:spPr>
          <a:xfrm>
            <a:off x="9942286" y="6589486"/>
            <a:ext cx="18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 hidden="1">
            <a:extLst>
              <a:ext uri="{FF2B5EF4-FFF2-40B4-BE49-F238E27FC236}">
                <a16:creationId xmlns:a16="http://schemas.microsoft.com/office/drawing/2014/main" id="{A9D7D1A4-21D4-138D-8938-0ECD05781C74}"/>
              </a:ext>
            </a:extLst>
          </p:cNvPr>
          <p:cNvCxnSpPr>
            <a:cxnSpLocks/>
          </p:cNvCxnSpPr>
          <p:nvPr/>
        </p:nvCxnSpPr>
        <p:spPr>
          <a:xfrm>
            <a:off x="9942286" y="6587896"/>
            <a:ext cx="594000" cy="0"/>
          </a:xfrm>
          <a:prstGeom prst="line">
            <a:avLst/>
          </a:prstGeom>
          <a:ln>
            <a:solidFill>
              <a:srgbClr val="97E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 hidden="1">
            <a:extLst>
              <a:ext uri="{FF2B5EF4-FFF2-40B4-BE49-F238E27FC236}">
                <a16:creationId xmlns:a16="http://schemas.microsoft.com/office/drawing/2014/main" id="{12541E9A-1555-41E7-D1A4-FC2A0D5D1337}"/>
              </a:ext>
            </a:extLst>
          </p:cNvPr>
          <p:cNvCxnSpPr>
            <a:cxnSpLocks/>
          </p:cNvCxnSpPr>
          <p:nvPr/>
        </p:nvCxnSpPr>
        <p:spPr>
          <a:xfrm flipV="1">
            <a:off x="10533764" y="6517481"/>
            <a:ext cx="0" cy="79148"/>
          </a:xfrm>
          <a:prstGeom prst="line">
            <a:avLst/>
          </a:prstGeom>
          <a:ln w="12700">
            <a:solidFill>
              <a:srgbClr val="97E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 descr="Инструменты со сплошной заливкой" hidden="1">
            <a:extLst>
              <a:ext uri="{FF2B5EF4-FFF2-40B4-BE49-F238E27FC236}">
                <a16:creationId xmlns:a16="http://schemas.microsoft.com/office/drawing/2014/main" id="{63C6E426-9C98-4085-7E1C-72507F49BE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91866" y="6445250"/>
            <a:ext cx="83795" cy="83795"/>
          </a:xfrm>
          <a:prstGeom prst="rect">
            <a:avLst/>
          </a:prstGeom>
        </p:spPr>
      </p:pic>
      <p:sp>
        <p:nvSpPr>
          <p:cNvPr id="23" name="Прямоугольник: скругленные углы 22" hidden="1">
            <a:extLst>
              <a:ext uri="{FF2B5EF4-FFF2-40B4-BE49-F238E27FC236}">
                <a16:creationId xmlns:a16="http://schemas.microsoft.com/office/drawing/2014/main" id="{46E5293C-3ED9-4A15-174D-C30390E38319}"/>
              </a:ext>
            </a:extLst>
          </p:cNvPr>
          <p:cNvSpPr/>
          <p:nvPr/>
        </p:nvSpPr>
        <p:spPr>
          <a:xfrm>
            <a:off x="5652556" y="-369215"/>
            <a:ext cx="6047747" cy="608593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Клиент вводи куда и откуда он хочет добраться.</a:t>
            </a:r>
          </a:p>
        </p:txBody>
      </p:sp>
      <p:sp>
        <p:nvSpPr>
          <p:cNvPr id="24" name="Овал 23" hidden="1">
            <a:extLst>
              <a:ext uri="{FF2B5EF4-FFF2-40B4-BE49-F238E27FC236}">
                <a16:creationId xmlns:a16="http://schemas.microsoft.com/office/drawing/2014/main" id="{744C93F4-5A58-9304-8652-4C91BB3AD26B}"/>
              </a:ext>
            </a:extLst>
          </p:cNvPr>
          <p:cNvSpPr/>
          <p:nvPr/>
        </p:nvSpPr>
        <p:spPr>
          <a:xfrm>
            <a:off x="8526262" y="397282"/>
            <a:ext cx="333829" cy="333829"/>
          </a:xfrm>
          <a:prstGeom prst="ellipse">
            <a:avLst/>
          </a:prstGeom>
          <a:solidFill>
            <a:srgbClr val="97EA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 hidden="1">
            <a:extLst>
              <a:ext uri="{FF2B5EF4-FFF2-40B4-BE49-F238E27FC236}">
                <a16:creationId xmlns:a16="http://schemas.microsoft.com/office/drawing/2014/main" id="{255135C1-FC5D-7981-8879-49166D3BA949}"/>
              </a:ext>
            </a:extLst>
          </p:cNvPr>
          <p:cNvSpPr/>
          <p:nvPr/>
        </p:nvSpPr>
        <p:spPr>
          <a:xfrm>
            <a:off x="5652557" y="890881"/>
            <a:ext cx="5911652" cy="917961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Система автоматически дополняет данные: Название и модель машины, дистанция, и. т. п.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C0684AD-66A5-9A8A-D6D2-C835F6973E99}"/>
              </a:ext>
            </a:extLst>
          </p:cNvPr>
          <p:cNvSpPr/>
          <p:nvPr/>
        </p:nvSpPr>
        <p:spPr>
          <a:xfrm>
            <a:off x="13689867" y="400409"/>
            <a:ext cx="7519865" cy="1204684"/>
          </a:xfrm>
          <a:prstGeom prst="roundRect">
            <a:avLst/>
          </a:prstGeom>
          <a:solidFill>
            <a:schemeClr val="accent1">
              <a:lumMod val="60000"/>
              <a:lumOff val="40000"/>
              <a:alpha val="39000"/>
            </a:schemeClr>
          </a:solidFill>
          <a:ln>
            <a:noFill/>
          </a:ln>
          <a:effectLst>
            <a:glow rad="88900">
              <a:srgbClr val="00B0F0">
                <a:alpha val="40000"/>
              </a:srgbClr>
            </a:glow>
            <a:outerShdw blurRad="279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TD Mars" pitchFamily="50" charset="0"/>
              </a:rPr>
              <a:t>Альтернативные предложения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9EB302E-5D83-87E8-A2B8-FB5917484A02}"/>
              </a:ext>
            </a:extLst>
          </p:cNvPr>
          <p:cNvSpPr/>
          <p:nvPr/>
        </p:nvSpPr>
        <p:spPr>
          <a:xfrm>
            <a:off x="323850" y="8591550"/>
            <a:ext cx="1104900" cy="723900"/>
          </a:xfrm>
          <a:prstGeom prst="rect">
            <a:avLst/>
          </a:prstGeom>
          <a:solidFill>
            <a:schemeClr val="bg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DB59A76-68FD-5FC4-5808-05A1CD34AEA4}"/>
              </a:ext>
            </a:extLst>
          </p:cNvPr>
          <p:cNvSpPr/>
          <p:nvPr/>
        </p:nvSpPr>
        <p:spPr>
          <a:xfrm>
            <a:off x="2965411" y="8629650"/>
            <a:ext cx="1104900" cy="723900"/>
          </a:xfrm>
          <a:prstGeom prst="rect">
            <a:avLst/>
          </a:prstGeom>
          <a:solidFill>
            <a:schemeClr val="bg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A437102-5251-33A0-ED5C-58E454102E0C}"/>
              </a:ext>
            </a:extLst>
          </p:cNvPr>
          <p:cNvSpPr/>
          <p:nvPr/>
        </p:nvSpPr>
        <p:spPr>
          <a:xfrm>
            <a:off x="1604943" y="8031290"/>
            <a:ext cx="1104900" cy="1217226"/>
          </a:xfrm>
          <a:prstGeom prst="rect">
            <a:avLst/>
          </a:prstGeom>
          <a:solidFill>
            <a:srgbClr val="FFFF00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 descr="Изображение выглядит как Графика, Шрифт, логотип,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BD4D024-6B0A-853A-9AE6-B626C51D21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017" y="7383492"/>
            <a:ext cx="682565" cy="682565"/>
          </a:xfrm>
          <a:prstGeom prst="rect">
            <a:avLst/>
          </a:prstGeom>
        </p:spPr>
      </p:pic>
      <p:pic>
        <p:nvPicPr>
          <p:cNvPr id="22" name="Рисунок 21" descr="Изображение выглядит как логотип, символ, График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9F8154B-F4A2-B225-119E-DC97B40D94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88" t="13294" r="29583" b="12699"/>
          <a:stretch>
            <a:fillRect/>
          </a:stretch>
        </p:blipFill>
        <p:spPr>
          <a:xfrm>
            <a:off x="3170237" y="7724774"/>
            <a:ext cx="695248" cy="663242"/>
          </a:xfrm>
          <a:prstGeom prst="rect">
            <a:avLst/>
          </a:prstGeom>
        </p:spPr>
      </p:pic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3D520252-B9CE-5B51-1ED2-0EE1B8BA4C60}"/>
              </a:ext>
            </a:extLst>
          </p:cNvPr>
          <p:cNvSpPr/>
          <p:nvPr/>
        </p:nvSpPr>
        <p:spPr>
          <a:xfrm>
            <a:off x="13639799" y="2685691"/>
            <a:ext cx="5667453" cy="2769317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Конкуренты, такие как </a:t>
            </a:r>
            <a:r>
              <a:rPr lang="ru-RU" sz="2400" dirty="0" err="1">
                <a:solidFill>
                  <a:schemeClr val="tx1"/>
                </a:solidFill>
              </a:rPr>
              <a:t>YandexGo</a:t>
            </a:r>
            <a:r>
              <a:rPr lang="ru-RU" sz="2400" dirty="0">
                <a:solidFill>
                  <a:schemeClr val="tx1"/>
                </a:solidFill>
              </a:rPr>
              <a:t>, </a:t>
            </a:r>
            <a:r>
              <a:rPr lang="ru-RU" sz="2400" dirty="0" err="1">
                <a:solidFill>
                  <a:schemeClr val="tx1"/>
                </a:solidFill>
              </a:rPr>
              <a:t>InDrive</a:t>
            </a:r>
            <a:r>
              <a:rPr lang="ru-RU" sz="2400" dirty="0">
                <a:solidFill>
                  <a:schemeClr val="tx1"/>
                </a:solidFill>
              </a:rPr>
              <a:t>. Используют статичную цену, которая при учёте контекста может оказаться несправедливой. Прогноз </a:t>
            </a:r>
            <a:r>
              <a:rPr lang="ru-RU" sz="2400" dirty="0" err="1">
                <a:solidFill>
                  <a:schemeClr val="tx1"/>
                </a:solidFill>
              </a:rPr>
              <a:t>Ml</a:t>
            </a:r>
            <a:r>
              <a:rPr lang="ru-RU" sz="2400" dirty="0">
                <a:solidFill>
                  <a:schemeClr val="tx1"/>
                </a:solidFill>
              </a:rPr>
              <a:t>-модели и возможность торговаться позволяют достичь компромисса.</a:t>
            </a:r>
          </a:p>
        </p:txBody>
      </p: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9D12B24E-26E8-78A3-A79A-885DC4AF9B32}"/>
              </a:ext>
            </a:extLst>
          </p:cNvPr>
          <p:cNvGrpSpPr/>
          <p:nvPr/>
        </p:nvGrpSpPr>
        <p:grpSpPr>
          <a:xfrm>
            <a:off x="4576760" y="5962281"/>
            <a:ext cx="3443355" cy="703383"/>
            <a:chOff x="4576760" y="5962281"/>
            <a:chExt cx="3443355" cy="703383"/>
          </a:xfrm>
        </p:grpSpPr>
        <p:pic>
          <p:nvPicPr>
            <p:cNvPr id="29" name="Рисунок 28" descr="Изображение выглядит как Графика, Шрифт, логотип, графический дизайн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40DF339E-ED92-AA2B-D0E0-EDCFD7195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6760" y="5962281"/>
              <a:ext cx="1657397" cy="703383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63E3C34-D642-BEE7-C49D-7A02B9D60174}"/>
                </a:ext>
              </a:extLst>
            </p:cNvPr>
            <p:cNvSpPr txBox="1"/>
            <p:nvPr/>
          </p:nvSpPr>
          <p:spPr>
            <a:xfrm>
              <a:off x="6234157" y="6021584"/>
              <a:ext cx="17859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latin typeface="MV-SKIFER" pitchFamily="50" charset="0"/>
                </a:rPr>
                <a:t>PULSE</a:t>
              </a:r>
              <a:endParaRPr lang="ru-RU" sz="3200" b="1" dirty="0">
                <a:latin typeface="MV-SKIFER" pitchFamily="50" charset="0"/>
              </a:endParaRPr>
            </a:p>
          </p:txBody>
        </p:sp>
      </p:grp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8FE0B76B-0774-336C-BB16-328A63007778}"/>
              </a:ext>
            </a:extLst>
          </p:cNvPr>
          <p:cNvSpPr/>
          <p:nvPr/>
        </p:nvSpPr>
        <p:spPr>
          <a:xfrm>
            <a:off x="2336067" y="400409"/>
            <a:ext cx="7519865" cy="1204684"/>
          </a:xfrm>
          <a:prstGeom prst="roundRect">
            <a:avLst/>
          </a:prstGeom>
          <a:solidFill>
            <a:srgbClr val="FFFF00">
              <a:alpha val="39000"/>
            </a:srgbClr>
          </a:solidFill>
          <a:ln>
            <a:noFill/>
          </a:ln>
          <a:effectLst>
            <a:glow rad="88900">
              <a:srgbClr val="FFFF00">
                <a:alpha val="40000"/>
              </a:srgbClr>
            </a:glow>
            <a:outerShdw blurRad="279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TD Mars" pitchFamily="50" charset="0"/>
              </a:rPr>
              <a:t>ЧТО МЫ Предлагаем?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57665DEA-7E03-AD55-B6B9-FD85406FC28B}"/>
              </a:ext>
            </a:extLst>
          </p:cNvPr>
          <p:cNvSpPr/>
          <p:nvPr/>
        </p:nvSpPr>
        <p:spPr>
          <a:xfrm>
            <a:off x="1559008" y="2005502"/>
            <a:ext cx="3303815" cy="3715145"/>
          </a:xfrm>
          <a:prstGeom prst="roundRect">
            <a:avLst/>
          </a:prstGeom>
          <a:solidFill>
            <a:schemeClr val="tx1">
              <a:lumMod val="65000"/>
              <a:lumOff val="3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/>
          </a:p>
          <a:p>
            <a:pPr algn="ctr"/>
            <a:endParaRPr lang="ru-RU" sz="2400" dirty="0"/>
          </a:p>
          <a:p>
            <a:pPr algn="ctr"/>
            <a:r>
              <a:rPr lang="ru-RU" sz="2400" dirty="0"/>
              <a:t>Удобный сервис для поиска компромисса по цене для таксистов и клиентов.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D8C86428-A46D-E74F-F99B-3D2B839686D8}"/>
              </a:ext>
            </a:extLst>
          </p:cNvPr>
          <p:cNvSpPr/>
          <p:nvPr/>
        </p:nvSpPr>
        <p:spPr>
          <a:xfrm>
            <a:off x="1573523" y="1999069"/>
            <a:ext cx="3303814" cy="1136012"/>
          </a:xfrm>
          <a:prstGeom prst="roundRect">
            <a:avLst>
              <a:gd name="adj" fmla="val 46053"/>
            </a:avLst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chemeClr val="tx1"/>
                </a:solidFill>
              </a:rPr>
              <a:t>Для таксистов и клиентов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1DB02886-D344-7AB9-0DAC-70BB5A7739DC}"/>
              </a:ext>
            </a:extLst>
          </p:cNvPr>
          <p:cNvSpPr/>
          <p:nvPr/>
        </p:nvSpPr>
        <p:spPr>
          <a:xfrm>
            <a:off x="7491863" y="1956961"/>
            <a:ext cx="3303815" cy="3812982"/>
          </a:xfrm>
          <a:prstGeom prst="roundRect">
            <a:avLst/>
          </a:prstGeom>
          <a:solidFill>
            <a:schemeClr val="tx1">
              <a:lumMod val="65000"/>
              <a:lumOff val="3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/>
          </a:p>
          <a:p>
            <a:pPr algn="ctr"/>
            <a:endParaRPr lang="ru-RU" sz="2400" dirty="0"/>
          </a:p>
          <a:p>
            <a:pPr algn="ctr"/>
            <a:endParaRPr lang="ru-RU" sz="2400" dirty="0"/>
          </a:p>
          <a:p>
            <a:pPr algn="ctr"/>
            <a:r>
              <a:rPr lang="ru-RU" sz="2400" dirty="0"/>
              <a:t>Обученная </a:t>
            </a:r>
            <a:r>
              <a:rPr lang="ru-RU" sz="2400" dirty="0" err="1"/>
              <a:t>ml</a:t>
            </a:r>
            <a:r>
              <a:rPr lang="ru-RU" sz="2400" dirty="0"/>
              <a:t>-модель, которую удобно интегрировать в систему.</a:t>
            </a:r>
          </a:p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8E3EC093-1DAF-DD96-91FD-82C095F3BD67}"/>
              </a:ext>
            </a:extLst>
          </p:cNvPr>
          <p:cNvSpPr/>
          <p:nvPr/>
        </p:nvSpPr>
        <p:spPr>
          <a:xfrm>
            <a:off x="7507103" y="1960063"/>
            <a:ext cx="3303814" cy="1136012"/>
          </a:xfrm>
          <a:prstGeom prst="roundRect">
            <a:avLst>
              <a:gd name="adj" fmla="val 46053"/>
            </a:avLst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chemeClr val="tx1"/>
                </a:solidFill>
              </a:rPr>
              <a:t>Для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sz="2000" b="1" dirty="0">
                <a:solidFill>
                  <a:schemeClr val="tx1"/>
                </a:solidFill>
              </a:rPr>
              <a:t>заказчика</a:t>
            </a:r>
          </a:p>
        </p:txBody>
      </p:sp>
    </p:spTree>
    <p:extLst>
      <p:ext uri="{BB962C8B-B14F-4D97-AF65-F5344CB8AC3E}">
        <p14:creationId xmlns:p14="http://schemas.microsoft.com/office/powerpoint/2010/main" val="37554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6E928-6E09-0575-A26E-4CF79D406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 descr="Изображение выглядит как зеленый, Красочность, све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85AFA79-8BA8-C7D6-53CB-7E3138912F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3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Прямая соединительная линия 1" hidden="1">
            <a:extLst>
              <a:ext uri="{FF2B5EF4-FFF2-40B4-BE49-F238E27FC236}">
                <a16:creationId xmlns:a16="http://schemas.microsoft.com/office/drawing/2014/main" id="{A763E575-48BE-F9B8-33E2-18DDDB821227}"/>
              </a:ext>
            </a:extLst>
          </p:cNvPr>
          <p:cNvCxnSpPr/>
          <p:nvPr/>
        </p:nvCxnSpPr>
        <p:spPr>
          <a:xfrm>
            <a:off x="9942286" y="6589486"/>
            <a:ext cx="18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 hidden="1">
            <a:extLst>
              <a:ext uri="{FF2B5EF4-FFF2-40B4-BE49-F238E27FC236}">
                <a16:creationId xmlns:a16="http://schemas.microsoft.com/office/drawing/2014/main" id="{FB0F71A9-6BB9-B7F7-1196-CCE945093D00}"/>
              </a:ext>
            </a:extLst>
          </p:cNvPr>
          <p:cNvCxnSpPr>
            <a:cxnSpLocks/>
          </p:cNvCxnSpPr>
          <p:nvPr/>
        </p:nvCxnSpPr>
        <p:spPr>
          <a:xfrm>
            <a:off x="9942286" y="6587896"/>
            <a:ext cx="594000" cy="0"/>
          </a:xfrm>
          <a:prstGeom prst="line">
            <a:avLst/>
          </a:prstGeom>
          <a:ln>
            <a:solidFill>
              <a:srgbClr val="97E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 hidden="1">
            <a:extLst>
              <a:ext uri="{FF2B5EF4-FFF2-40B4-BE49-F238E27FC236}">
                <a16:creationId xmlns:a16="http://schemas.microsoft.com/office/drawing/2014/main" id="{63D9BF9C-E91A-A5E0-AC02-D584A68F55FD}"/>
              </a:ext>
            </a:extLst>
          </p:cNvPr>
          <p:cNvCxnSpPr>
            <a:cxnSpLocks/>
          </p:cNvCxnSpPr>
          <p:nvPr/>
        </p:nvCxnSpPr>
        <p:spPr>
          <a:xfrm flipV="1">
            <a:off x="10533764" y="6517481"/>
            <a:ext cx="0" cy="79148"/>
          </a:xfrm>
          <a:prstGeom prst="line">
            <a:avLst/>
          </a:prstGeom>
          <a:ln w="12700">
            <a:solidFill>
              <a:srgbClr val="97E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 descr="Инструменты со сплошной заливкой" hidden="1">
            <a:extLst>
              <a:ext uri="{FF2B5EF4-FFF2-40B4-BE49-F238E27FC236}">
                <a16:creationId xmlns:a16="http://schemas.microsoft.com/office/drawing/2014/main" id="{4B4AEF3D-0B6D-4357-2C31-E72BAD3D29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91866" y="6445250"/>
            <a:ext cx="83795" cy="83795"/>
          </a:xfrm>
          <a:prstGeom prst="rect">
            <a:avLst/>
          </a:prstGeom>
        </p:spPr>
      </p:pic>
      <p:sp>
        <p:nvSpPr>
          <p:cNvPr id="23" name="Прямоугольник: скругленные углы 22" hidden="1">
            <a:extLst>
              <a:ext uri="{FF2B5EF4-FFF2-40B4-BE49-F238E27FC236}">
                <a16:creationId xmlns:a16="http://schemas.microsoft.com/office/drawing/2014/main" id="{E165C067-27F1-D542-C436-B2BC0DD51951}"/>
              </a:ext>
            </a:extLst>
          </p:cNvPr>
          <p:cNvSpPr/>
          <p:nvPr/>
        </p:nvSpPr>
        <p:spPr>
          <a:xfrm>
            <a:off x="5652556" y="-369215"/>
            <a:ext cx="6047747" cy="608593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Клиент вводи куда и откуда он хочет добраться.</a:t>
            </a:r>
          </a:p>
        </p:txBody>
      </p:sp>
      <p:sp>
        <p:nvSpPr>
          <p:cNvPr id="24" name="Овал 23" hidden="1">
            <a:extLst>
              <a:ext uri="{FF2B5EF4-FFF2-40B4-BE49-F238E27FC236}">
                <a16:creationId xmlns:a16="http://schemas.microsoft.com/office/drawing/2014/main" id="{F10D5022-823A-0DA7-C72D-56CFAE0201ED}"/>
              </a:ext>
            </a:extLst>
          </p:cNvPr>
          <p:cNvSpPr/>
          <p:nvPr/>
        </p:nvSpPr>
        <p:spPr>
          <a:xfrm>
            <a:off x="8526262" y="397282"/>
            <a:ext cx="333829" cy="333829"/>
          </a:xfrm>
          <a:prstGeom prst="ellipse">
            <a:avLst/>
          </a:prstGeom>
          <a:solidFill>
            <a:srgbClr val="97EA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 hidden="1">
            <a:extLst>
              <a:ext uri="{FF2B5EF4-FFF2-40B4-BE49-F238E27FC236}">
                <a16:creationId xmlns:a16="http://schemas.microsoft.com/office/drawing/2014/main" id="{FCA70BD8-CE9E-4B79-64A3-558DFD313134}"/>
              </a:ext>
            </a:extLst>
          </p:cNvPr>
          <p:cNvSpPr/>
          <p:nvPr/>
        </p:nvSpPr>
        <p:spPr>
          <a:xfrm>
            <a:off x="5652557" y="890881"/>
            <a:ext cx="5911652" cy="917961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Система автоматически дополняет данные: Название и модель машины, дистанция, и. т. п.</a:t>
            </a:r>
          </a:p>
        </p:txBody>
      </p: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D92B1FF8-363E-55B7-A068-05293DD8D4DF}"/>
              </a:ext>
            </a:extLst>
          </p:cNvPr>
          <p:cNvGrpSpPr/>
          <p:nvPr/>
        </p:nvGrpSpPr>
        <p:grpSpPr>
          <a:xfrm>
            <a:off x="4576760" y="7733931"/>
            <a:ext cx="3443355" cy="703383"/>
            <a:chOff x="4576760" y="5962281"/>
            <a:chExt cx="3443355" cy="703383"/>
          </a:xfrm>
        </p:grpSpPr>
        <p:pic>
          <p:nvPicPr>
            <p:cNvPr id="29" name="Рисунок 28" descr="Изображение выглядит как Графика, Шрифт, логотип, графический дизайн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DB320963-63CD-666D-2D95-8FAE43B99E8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6760" y="5962281"/>
              <a:ext cx="1657397" cy="703383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4D3C83F-10D6-5EB5-8DCD-7E2DC8E268E4}"/>
                </a:ext>
              </a:extLst>
            </p:cNvPr>
            <p:cNvSpPr txBox="1"/>
            <p:nvPr/>
          </p:nvSpPr>
          <p:spPr>
            <a:xfrm>
              <a:off x="6234157" y="6021584"/>
              <a:ext cx="17859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latin typeface="MV-SKIFER" pitchFamily="50" charset="0"/>
                </a:rPr>
                <a:t>PULSE</a:t>
              </a:r>
              <a:endParaRPr lang="ru-RU" sz="3200" b="1" dirty="0">
                <a:latin typeface="MV-SKIFER" pitchFamily="50" charset="0"/>
              </a:endParaRPr>
            </a:p>
          </p:txBody>
        </p:sp>
      </p:grp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06C22B3-38EE-5CB8-AADF-33CC05DB0527}"/>
              </a:ext>
            </a:extLst>
          </p:cNvPr>
          <p:cNvSpPr/>
          <p:nvPr/>
        </p:nvSpPr>
        <p:spPr>
          <a:xfrm>
            <a:off x="14832867" y="400409"/>
            <a:ext cx="7519865" cy="1204684"/>
          </a:xfrm>
          <a:prstGeom prst="roundRect">
            <a:avLst/>
          </a:prstGeom>
          <a:solidFill>
            <a:srgbClr val="FFFF00">
              <a:alpha val="39000"/>
            </a:srgbClr>
          </a:solidFill>
          <a:ln>
            <a:noFill/>
          </a:ln>
          <a:effectLst>
            <a:glow rad="88900">
              <a:srgbClr val="FFFF00">
                <a:alpha val="40000"/>
              </a:srgbClr>
            </a:glow>
            <a:outerShdw blurRad="279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TD Mars" pitchFamily="50" charset="0"/>
              </a:rPr>
              <a:t>ЧТО МЫ Предлагаем?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9A01F94B-FEC5-3E68-F084-86B8617C6068}"/>
              </a:ext>
            </a:extLst>
          </p:cNvPr>
          <p:cNvSpPr/>
          <p:nvPr/>
        </p:nvSpPr>
        <p:spPr>
          <a:xfrm>
            <a:off x="15960808" y="2005502"/>
            <a:ext cx="3303815" cy="3715145"/>
          </a:xfrm>
          <a:prstGeom prst="roundRect">
            <a:avLst/>
          </a:prstGeom>
          <a:solidFill>
            <a:schemeClr val="tx1">
              <a:lumMod val="65000"/>
              <a:lumOff val="3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/>
          </a:p>
          <a:p>
            <a:pPr algn="ctr"/>
            <a:endParaRPr lang="ru-RU" sz="2400" dirty="0"/>
          </a:p>
          <a:p>
            <a:pPr algn="ctr"/>
            <a:r>
              <a:rPr lang="ru-RU" sz="2400" dirty="0"/>
              <a:t>Удобный сервис для поиска компромисса по цене для таксистов и клиентов.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BF5D3A97-70F8-7EFC-E444-52494A4F740B}"/>
              </a:ext>
            </a:extLst>
          </p:cNvPr>
          <p:cNvSpPr/>
          <p:nvPr/>
        </p:nvSpPr>
        <p:spPr>
          <a:xfrm>
            <a:off x="15975323" y="1999069"/>
            <a:ext cx="3303814" cy="1136012"/>
          </a:xfrm>
          <a:prstGeom prst="roundRect">
            <a:avLst>
              <a:gd name="adj" fmla="val 46053"/>
            </a:avLst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chemeClr val="tx1"/>
                </a:solidFill>
              </a:rPr>
              <a:t>Для таксистов и клиентов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43068C7E-7F67-3751-18FF-01FEAB944C4E}"/>
              </a:ext>
            </a:extLst>
          </p:cNvPr>
          <p:cNvSpPr/>
          <p:nvPr/>
        </p:nvSpPr>
        <p:spPr>
          <a:xfrm>
            <a:off x="21893663" y="1956961"/>
            <a:ext cx="3303815" cy="3812982"/>
          </a:xfrm>
          <a:prstGeom prst="roundRect">
            <a:avLst/>
          </a:prstGeom>
          <a:solidFill>
            <a:schemeClr val="tx1">
              <a:lumMod val="65000"/>
              <a:lumOff val="3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/>
          </a:p>
          <a:p>
            <a:pPr algn="ctr"/>
            <a:endParaRPr lang="ru-RU" sz="2400" dirty="0"/>
          </a:p>
          <a:p>
            <a:pPr algn="ctr"/>
            <a:endParaRPr lang="ru-RU" sz="2400" dirty="0"/>
          </a:p>
          <a:p>
            <a:pPr algn="ctr"/>
            <a:r>
              <a:rPr lang="ru-RU" sz="2400" dirty="0"/>
              <a:t>Обученная </a:t>
            </a:r>
            <a:r>
              <a:rPr lang="ru-RU" sz="2400" dirty="0" err="1"/>
              <a:t>ml</a:t>
            </a:r>
            <a:r>
              <a:rPr lang="ru-RU" sz="2400" dirty="0"/>
              <a:t>-модель, которую удобно интегрировать в систему.</a:t>
            </a:r>
          </a:p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121B3421-66E2-2950-9495-082952BAA940}"/>
              </a:ext>
            </a:extLst>
          </p:cNvPr>
          <p:cNvSpPr/>
          <p:nvPr/>
        </p:nvSpPr>
        <p:spPr>
          <a:xfrm>
            <a:off x="21908903" y="1960063"/>
            <a:ext cx="3303814" cy="1136012"/>
          </a:xfrm>
          <a:prstGeom prst="roundRect">
            <a:avLst>
              <a:gd name="adj" fmla="val 46053"/>
            </a:avLst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chemeClr val="tx1"/>
                </a:solidFill>
              </a:rPr>
              <a:t>Для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sz="2000" b="1" dirty="0">
                <a:solidFill>
                  <a:schemeClr val="tx1"/>
                </a:solidFill>
              </a:rPr>
              <a:t>заказчика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1FA1794-31EE-9C57-C5B0-4CE04CB4F6D4}"/>
              </a:ext>
            </a:extLst>
          </p:cNvPr>
          <p:cNvSpPr/>
          <p:nvPr/>
        </p:nvSpPr>
        <p:spPr>
          <a:xfrm>
            <a:off x="2336067" y="400409"/>
            <a:ext cx="7519865" cy="1204684"/>
          </a:xfrm>
          <a:prstGeom prst="roundRect">
            <a:avLst/>
          </a:prstGeom>
          <a:solidFill>
            <a:srgbClr val="FF0000">
              <a:alpha val="39000"/>
            </a:srgbClr>
          </a:solidFill>
          <a:ln>
            <a:noFill/>
          </a:ln>
          <a:effectLst>
            <a:glow rad="88900">
              <a:srgbClr val="FF0000">
                <a:alpha val="40000"/>
              </a:srgbClr>
            </a:glow>
            <a:outerShdw blurRad="279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TD Mars" pitchFamily="50" charset="0"/>
              </a:rPr>
              <a:t>Схема работы прототипа</a:t>
            </a:r>
          </a:p>
        </p:txBody>
      </p:sp>
      <p:pic>
        <p:nvPicPr>
          <p:cNvPr id="14" name="Рисунок 13" descr="Изображение выглядит как текст, снимок экрана, карта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E9EF550-32C0-3BE2-0258-9A80794430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458" y="1956961"/>
            <a:ext cx="6636625" cy="4080194"/>
          </a:xfrm>
          <a:prstGeom prst="rect">
            <a:avLst/>
          </a:prstGeom>
          <a:effectLst>
            <a:glow rad="76200">
              <a:srgbClr val="97EA28">
                <a:alpha val="39000"/>
              </a:srgbClr>
            </a:glow>
            <a:outerShdw blurRad="38100"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62634D47-8E85-0F1D-BFCB-320602A817F7}"/>
              </a:ext>
            </a:extLst>
          </p:cNvPr>
          <p:cNvSpPr/>
          <p:nvPr/>
        </p:nvSpPr>
        <p:spPr>
          <a:xfrm>
            <a:off x="452751" y="3240946"/>
            <a:ext cx="4273480" cy="1981200"/>
          </a:xfrm>
          <a:prstGeom prst="round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Клиент выбирает Откуда и куда он хочет добраться, получает оптимальную цену.</a:t>
            </a:r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D208F436-FA75-67E1-D9D9-1576E094989D}"/>
              </a:ext>
            </a:extLst>
          </p:cNvPr>
          <p:cNvSpPr/>
          <p:nvPr/>
        </p:nvSpPr>
        <p:spPr>
          <a:xfrm>
            <a:off x="2091651" y="1904623"/>
            <a:ext cx="873760" cy="873760"/>
          </a:xfrm>
          <a:prstGeom prst="ellipse">
            <a:avLst/>
          </a:prstGeom>
          <a:noFill/>
          <a:ln w="31750">
            <a:solidFill>
              <a:srgbClr val="97E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97EA28"/>
                </a:solidFill>
              </a:ln>
              <a:noFill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B38892-D323-5ACF-C295-C03494004C15}"/>
              </a:ext>
            </a:extLst>
          </p:cNvPr>
          <p:cNvSpPr txBox="1"/>
          <p:nvPr/>
        </p:nvSpPr>
        <p:spPr>
          <a:xfrm>
            <a:off x="2288509" y="2049115"/>
            <a:ext cx="428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TD Mars" pitchFamily="50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1350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5D622-EB54-793C-F75E-CD81E3EB0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 descr="Изображение выглядит как зеленый, Красочность, све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ECF96B9-CAE6-BCB6-C501-1C31EF4A6C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3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Прямая соединительная линия 1" hidden="1">
            <a:extLst>
              <a:ext uri="{FF2B5EF4-FFF2-40B4-BE49-F238E27FC236}">
                <a16:creationId xmlns:a16="http://schemas.microsoft.com/office/drawing/2014/main" id="{B5D5BE63-200F-E624-B9F5-63DA184DB11A}"/>
              </a:ext>
            </a:extLst>
          </p:cNvPr>
          <p:cNvCxnSpPr/>
          <p:nvPr/>
        </p:nvCxnSpPr>
        <p:spPr>
          <a:xfrm>
            <a:off x="9942286" y="6589486"/>
            <a:ext cx="18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 hidden="1">
            <a:extLst>
              <a:ext uri="{FF2B5EF4-FFF2-40B4-BE49-F238E27FC236}">
                <a16:creationId xmlns:a16="http://schemas.microsoft.com/office/drawing/2014/main" id="{3267BA12-F1E9-A225-ECC2-E5B07A5FD595}"/>
              </a:ext>
            </a:extLst>
          </p:cNvPr>
          <p:cNvCxnSpPr>
            <a:cxnSpLocks/>
          </p:cNvCxnSpPr>
          <p:nvPr/>
        </p:nvCxnSpPr>
        <p:spPr>
          <a:xfrm>
            <a:off x="9942286" y="6587896"/>
            <a:ext cx="594000" cy="0"/>
          </a:xfrm>
          <a:prstGeom prst="line">
            <a:avLst/>
          </a:prstGeom>
          <a:ln>
            <a:solidFill>
              <a:srgbClr val="97E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 hidden="1">
            <a:extLst>
              <a:ext uri="{FF2B5EF4-FFF2-40B4-BE49-F238E27FC236}">
                <a16:creationId xmlns:a16="http://schemas.microsoft.com/office/drawing/2014/main" id="{714827F7-D0B4-6996-B67F-2021ECC0A385}"/>
              </a:ext>
            </a:extLst>
          </p:cNvPr>
          <p:cNvCxnSpPr>
            <a:cxnSpLocks/>
          </p:cNvCxnSpPr>
          <p:nvPr/>
        </p:nvCxnSpPr>
        <p:spPr>
          <a:xfrm flipV="1">
            <a:off x="10533764" y="6517481"/>
            <a:ext cx="0" cy="79148"/>
          </a:xfrm>
          <a:prstGeom prst="line">
            <a:avLst/>
          </a:prstGeom>
          <a:ln w="12700">
            <a:solidFill>
              <a:srgbClr val="97E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 descr="Инструменты со сплошной заливкой" hidden="1">
            <a:extLst>
              <a:ext uri="{FF2B5EF4-FFF2-40B4-BE49-F238E27FC236}">
                <a16:creationId xmlns:a16="http://schemas.microsoft.com/office/drawing/2014/main" id="{F5A37774-E961-5AAA-6038-887141A820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91866" y="6445250"/>
            <a:ext cx="83795" cy="83795"/>
          </a:xfrm>
          <a:prstGeom prst="rect">
            <a:avLst/>
          </a:prstGeom>
        </p:spPr>
      </p:pic>
      <p:sp>
        <p:nvSpPr>
          <p:cNvPr id="23" name="Прямоугольник: скругленные углы 22" hidden="1">
            <a:extLst>
              <a:ext uri="{FF2B5EF4-FFF2-40B4-BE49-F238E27FC236}">
                <a16:creationId xmlns:a16="http://schemas.microsoft.com/office/drawing/2014/main" id="{BDE0A582-4EBA-A534-9CC2-7528AFBE9ADE}"/>
              </a:ext>
            </a:extLst>
          </p:cNvPr>
          <p:cNvSpPr/>
          <p:nvPr/>
        </p:nvSpPr>
        <p:spPr>
          <a:xfrm>
            <a:off x="5652556" y="-369215"/>
            <a:ext cx="6047747" cy="608593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Клиент вводи куда и откуда он хочет добраться.</a:t>
            </a:r>
          </a:p>
        </p:txBody>
      </p:sp>
      <p:sp>
        <p:nvSpPr>
          <p:cNvPr id="24" name="Овал 23" hidden="1">
            <a:extLst>
              <a:ext uri="{FF2B5EF4-FFF2-40B4-BE49-F238E27FC236}">
                <a16:creationId xmlns:a16="http://schemas.microsoft.com/office/drawing/2014/main" id="{4B7EDFF1-F0E5-B508-228C-BCC7DCDCB792}"/>
              </a:ext>
            </a:extLst>
          </p:cNvPr>
          <p:cNvSpPr/>
          <p:nvPr/>
        </p:nvSpPr>
        <p:spPr>
          <a:xfrm>
            <a:off x="8526262" y="397282"/>
            <a:ext cx="333829" cy="333829"/>
          </a:xfrm>
          <a:prstGeom prst="ellipse">
            <a:avLst/>
          </a:prstGeom>
          <a:solidFill>
            <a:srgbClr val="97EA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 hidden="1">
            <a:extLst>
              <a:ext uri="{FF2B5EF4-FFF2-40B4-BE49-F238E27FC236}">
                <a16:creationId xmlns:a16="http://schemas.microsoft.com/office/drawing/2014/main" id="{186D0BDB-3214-F191-743A-9C8103D7949C}"/>
              </a:ext>
            </a:extLst>
          </p:cNvPr>
          <p:cNvSpPr/>
          <p:nvPr/>
        </p:nvSpPr>
        <p:spPr>
          <a:xfrm>
            <a:off x="5652557" y="890881"/>
            <a:ext cx="5911652" cy="917961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Система автоматически дополняет данные: Название и модель машины, дистанция, и. т. п.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279677A3-6FE5-CD5F-150B-1DF70A6219C7}"/>
              </a:ext>
            </a:extLst>
          </p:cNvPr>
          <p:cNvSpPr/>
          <p:nvPr/>
        </p:nvSpPr>
        <p:spPr>
          <a:xfrm>
            <a:off x="2336067" y="400409"/>
            <a:ext cx="7519865" cy="1204684"/>
          </a:xfrm>
          <a:prstGeom prst="roundRect">
            <a:avLst/>
          </a:prstGeom>
          <a:solidFill>
            <a:srgbClr val="FF0000">
              <a:alpha val="39000"/>
            </a:srgbClr>
          </a:solidFill>
          <a:ln>
            <a:noFill/>
          </a:ln>
          <a:effectLst>
            <a:glow rad="88900">
              <a:srgbClr val="FF0000">
                <a:alpha val="40000"/>
              </a:srgbClr>
            </a:glow>
            <a:outerShdw blurRad="279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TD Mars" pitchFamily="50" charset="0"/>
              </a:rPr>
              <a:t>Схема работы прототипа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3E62D2D-F699-6B8E-18D9-9B67128A4A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9383" y="1956961"/>
            <a:ext cx="5188774" cy="4080194"/>
          </a:xfrm>
          <a:prstGeom prst="rect">
            <a:avLst/>
          </a:prstGeom>
          <a:effectLst>
            <a:glow rad="76200">
              <a:srgbClr val="97EA28">
                <a:alpha val="39000"/>
              </a:srgbClr>
            </a:glow>
            <a:outerShdw blurRad="38100"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0D8A6A3E-8A89-66A7-7A25-30BC99931DC5}"/>
              </a:ext>
            </a:extLst>
          </p:cNvPr>
          <p:cNvSpPr/>
          <p:nvPr/>
        </p:nvSpPr>
        <p:spPr>
          <a:xfrm>
            <a:off x="452751" y="3240946"/>
            <a:ext cx="4273480" cy="1981200"/>
          </a:xfrm>
          <a:prstGeom prst="round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Водитель выбирает заказ клиента и получает 3 возможные цены: безопасную, оптимальную и рискованную.</a:t>
            </a:r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CE049F76-328D-ADE3-7B75-58BA407CBB2D}"/>
              </a:ext>
            </a:extLst>
          </p:cNvPr>
          <p:cNvSpPr/>
          <p:nvPr/>
        </p:nvSpPr>
        <p:spPr>
          <a:xfrm>
            <a:off x="2091651" y="1904623"/>
            <a:ext cx="873760" cy="873760"/>
          </a:xfrm>
          <a:prstGeom prst="ellipse">
            <a:avLst/>
          </a:prstGeom>
          <a:noFill/>
          <a:ln w="31750">
            <a:solidFill>
              <a:srgbClr val="97E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97EA28"/>
                </a:solidFill>
              </a:ln>
              <a:noFill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CCB954-F1B9-D901-9257-D7722AB51555}"/>
              </a:ext>
            </a:extLst>
          </p:cNvPr>
          <p:cNvSpPr txBox="1"/>
          <p:nvPr/>
        </p:nvSpPr>
        <p:spPr>
          <a:xfrm>
            <a:off x="2314269" y="2049115"/>
            <a:ext cx="428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TD Mars" pitchFamily="50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43177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F9A28-E0CD-4CC8-1EC6-23B191CDF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 descr="Изображение выглядит как зеленый, Красочность, све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962D6A5-8DF4-DFCF-C8E3-30C7CB4301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3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Прямая соединительная линия 1" hidden="1">
            <a:extLst>
              <a:ext uri="{FF2B5EF4-FFF2-40B4-BE49-F238E27FC236}">
                <a16:creationId xmlns:a16="http://schemas.microsoft.com/office/drawing/2014/main" id="{50CB9EBF-8479-0ABD-4D2D-E66C5880F0DF}"/>
              </a:ext>
            </a:extLst>
          </p:cNvPr>
          <p:cNvCxnSpPr/>
          <p:nvPr/>
        </p:nvCxnSpPr>
        <p:spPr>
          <a:xfrm>
            <a:off x="9942286" y="6589486"/>
            <a:ext cx="18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 hidden="1">
            <a:extLst>
              <a:ext uri="{FF2B5EF4-FFF2-40B4-BE49-F238E27FC236}">
                <a16:creationId xmlns:a16="http://schemas.microsoft.com/office/drawing/2014/main" id="{40216933-8A37-DF19-EE4F-EC0EABF54ABE}"/>
              </a:ext>
            </a:extLst>
          </p:cNvPr>
          <p:cNvCxnSpPr>
            <a:cxnSpLocks/>
          </p:cNvCxnSpPr>
          <p:nvPr/>
        </p:nvCxnSpPr>
        <p:spPr>
          <a:xfrm>
            <a:off x="9942286" y="6587896"/>
            <a:ext cx="594000" cy="0"/>
          </a:xfrm>
          <a:prstGeom prst="line">
            <a:avLst/>
          </a:prstGeom>
          <a:ln>
            <a:solidFill>
              <a:srgbClr val="97E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 hidden="1">
            <a:extLst>
              <a:ext uri="{FF2B5EF4-FFF2-40B4-BE49-F238E27FC236}">
                <a16:creationId xmlns:a16="http://schemas.microsoft.com/office/drawing/2014/main" id="{1B7E3D07-F94B-E886-2FD7-73FA43192FFD}"/>
              </a:ext>
            </a:extLst>
          </p:cNvPr>
          <p:cNvCxnSpPr>
            <a:cxnSpLocks/>
          </p:cNvCxnSpPr>
          <p:nvPr/>
        </p:nvCxnSpPr>
        <p:spPr>
          <a:xfrm flipV="1">
            <a:off x="10533764" y="6517481"/>
            <a:ext cx="0" cy="79148"/>
          </a:xfrm>
          <a:prstGeom prst="line">
            <a:avLst/>
          </a:prstGeom>
          <a:ln w="12700">
            <a:solidFill>
              <a:srgbClr val="97E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 descr="Инструменты со сплошной заливкой" hidden="1">
            <a:extLst>
              <a:ext uri="{FF2B5EF4-FFF2-40B4-BE49-F238E27FC236}">
                <a16:creationId xmlns:a16="http://schemas.microsoft.com/office/drawing/2014/main" id="{2AA62FB8-89B1-0CC8-7C59-1A4E5D1534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91866" y="6445250"/>
            <a:ext cx="83795" cy="83795"/>
          </a:xfrm>
          <a:prstGeom prst="rect">
            <a:avLst/>
          </a:prstGeom>
        </p:spPr>
      </p:pic>
      <p:sp>
        <p:nvSpPr>
          <p:cNvPr id="23" name="Прямоугольник: скругленные углы 22" hidden="1">
            <a:extLst>
              <a:ext uri="{FF2B5EF4-FFF2-40B4-BE49-F238E27FC236}">
                <a16:creationId xmlns:a16="http://schemas.microsoft.com/office/drawing/2014/main" id="{454FACD0-175A-B1AF-077C-07DF59E3A919}"/>
              </a:ext>
            </a:extLst>
          </p:cNvPr>
          <p:cNvSpPr/>
          <p:nvPr/>
        </p:nvSpPr>
        <p:spPr>
          <a:xfrm>
            <a:off x="5652556" y="-369215"/>
            <a:ext cx="6047747" cy="608593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Клиент вводи куда и откуда он хочет добраться.</a:t>
            </a:r>
          </a:p>
        </p:txBody>
      </p:sp>
      <p:sp>
        <p:nvSpPr>
          <p:cNvPr id="24" name="Овал 23" hidden="1">
            <a:extLst>
              <a:ext uri="{FF2B5EF4-FFF2-40B4-BE49-F238E27FC236}">
                <a16:creationId xmlns:a16="http://schemas.microsoft.com/office/drawing/2014/main" id="{2D3BD457-E41C-80E0-DA65-32A87AAAE4CA}"/>
              </a:ext>
            </a:extLst>
          </p:cNvPr>
          <p:cNvSpPr/>
          <p:nvPr/>
        </p:nvSpPr>
        <p:spPr>
          <a:xfrm>
            <a:off x="8526262" y="397282"/>
            <a:ext cx="333829" cy="333829"/>
          </a:xfrm>
          <a:prstGeom prst="ellipse">
            <a:avLst/>
          </a:prstGeom>
          <a:solidFill>
            <a:srgbClr val="97EA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 hidden="1">
            <a:extLst>
              <a:ext uri="{FF2B5EF4-FFF2-40B4-BE49-F238E27FC236}">
                <a16:creationId xmlns:a16="http://schemas.microsoft.com/office/drawing/2014/main" id="{9D1A5CAD-1024-CB3C-41C9-50AF4A0E1CC3}"/>
              </a:ext>
            </a:extLst>
          </p:cNvPr>
          <p:cNvSpPr/>
          <p:nvPr/>
        </p:nvSpPr>
        <p:spPr>
          <a:xfrm>
            <a:off x="5652557" y="890881"/>
            <a:ext cx="5911652" cy="917961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Система автоматически дополняет данные: Название и модель машины, дистанция, и. т. п.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E6713F30-D06E-8C5C-72E6-34C47A94454B}"/>
              </a:ext>
            </a:extLst>
          </p:cNvPr>
          <p:cNvSpPr/>
          <p:nvPr/>
        </p:nvSpPr>
        <p:spPr>
          <a:xfrm>
            <a:off x="2336067" y="400409"/>
            <a:ext cx="7519865" cy="1204684"/>
          </a:xfrm>
          <a:prstGeom prst="roundRect">
            <a:avLst/>
          </a:prstGeom>
          <a:solidFill>
            <a:srgbClr val="FF0000">
              <a:alpha val="39000"/>
            </a:srgbClr>
          </a:solidFill>
          <a:ln>
            <a:noFill/>
          </a:ln>
          <a:effectLst>
            <a:glow rad="88900">
              <a:srgbClr val="FF0000">
                <a:alpha val="40000"/>
              </a:srgbClr>
            </a:glow>
            <a:outerShdw blurRad="279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TD Mars" pitchFamily="50" charset="0"/>
              </a:rPr>
              <a:t>Схема работы прототипа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BCDF5F9-A5E1-618C-FE3F-598DC840E8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56662" y="2257222"/>
            <a:ext cx="5651922" cy="3463425"/>
          </a:xfrm>
          <a:prstGeom prst="rect">
            <a:avLst/>
          </a:prstGeom>
          <a:effectLst>
            <a:glow rad="76200">
              <a:srgbClr val="97EA28">
                <a:alpha val="39000"/>
              </a:srgbClr>
            </a:glow>
            <a:outerShdw blurRad="38100"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EAFDFE1C-11F5-BBC2-F21C-5267F6A08CC5}"/>
              </a:ext>
            </a:extLst>
          </p:cNvPr>
          <p:cNvSpPr/>
          <p:nvPr/>
        </p:nvSpPr>
        <p:spPr>
          <a:xfrm>
            <a:off x="452751" y="3240946"/>
            <a:ext cx="4273480" cy="1981200"/>
          </a:xfrm>
          <a:prstGeom prst="round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В результате торгов, клиент решает соглашается ли на условия водителя и либо принимает, либо отклоняет их.</a:t>
            </a:r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3806A9F0-1063-AD29-065A-1BCD03823864}"/>
              </a:ext>
            </a:extLst>
          </p:cNvPr>
          <p:cNvSpPr/>
          <p:nvPr/>
        </p:nvSpPr>
        <p:spPr>
          <a:xfrm>
            <a:off x="2091651" y="1904623"/>
            <a:ext cx="873760" cy="873760"/>
          </a:xfrm>
          <a:prstGeom prst="ellipse">
            <a:avLst/>
          </a:prstGeom>
          <a:noFill/>
          <a:ln w="31750">
            <a:solidFill>
              <a:srgbClr val="97E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97EA28"/>
                </a:solidFill>
              </a:ln>
              <a:noFill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570A7C-C610-0271-306A-2BF33F0DA22A}"/>
              </a:ext>
            </a:extLst>
          </p:cNvPr>
          <p:cNvSpPr txBox="1"/>
          <p:nvPr/>
        </p:nvSpPr>
        <p:spPr>
          <a:xfrm>
            <a:off x="2311951" y="2049115"/>
            <a:ext cx="428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TD Mars" pitchFamily="50" charset="0"/>
              </a:rPr>
              <a:t>3</a:t>
            </a:r>
          </a:p>
        </p:txBody>
      </p:sp>
      <p:pic>
        <p:nvPicPr>
          <p:cNvPr id="4" name="Рисунок 3" descr="Изображение выглядит как Человеческое лицо, одежда, очки, челове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E2BF19A-0AB3-04D5-9A2C-5DB70C5A49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47" r="40997"/>
          <a:stretch>
            <a:fillRect/>
          </a:stretch>
        </p:blipFill>
        <p:spPr>
          <a:xfrm>
            <a:off x="-3453519" y="1605093"/>
            <a:ext cx="1826964" cy="3067665"/>
          </a:xfrm>
          <a:prstGeom prst="rect">
            <a:avLst/>
          </a:prstGeom>
        </p:spPr>
      </p:pic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26830FD8-1834-764D-7227-958405F8AB36}"/>
              </a:ext>
            </a:extLst>
          </p:cNvPr>
          <p:cNvSpPr/>
          <p:nvPr/>
        </p:nvSpPr>
        <p:spPr>
          <a:xfrm>
            <a:off x="-3524839" y="4560695"/>
            <a:ext cx="2183169" cy="1204684"/>
          </a:xfrm>
          <a:prstGeom prst="round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Пятовский Вадим</a:t>
            </a:r>
          </a:p>
          <a:p>
            <a:pPr algn="ctr"/>
            <a:r>
              <a:rPr lang="ru-RU" dirty="0"/>
              <a:t>Менеджер</a:t>
            </a:r>
          </a:p>
          <a:p>
            <a:pPr algn="ctr"/>
            <a:r>
              <a:rPr lang="en-US" dirty="0"/>
              <a:t>email:vadyasha4</a:t>
            </a:r>
          </a:p>
          <a:p>
            <a:pPr algn="ctr"/>
            <a:r>
              <a:rPr lang="en-US" dirty="0"/>
              <a:t>@gmail.com</a:t>
            </a:r>
            <a:endParaRPr lang="ru-RU" dirty="0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97A0A981-9A55-C295-6515-ED1F1AF0A9A5}"/>
              </a:ext>
            </a:extLst>
          </p:cNvPr>
          <p:cNvSpPr/>
          <p:nvPr/>
        </p:nvSpPr>
        <p:spPr>
          <a:xfrm>
            <a:off x="-5993511" y="4560695"/>
            <a:ext cx="2183169" cy="1204684"/>
          </a:xfrm>
          <a:prstGeom prst="round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Вячеслав Власов</a:t>
            </a:r>
          </a:p>
          <a:p>
            <a:pPr algn="ctr"/>
            <a:r>
              <a:rPr lang="en-US" dirty="0"/>
              <a:t>ML</a:t>
            </a:r>
            <a:r>
              <a:rPr lang="ru-RU" dirty="0"/>
              <a:t>-разработчик</a:t>
            </a:r>
          </a:p>
          <a:p>
            <a:pPr algn="ctr"/>
            <a:r>
              <a:rPr lang="en-US" dirty="0"/>
              <a:t>email:</a:t>
            </a:r>
            <a:r>
              <a:rPr lang="ru-RU" dirty="0"/>
              <a:t> </a:t>
            </a:r>
            <a:r>
              <a:rPr lang="en-US" dirty="0"/>
              <a:t>vaceslavvlasov420@gmail.com</a:t>
            </a:r>
            <a:endParaRPr lang="ru-RU" dirty="0"/>
          </a:p>
        </p:txBody>
      </p:sp>
      <p:pic>
        <p:nvPicPr>
          <p:cNvPr id="31" name="Рисунок 30" descr="Изображение выглядит как Человеческое лицо, человек, одежда, портре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C14B2CB-4DDB-F09F-5453-6A0012712FC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34083" y="1968408"/>
            <a:ext cx="2464312" cy="2554095"/>
          </a:xfrm>
          <a:prstGeom prst="rect">
            <a:avLst/>
          </a:prstGeom>
        </p:spPr>
      </p:pic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7020C2DC-2559-6A8E-221C-F736648D8314}"/>
              </a:ext>
            </a:extLst>
          </p:cNvPr>
          <p:cNvSpPr/>
          <p:nvPr/>
        </p:nvSpPr>
        <p:spPr>
          <a:xfrm>
            <a:off x="-8468253" y="4560695"/>
            <a:ext cx="2183169" cy="1204684"/>
          </a:xfrm>
          <a:prstGeom prst="round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Луканин Захар</a:t>
            </a:r>
          </a:p>
          <a:p>
            <a:pPr algn="ctr"/>
            <a:r>
              <a:rPr lang="en-US" dirty="0"/>
              <a:t>ML</a:t>
            </a:r>
            <a:r>
              <a:rPr lang="ru-RU" dirty="0"/>
              <a:t>-разработчик</a:t>
            </a:r>
          </a:p>
          <a:p>
            <a:pPr algn="ctr"/>
            <a:r>
              <a:rPr lang="en-US" dirty="0"/>
              <a:t>email: </a:t>
            </a:r>
            <a:r>
              <a:rPr lang="en-US" dirty="0" err="1"/>
              <a:t>zahar.lukanin</a:t>
            </a:r>
            <a:endParaRPr lang="en-US" dirty="0"/>
          </a:p>
          <a:p>
            <a:pPr algn="ctr"/>
            <a:r>
              <a:rPr lang="en-US" dirty="0"/>
              <a:t>@yandex.com</a:t>
            </a:r>
            <a:endParaRPr lang="ru-RU" dirty="0"/>
          </a:p>
        </p:txBody>
      </p:sp>
      <p:pic>
        <p:nvPicPr>
          <p:cNvPr id="33" name="Рисунок 32" descr="Изображение выглядит как Человеческое лицо, человек, Подбородок, Лоб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E106A12-D927-3BCC-DB35-8099F3DD85C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80" b="4671"/>
          <a:stretch>
            <a:fillRect/>
          </a:stretch>
        </p:blipFill>
        <p:spPr>
          <a:xfrm>
            <a:off x="-8590311" y="2110507"/>
            <a:ext cx="2427284" cy="2320697"/>
          </a:xfrm>
          <a:prstGeom prst="rect">
            <a:avLst/>
          </a:prstGeom>
        </p:spPr>
      </p:pic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9EB18894-1B9C-3D4B-C603-F92095946BC1}"/>
              </a:ext>
            </a:extLst>
          </p:cNvPr>
          <p:cNvSpPr/>
          <p:nvPr/>
        </p:nvSpPr>
        <p:spPr>
          <a:xfrm>
            <a:off x="-10916218" y="4560695"/>
            <a:ext cx="2183169" cy="1204684"/>
          </a:xfrm>
          <a:prstGeom prst="round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Павлов Андрей</a:t>
            </a:r>
          </a:p>
          <a:p>
            <a:pPr algn="ctr"/>
            <a:r>
              <a:rPr lang="ru-RU" dirty="0"/>
              <a:t>Программист</a:t>
            </a:r>
          </a:p>
          <a:p>
            <a:pPr algn="ctr"/>
            <a:r>
              <a:rPr lang="en-US" dirty="0"/>
              <a:t>email: pavlovaa03082007@yandex.ru</a:t>
            </a:r>
            <a:endParaRPr lang="ru-RU" dirty="0"/>
          </a:p>
        </p:txBody>
      </p:sp>
      <p:pic>
        <p:nvPicPr>
          <p:cNvPr id="35" name="Рисунок 34" descr="Изображение выглядит как Человеческое лицо, человек, портре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96CDFED-0018-A92C-0842-B3A60086471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7" b="3741"/>
          <a:stretch>
            <a:fillRect/>
          </a:stretch>
        </p:blipFill>
        <p:spPr>
          <a:xfrm>
            <a:off x="-10946983" y="1968408"/>
            <a:ext cx="2244698" cy="2456923"/>
          </a:xfrm>
          <a:prstGeom prst="rect">
            <a:avLst/>
          </a:prstGeom>
        </p:spPr>
      </p:pic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57AD0E5A-8403-51B7-9BBC-ED736017652B}"/>
              </a:ext>
            </a:extLst>
          </p:cNvPr>
          <p:cNvSpPr/>
          <p:nvPr/>
        </p:nvSpPr>
        <p:spPr>
          <a:xfrm>
            <a:off x="-13411667" y="4572974"/>
            <a:ext cx="2183169" cy="1204684"/>
          </a:xfrm>
          <a:prstGeom prst="round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Панов Матвей</a:t>
            </a:r>
          </a:p>
          <a:p>
            <a:pPr algn="ctr"/>
            <a:r>
              <a:rPr lang="ru-RU" dirty="0"/>
              <a:t>Дизайнер</a:t>
            </a:r>
          </a:p>
          <a:p>
            <a:pPr algn="ctr"/>
            <a:r>
              <a:rPr lang="en-US" dirty="0"/>
              <a:t>email: </a:t>
            </a:r>
            <a:r>
              <a:rPr lang="en-US" dirty="0" err="1"/>
              <a:t>IDrinkCirkoniy</a:t>
            </a:r>
            <a:endParaRPr lang="en-US" dirty="0"/>
          </a:p>
          <a:p>
            <a:pPr algn="ctr"/>
            <a:r>
              <a:rPr lang="en-US" dirty="0"/>
              <a:t>@yandex.ru</a:t>
            </a:r>
            <a:endParaRPr lang="ru-RU" dirty="0"/>
          </a:p>
        </p:txBody>
      </p:sp>
      <p:pic>
        <p:nvPicPr>
          <p:cNvPr id="37" name="Рисунок 36" descr="Изображение выглядит как Человеческое лицо, человек, портрет, ожерель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EB8C603-CC67-ADB8-739B-2274AB58F7C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5" b="3188"/>
          <a:stretch>
            <a:fillRect/>
          </a:stretch>
        </p:blipFill>
        <p:spPr>
          <a:xfrm>
            <a:off x="-13515185" y="2104634"/>
            <a:ext cx="2500812" cy="232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8390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42595-687F-9D8E-D33D-99B03F1E1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 descr="Изображение выглядит как зеленый, Красочность, све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3F43F93-0F74-630B-B36C-83E4B965C7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Прямая соединительная линия 1" hidden="1">
            <a:extLst>
              <a:ext uri="{FF2B5EF4-FFF2-40B4-BE49-F238E27FC236}">
                <a16:creationId xmlns:a16="http://schemas.microsoft.com/office/drawing/2014/main" id="{21082291-95AC-CA51-5D25-4B7F54E15DF0}"/>
              </a:ext>
            </a:extLst>
          </p:cNvPr>
          <p:cNvCxnSpPr/>
          <p:nvPr/>
        </p:nvCxnSpPr>
        <p:spPr>
          <a:xfrm>
            <a:off x="9942286" y="6589486"/>
            <a:ext cx="18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 hidden="1">
            <a:extLst>
              <a:ext uri="{FF2B5EF4-FFF2-40B4-BE49-F238E27FC236}">
                <a16:creationId xmlns:a16="http://schemas.microsoft.com/office/drawing/2014/main" id="{072795F9-752D-1A43-F9F5-CA7207796203}"/>
              </a:ext>
            </a:extLst>
          </p:cNvPr>
          <p:cNvCxnSpPr>
            <a:cxnSpLocks/>
          </p:cNvCxnSpPr>
          <p:nvPr/>
        </p:nvCxnSpPr>
        <p:spPr>
          <a:xfrm>
            <a:off x="9942286" y="6587896"/>
            <a:ext cx="594000" cy="0"/>
          </a:xfrm>
          <a:prstGeom prst="line">
            <a:avLst/>
          </a:prstGeom>
          <a:ln>
            <a:solidFill>
              <a:srgbClr val="97E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 hidden="1">
            <a:extLst>
              <a:ext uri="{FF2B5EF4-FFF2-40B4-BE49-F238E27FC236}">
                <a16:creationId xmlns:a16="http://schemas.microsoft.com/office/drawing/2014/main" id="{6DC75169-002B-6CA4-55AE-C19C2B06DA08}"/>
              </a:ext>
            </a:extLst>
          </p:cNvPr>
          <p:cNvCxnSpPr>
            <a:cxnSpLocks/>
          </p:cNvCxnSpPr>
          <p:nvPr/>
        </p:nvCxnSpPr>
        <p:spPr>
          <a:xfrm flipV="1">
            <a:off x="10533764" y="6517481"/>
            <a:ext cx="0" cy="79148"/>
          </a:xfrm>
          <a:prstGeom prst="line">
            <a:avLst/>
          </a:prstGeom>
          <a:ln w="12700">
            <a:solidFill>
              <a:srgbClr val="97E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 descr="Инструменты со сплошной заливкой" hidden="1">
            <a:extLst>
              <a:ext uri="{FF2B5EF4-FFF2-40B4-BE49-F238E27FC236}">
                <a16:creationId xmlns:a16="http://schemas.microsoft.com/office/drawing/2014/main" id="{DB582993-5013-65BC-CF4C-73ED2ACC39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91866" y="6445250"/>
            <a:ext cx="83795" cy="83795"/>
          </a:xfrm>
          <a:prstGeom prst="rect">
            <a:avLst/>
          </a:prstGeom>
        </p:spPr>
      </p:pic>
      <p:sp>
        <p:nvSpPr>
          <p:cNvPr id="23" name="Прямоугольник: скругленные углы 22" hidden="1">
            <a:extLst>
              <a:ext uri="{FF2B5EF4-FFF2-40B4-BE49-F238E27FC236}">
                <a16:creationId xmlns:a16="http://schemas.microsoft.com/office/drawing/2014/main" id="{21996902-FB30-8BC1-2CB2-FCAF1B115E00}"/>
              </a:ext>
            </a:extLst>
          </p:cNvPr>
          <p:cNvSpPr/>
          <p:nvPr/>
        </p:nvSpPr>
        <p:spPr>
          <a:xfrm>
            <a:off x="5652556" y="-369215"/>
            <a:ext cx="6047747" cy="608593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Клиент вводи куда и откуда он хочет добраться.</a:t>
            </a:r>
          </a:p>
        </p:txBody>
      </p:sp>
      <p:sp>
        <p:nvSpPr>
          <p:cNvPr id="24" name="Овал 23" hidden="1">
            <a:extLst>
              <a:ext uri="{FF2B5EF4-FFF2-40B4-BE49-F238E27FC236}">
                <a16:creationId xmlns:a16="http://schemas.microsoft.com/office/drawing/2014/main" id="{86F41DDB-9B34-474C-D69D-7CD0F347D987}"/>
              </a:ext>
            </a:extLst>
          </p:cNvPr>
          <p:cNvSpPr/>
          <p:nvPr/>
        </p:nvSpPr>
        <p:spPr>
          <a:xfrm>
            <a:off x="8526262" y="397282"/>
            <a:ext cx="333829" cy="333829"/>
          </a:xfrm>
          <a:prstGeom prst="ellipse">
            <a:avLst/>
          </a:prstGeom>
          <a:solidFill>
            <a:srgbClr val="97EA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 hidden="1">
            <a:extLst>
              <a:ext uri="{FF2B5EF4-FFF2-40B4-BE49-F238E27FC236}">
                <a16:creationId xmlns:a16="http://schemas.microsoft.com/office/drawing/2014/main" id="{9D4CA7FC-0E41-783F-BAB8-C94BCCA6FC26}"/>
              </a:ext>
            </a:extLst>
          </p:cNvPr>
          <p:cNvSpPr/>
          <p:nvPr/>
        </p:nvSpPr>
        <p:spPr>
          <a:xfrm>
            <a:off x="5652557" y="890881"/>
            <a:ext cx="5911652" cy="917961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Система автоматически дополняет данные: Название и модель машины, дистанция, и. т. п.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CF625A2-A1BB-0AE4-CB56-22B0854A3CDF}"/>
              </a:ext>
            </a:extLst>
          </p:cNvPr>
          <p:cNvSpPr/>
          <p:nvPr/>
        </p:nvSpPr>
        <p:spPr>
          <a:xfrm>
            <a:off x="13207267" y="400409"/>
            <a:ext cx="7519865" cy="1204684"/>
          </a:xfrm>
          <a:prstGeom prst="roundRect">
            <a:avLst/>
          </a:prstGeom>
          <a:solidFill>
            <a:srgbClr val="FF0000">
              <a:alpha val="39000"/>
            </a:srgbClr>
          </a:solidFill>
          <a:ln>
            <a:noFill/>
          </a:ln>
          <a:effectLst>
            <a:glow rad="88900">
              <a:srgbClr val="FF0000">
                <a:alpha val="40000"/>
              </a:srgbClr>
            </a:glow>
            <a:outerShdw blurRad="279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TD Mars" pitchFamily="50" charset="0"/>
              </a:rPr>
              <a:t>Схема работы прототипа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E213C15-323A-2E48-0AD7-803C7E9FF2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56662" y="8683422"/>
            <a:ext cx="5651922" cy="3463425"/>
          </a:xfrm>
          <a:prstGeom prst="rect">
            <a:avLst/>
          </a:prstGeom>
          <a:effectLst>
            <a:glow rad="76200">
              <a:srgbClr val="97EA28">
                <a:alpha val="39000"/>
              </a:srgbClr>
            </a:glow>
            <a:outerShdw blurRad="38100"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E87C1DE9-39D3-73FF-FF2D-B83B5BF9CADD}"/>
              </a:ext>
            </a:extLst>
          </p:cNvPr>
          <p:cNvSpPr/>
          <p:nvPr/>
        </p:nvSpPr>
        <p:spPr>
          <a:xfrm>
            <a:off x="452751" y="9667146"/>
            <a:ext cx="4273480" cy="1981200"/>
          </a:xfrm>
          <a:prstGeom prst="round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В результате торгов, клиент решает соглашается ли на условия водителя и либо принимает, либо отклоняет их.</a:t>
            </a:r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47885C89-5DB7-5747-5C9C-D5C4BFC456BF}"/>
              </a:ext>
            </a:extLst>
          </p:cNvPr>
          <p:cNvSpPr/>
          <p:nvPr/>
        </p:nvSpPr>
        <p:spPr>
          <a:xfrm>
            <a:off x="2091651" y="8330823"/>
            <a:ext cx="873760" cy="873760"/>
          </a:xfrm>
          <a:prstGeom prst="ellipse">
            <a:avLst/>
          </a:prstGeom>
          <a:noFill/>
          <a:ln w="31750">
            <a:solidFill>
              <a:srgbClr val="97E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97EA28"/>
                </a:solidFill>
              </a:ln>
              <a:noFill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5614E7-4128-FE1B-3705-43AF84A318C4}"/>
              </a:ext>
            </a:extLst>
          </p:cNvPr>
          <p:cNvSpPr txBox="1"/>
          <p:nvPr/>
        </p:nvSpPr>
        <p:spPr>
          <a:xfrm>
            <a:off x="2314269" y="8475315"/>
            <a:ext cx="428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TD Mars" pitchFamily="50" charset="0"/>
              </a:rPr>
              <a:t>3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C48F0C7F-1310-5F0B-C4AB-C11FCA49DA04}"/>
              </a:ext>
            </a:extLst>
          </p:cNvPr>
          <p:cNvSpPr/>
          <p:nvPr/>
        </p:nvSpPr>
        <p:spPr>
          <a:xfrm>
            <a:off x="2336067" y="240750"/>
            <a:ext cx="7519865" cy="1204684"/>
          </a:xfrm>
          <a:prstGeom prst="roundRect">
            <a:avLst/>
          </a:prstGeom>
          <a:solidFill>
            <a:schemeClr val="accent5">
              <a:lumMod val="60000"/>
              <a:lumOff val="40000"/>
              <a:alpha val="39000"/>
            </a:schemeClr>
          </a:solidFill>
          <a:ln>
            <a:noFill/>
          </a:ln>
          <a:effectLst>
            <a:glow rad="88900">
              <a:schemeClr val="accent5">
                <a:lumMod val="60000"/>
                <a:lumOff val="40000"/>
                <a:alpha val="40000"/>
              </a:schemeClr>
            </a:glow>
            <a:outerShdw blurRad="279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TD Mars" pitchFamily="50" charset="0"/>
              </a:rPr>
              <a:t>Контакты</a:t>
            </a:r>
          </a:p>
        </p:txBody>
      </p:sp>
      <p:pic>
        <p:nvPicPr>
          <p:cNvPr id="25" name="Рисунок 24" descr="Изображение выглядит как Человеческое лицо, одежда, очки, челове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642D7C1-D492-54D1-0A72-7270092B98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47" r="40997"/>
          <a:stretch>
            <a:fillRect/>
          </a:stretch>
        </p:blipFill>
        <p:spPr>
          <a:xfrm>
            <a:off x="10005761" y="1605093"/>
            <a:ext cx="1826964" cy="3067665"/>
          </a:xfrm>
          <a:prstGeom prst="rect">
            <a:avLst/>
          </a:prstGeom>
        </p:spPr>
      </p:pic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741C1C00-2420-F54C-68B0-F72BEC97EF34}"/>
              </a:ext>
            </a:extLst>
          </p:cNvPr>
          <p:cNvSpPr/>
          <p:nvPr/>
        </p:nvSpPr>
        <p:spPr>
          <a:xfrm>
            <a:off x="9934441" y="4560695"/>
            <a:ext cx="2183169" cy="1204684"/>
          </a:xfrm>
          <a:prstGeom prst="round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Пятовский Вадим</a:t>
            </a:r>
          </a:p>
          <a:p>
            <a:pPr algn="ctr"/>
            <a:r>
              <a:rPr lang="ru-RU" dirty="0"/>
              <a:t>Менеджер</a:t>
            </a:r>
          </a:p>
          <a:p>
            <a:pPr algn="ctr"/>
            <a:r>
              <a:rPr lang="en-US" dirty="0"/>
              <a:t>email:vadyasha4</a:t>
            </a:r>
          </a:p>
          <a:p>
            <a:pPr algn="ctr"/>
            <a:r>
              <a:rPr lang="en-US" dirty="0"/>
              <a:t>@gmail.com</a:t>
            </a:r>
            <a:endParaRPr lang="ru-RU" dirty="0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53B3D30A-074A-A06D-BB1D-B463829CDF54}"/>
              </a:ext>
            </a:extLst>
          </p:cNvPr>
          <p:cNvSpPr/>
          <p:nvPr/>
        </p:nvSpPr>
        <p:spPr>
          <a:xfrm>
            <a:off x="7465769" y="4560695"/>
            <a:ext cx="2183169" cy="1204684"/>
          </a:xfrm>
          <a:prstGeom prst="round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Вячеслав Власов</a:t>
            </a:r>
          </a:p>
          <a:p>
            <a:pPr algn="ctr"/>
            <a:r>
              <a:rPr lang="en-US" dirty="0"/>
              <a:t>ML</a:t>
            </a:r>
            <a:r>
              <a:rPr lang="ru-RU" dirty="0"/>
              <a:t>-разработчик</a:t>
            </a:r>
          </a:p>
          <a:p>
            <a:pPr algn="ctr"/>
            <a:r>
              <a:rPr lang="en-US" dirty="0"/>
              <a:t>email:</a:t>
            </a:r>
            <a:r>
              <a:rPr lang="ru-RU" dirty="0"/>
              <a:t> </a:t>
            </a:r>
            <a:r>
              <a:rPr lang="en-US" dirty="0"/>
              <a:t>vaceslavvlasov420@gmail.com</a:t>
            </a:r>
            <a:endParaRPr lang="ru-RU" dirty="0"/>
          </a:p>
        </p:txBody>
      </p:sp>
      <p:pic>
        <p:nvPicPr>
          <p:cNvPr id="34" name="Рисунок 33" descr="Изображение выглядит как Человеческое лицо, человек, одежда, портре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BD3E320-85D6-3344-83E0-E956470B62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5197" y="1968408"/>
            <a:ext cx="2464312" cy="2554095"/>
          </a:xfrm>
          <a:prstGeom prst="rect">
            <a:avLst/>
          </a:prstGeom>
        </p:spPr>
      </p:pic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38E877D5-7FCB-4515-93CF-904552F09882}"/>
              </a:ext>
            </a:extLst>
          </p:cNvPr>
          <p:cNvSpPr/>
          <p:nvPr/>
        </p:nvSpPr>
        <p:spPr>
          <a:xfrm>
            <a:off x="4991027" y="4560695"/>
            <a:ext cx="2183169" cy="1204684"/>
          </a:xfrm>
          <a:prstGeom prst="round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Луканин Захар</a:t>
            </a:r>
          </a:p>
          <a:p>
            <a:pPr algn="ctr"/>
            <a:r>
              <a:rPr lang="en-US" dirty="0"/>
              <a:t>ML</a:t>
            </a:r>
            <a:r>
              <a:rPr lang="ru-RU" dirty="0"/>
              <a:t>-разработчик</a:t>
            </a:r>
          </a:p>
          <a:p>
            <a:pPr algn="ctr"/>
            <a:r>
              <a:rPr lang="en-US" dirty="0"/>
              <a:t>email: </a:t>
            </a:r>
            <a:r>
              <a:rPr lang="en-US" dirty="0" err="1"/>
              <a:t>zahar.lukanin</a:t>
            </a:r>
            <a:endParaRPr lang="en-US" dirty="0"/>
          </a:p>
          <a:p>
            <a:pPr algn="ctr"/>
            <a:r>
              <a:rPr lang="en-US" dirty="0"/>
              <a:t>@yandex.com</a:t>
            </a:r>
            <a:endParaRPr lang="ru-RU" dirty="0"/>
          </a:p>
        </p:txBody>
      </p:sp>
      <p:pic>
        <p:nvPicPr>
          <p:cNvPr id="37" name="Рисунок 36" descr="Изображение выглядит как Человеческое лицо, человек, Подбородок, Лоб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D2C3D0B-8D09-396B-6A38-9D424C7CDCB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80" b="4671"/>
          <a:stretch>
            <a:fillRect/>
          </a:stretch>
        </p:blipFill>
        <p:spPr>
          <a:xfrm>
            <a:off x="4868969" y="2110507"/>
            <a:ext cx="2427284" cy="2320697"/>
          </a:xfrm>
          <a:prstGeom prst="rect">
            <a:avLst/>
          </a:prstGeom>
        </p:spPr>
      </p:pic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53090824-D1EF-1005-7B83-DB478E27FC4D}"/>
              </a:ext>
            </a:extLst>
          </p:cNvPr>
          <p:cNvSpPr/>
          <p:nvPr/>
        </p:nvSpPr>
        <p:spPr>
          <a:xfrm>
            <a:off x="2543062" y="4560695"/>
            <a:ext cx="2183169" cy="1204684"/>
          </a:xfrm>
          <a:prstGeom prst="round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Павлов Андрей</a:t>
            </a:r>
          </a:p>
          <a:p>
            <a:pPr algn="ctr"/>
            <a:r>
              <a:rPr lang="ru-RU" dirty="0"/>
              <a:t>Программист</a:t>
            </a:r>
          </a:p>
          <a:p>
            <a:pPr algn="ctr"/>
            <a:r>
              <a:rPr lang="en-US" dirty="0"/>
              <a:t>email: pavlovaa03082007@yandex.ru</a:t>
            </a:r>
            <a:endParaRPr lang="ru-RU" dirty="0"/>
          </a:p>
        </p:txBody>
      </p:sp>
      <p:pic>
        <p:nvPicPr>
          <p:cNvPr id="40" name="Рисунок 39" descr="Изображение выглядит как Человеческое лицо, человек, портре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A1BCC5C-32EB-643A-E80C-564BEF5CA85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7" b="3741"/>
          <a:stretch>
            <a:fillRect/>
          </a:stretch>
        </p:blipFill>
        <p:spPr>
          <a:xfrm>
            <a:off x="2512297" y="1968408"/>
            <a:ext cx="2244698" cy="2456923"/>
          </a:xfrm>
          <a:prstGeom prst="rect">
            <a:avLst/>
          </a:prstGeom>
        </p:spPr>
      </p:pic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2E2C3ECC-953F-BA75-024C-19D485F4EA21}"/>
              </a:ext>
            </a:extLst>
          </p:cNvPr>
          <p:cNvSpPr/>
          <p:nvPr/>
        </p:nvSpPr>
        <p:spPr>
          <a:xfrm>
            <a:off x="47613" y="4572974"/>
            <a:ext cx="2183169" cy="1204684"/>
          </a:xfrm>
          <a:prstGeom prst="round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Панов Матвей</a:t>
            </a:r>
          </a:p>
          <a:p>
            <a:pPr algn="ctr"/>
            <a:r>
              <a:rPr lang="ru-RU" dirty="0"/>
              <a:t>Дизайнер</a:t>
            </a:r>
          </a:p>
          <a:p>
            <a:pPr algn="ctr"/>
            <a:r>
              <a:rPr lang="en-US" dirty="0"/>
              <a:t>email: </a:t>
            </a:r>
            <a:r>
              <a:rPr lang="en-US" dirty="0" err="1"/>
              <a:t>IDrinkCirkoniy</a:t>
            </a:r>
            <a:endParaRPr lang="en-US" dirty="0"/>
          </a:p>
          <a:p>
            <a:pPr algn="ctr"/>
            <a:r>
              <a:rPr lang="en-US" dirty="0"/>
              <a:t>@yandex.ru</a:t>
            </a:r>
            <a:endParaRPr lang="ru-RU" dirty="0"/>
          </a:p>
        </p:txBody>
      </p:sp>
      <p:pic>
        <p:nvPicPr>
          <p:cNvPr id="43" name="Рисунок 42" descr="Изображение выглядит как Человеческое лицо, человек, портрет, ожерель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E9D15BB-0326-AC98-4908-388EB703BD2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5" b="3188"/>
          <a:stretch>
            <a:fillRect/>
          </a:stretch>
        </p:blipFill>
        <p:spPr>
          <a:xfrm>
            <a:off x="-55905" y="2104634"/>
            <a:ext cx="2500812" cy="232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422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30823-A001-E80E-C658-A88BCAE00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 descr="Изображение выглядит как зеленый, Красочность, све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340831D-C103-D9E7-8D7C-58A8C2EABE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Прямая соединительная линия 1" hidden="1">
            <a:extLst>
              <a:ext uri="{FF2B5EF4-FFF2-40B4-BE49-F238E27FC236}">
                <a16:creationId xmlns:a16="http://schemas.microsoft.com/office/drawing/2014/main" id="{714FA53A-C15B-56DF-81ED-F758F9CE5965}"/>
              </a:ext>
            </a:extLst>
          </p:cNvPr>
          <p:cNvCxnSpPr/>
          <p:nvPr/>
        </p:nvCxnSpPr>
        <p:spPr>
          <a:xfrm>
            <a:off x="9942286" y="6589486"/>
            <a:ext cx="18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 hidden="1">
            <a:extLst>
              <a:ext uri="{FF2B5EF4-FFF2-40B4-BE49-F238E27FC236}">
                <a16:creationId xmlns:a16="http://schemas.microsoft.com/office/drawing/2014/main" id="{0FB01FB5-1E31-81FF-4570-55A40B660ED6}"/>
              </a:ext>
            </a:extLst>
          </p:cNvPr>
          <p:cNvCxnSpPr>
            <a:cxnSpLocks/>
          </p:cNvCxnSpPr>
          <p:nvPr/>
        </p:nvCxnSpPr>
        <p:spPr>
          <a:xfrm>
            <a:off x="9942286" y="6587896"/>
            <a:ext cx="594000" cy="0"/>
          </a:xfrm>
          <a:prstGeom prst="line">
            <a:avLst/>
          </a:prstGeom>
          <a:ln>
            <a:solidFill>
              <a:srgbClr val="97E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 hidden="1">
            <a:extLst>
              <a:ext uri="{FF2B5EF4-FFF2-40B4-BE49-F238E27FC236}">
                <a16:creationId xmlns:a16="http://schemas.microsoft.com/office/drawing/2014/main" id="{C1606FBD-2D72-AE5D-FA75-8FE9065B6F74}"/>
              </a:ext>
            </a:extLst>
          </p:cNvPr>
          <p:cNvCxnSpPr>
            <a:cxnSpLocks/>
          </p:cNvCxnSpPr>
          <p:nvPr/>
        </p:nvCxnSpPr>
        <p:spPr>
          <a:xfrm flipV="1">
            <a:off x="10533764" y="6517481"/>
            <a:ext cx="0" cy="79148"/>
          </a:xfrm>
          <a:prstGeom prst="line">
            <a:avLst/>
          </a:prstGeom>
          <a:ln w="12700">
            <a:solidFill>
              <a:srgbClr val="97E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 descr="Инструменты со сплошной заливкой" hidden="1">
            <a:extLst>
              <a:ext uri="{FF2B5EF4-FFF2-40B4-BE49-F238E27FC236}">
                <a16:creationId xmlns:a16="http://schemas.microsoft.com/office/drawing/2014/main" id="{929F69EB-2C87-D817-0A1A-0986D03488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91866" y="6445250"/>
            <a:ext cx="83795" cy="83795"/>
          </a:xfrm>
          <a:prstGeom prst="rect">
            <a:avLst/>
          </a:prstGeom>
        </p:spPr>
      </p:pic>
      <p:sp>
        <p:nvSpPr>
          <p:cNvPr id="23" name="Прямоугольник: скругленные углы 22" hidden="1">
            <a:extLst>
              <a:ext uri="{FF2B5EF4-FFF2-40B4-BE49-F238E27FC236}">
                <a16:creationId xmlns:a16="http://schemas.microsoft.com/office/drawing/2014/main" id="{D5EFF587-389A-80B3-6A4F-8DC887DC299E}"/>
              </a:ext>
            </a:extLst>
          </p:cNvPr>
          <p:cNvSpPr/>
          <p:nvPr/>
        </p:nvSpPr>
        <p:spPr>
          <a:xfrm>
            <a:off x="5652556" y="-369215"/>
            <a:ext cx="6047747" cy="608593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Клиент вводи куда и откуда он хочет добраться.</a:t>
            </a:r>
          </a:p>
        </p:txBody>
      </p:sp>
      <p:sp>
        <p:nvSpPr>
          <p:cNvPr id="24" name="Овал 23" hidden="1">
            <a:extLst>
              <a:ext uri="{FF2B5EF4-FFF2-40B4-BE49-F238E27FC236}">
                <a16:creationId xmlns:a16="http://schemas.microsoft.com/office/drawing/2014/main" id="{C854DF82-72B3-6030-B132-93099994E30E}"/>
              </a:ext>
            </a:extLst>
          </p:cNvPr>
          <p:cNvSpPr/>
          <p:nvPr/>
        </p:nvSpPr>
        <p:spPr>
          <a:xfrm>
            <a:off x="8526262" y="397282"/>
            <a:ext cx="333829" cy="333829"/>
          </a:xfrm>
          <a:prstGeom prst="ellipse">
            <a:avLst/>
          </a:prstGeom>
          <a:solidFill>
            <a:srgbClr val="97EA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 hidden="1">
            <a:extLst>
              <a:ext uri="{FF2B5EF4-FFF2-40B4-BE49-F238E27FC236}">
                <a16:creationId xmlns:a16="http://schemas.microsoft.com/office/drawing/2014/main" id="{B17E28D7-862C-CDE5-C017-DFCDFEF102CE}"/>
              </a:ext>
            </a:extLst>
          </p:cNvPr>
          <p:cNvSpPr/>
          <p:nvPr/>
        </p:nvSpPr>
        <p:spPr>
          <a:xfrm>
            <a:off x="5652557" y="890881"/>
            <a:ext cx="5911652" cy="917961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Система автоматически дополняет данные: Название и модель машины, дистанция, и. т. п.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8C69AFE4-711E-BEDD-39AF-9841D55A8D12}"/>
              </a:ext>
            </a:extLst>
          </p:cNvPr>
          <p:cNvSpPr/>
          <p:nvPr/>
        </p:nvSpPr>
        <p:spPr>
          <a:xfrm>
            <a:off x="13207267" y="400409"/>
            <a:ext cx="7519865" cy="1204684"/>
          </a:xfrm>
          <a:prstGeom prst="roundRect">
            <a:avLst/>
          </a:prstGeom>
          <a:solidFill>
            <a:srgbClr val="FF0000">
              <a:alpha val="39000"/>
            </a:srgbClr>
          </a:solidFill>
          <a:ln>
            <a:noFill/>
          </a:ln>
          <a:effectLst>
            <a:glow rad="88900">
              <a:srgbClr val="FF0000">
                <a:alpha val="40000"/>
              </a:srgbClr>
            </a:glow>
            <a:outerShdw blurRad="279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TD Mars" pitchFamily="50" charset="0"/>
              </a:rPr>
              <a:t>Схема работы прототипа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333E80E-7C25-05D1-1EBF-A6B28DA314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56662" y="8683422"/>
            <a:ext cx="5651922" cy="3463425"/>
          </a:xfrm>
          <a:prstGeom prst="rect">
            <a:avLst/>
          </a:prstGeom>
          <a:effectLst>
            <a:glow rad="76200">
              <a:srgbClr val="97EA28">
                <a:alpha val="39000"/>
              </a:srgbClr>
            </a:glow>
            <a:outerShdw blurRad="38100"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7FCAB8B0-4EC9-A568-A58D-8EB311AA13ED}"/>
              </a:ext>
            </a:extLst>
          </p:cNvPr>
          <p:cNvSpPr/>
          <p:nvPr/>
        </p:nvSpPr>
        <p:spPr>
          <a:xfrm>
            <a:off x="452751" y="9667146"/>
            <a:ext cx="4273480" cy="1981200"/>
          </a:xfrm>
          <a:prstGeom prst="round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В результате торгов, клиент решает соглашается ли на условия водителя и либо принимает, либо отклоняет их.</a:t>
            </a:r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14326375-5EE1-0C6F-EB63-BAC03D9C9FA9}"/>
              </a:ext>
            </a:extLst>
          </p:cNvPr>
          <p:cNvSpPr/>
          <p:nvPr/>
        </p:nvSpPr>
        <p:spPr>
          <a:xfrm>
            <a:off x="2091651" y="8330823"/>
            <a:ext cx="873760" cy="873760"/>
          </a:xfrm>
          <a:prstGeom prst="ellipse">
            <a:avLst/>
          </a:prstGeom>
          <a:noFill/>
          <a:ln w="31750">
            <a:solidFill>
              <a:srgbClr val="97E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97EA28"/>
                </a:solidFill>
              </a:ln>
              <a:noFill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A813FC-EDBB-E464-E1A8-43751882FA40}"/>
              </a:ext>
            </a:extLst>
          </p:cNvPr>
          <p:cNvSpPr txBox="1"/>
          <p:nvPr/>
        </p:nvSpPr>
        <p:spPr>
          <a:xfrm>
            <a:off x="2190138" y="8439524"/>
            <a:ext cx="428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TD Mars" pitchFamily="50" charset="0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0358CA-A8D6-9DDE-7817-9D1F25EAECFC}"/>
              </a:ext>
            </a:extLst>
          </p:cNvPr>
          <p:cNvSpPr txBox="1"/>
          <p:nvPr/>
        </p:nvSpPr>
        <p:spPr>
          <a:xfrm>
            <a:off x="2692400" y="2466554"/>
            <a:ext cx="6807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TD Mars" pitchFamily="50" charset="0"/>
              </a:rPr>
              <a:t>СПАСИБО ЗА ВНИМАНИЕ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47757A2D-6944-5A58-047A-C63D5D09A539}"/>
              </a:ext>
            </a:extLst>
          </p:cNvPr>
          <p:cNvSpPr/>
          <p:nvPr/>
        </p:nvSpPr>
        <p:spPr>
          <a:xfrm>
            <a:off x="2830286" y="4326255"/>
            <a:ext cx="6560457" cy="1959428"/>
          </a:xfrm>
          <a:prstGeom prst="roundRect">
            <a:avLst/>
          </a:prstGeom>
          <a:solidFill>
            <a:schemeClr val="bg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 descr="Изображение выглядит как Графика, Шрифт, логотип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FF08ABD-5BA9-5E99-FAE2-819AB644F5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149" y="4719026"/>
            <a:ext cx="2824347" cy="1198626"/>
          </a:xfrm>
          <a:prstGeom prst="rect">
            <a:avLst/>
          </a:prstGeom>
        </p:spPr>
      </p:pic>
      <p:pic>
        <p:nvPicPr>
          <p:cNvPr id="15" name="Рисунок 14" descr="Закрыть со сплошной заливкой">
            <a:extLst>
              <a:ext uri="{FF2B5EF4-FFF2-40B4-BE49-F238E27FC236}">
                <a16:creationId xmlns:a16="http://schemas.microsoft.com/office/drawing/2014/main" id="{31D6F89E-A074-3715-2B81-12FD9AAED49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67373" y="4861138"/>
            <a:ext cx="914400" cy="914400"/>
          </a:xfrm>
          <a:prstGeom prst="rect">
            <a:avLst/>
          </a:prstGeom>
        </p:spPr>
      </p:pic>
      <p:pic>
        <p:nvPicPr>
          <p:cNvPr id="17" name="Рисунок 16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8FF913B-6657-F37E-1BEB-C5C107B6A62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650" y="4342026"/>
            <a:ext cx="1952625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897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</TotalTime>
  <Words>1459</Words>
  <Application>Microsoft Office PowerPoint</Application>
  <PresentationFormat>Широкоэкранный</PresentationFormat>
  <Paragraphs>292</Paragraphs>
  <Slides>18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MV-SKIFER</vt:lpstr>
      <vt:lpstr>TD Mars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Вадим Пятовский</dc:creator>
  <cp:lastModifiedBy>Власов Вячеслав</cp:lastModifiedBy>
  <cp:revision>5</cp:revision>
  <dcterms:created xsi:type="dcterms:W3CDTF">2025-10-17T15:07:10Z</dcterms:created>
  <dcterms:modified xsi:type="dcterms:W3CDTF">2025-10-19T04:23:07Z</dcterms:modified>
</cp:coreProperties>
</file>